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7"/>
  </p:notesMasterIdLst>
  <p:sldIdLst>
    <p:sldId id="607" r:id="rId2"/>
    <p:sldId id="610" r:id="rId3"/>
    <p:sldId id="578" r:id="rId4"/>
    <p:sldId id="647" r:id="rId5"/>
    <p:sldId id="646" r:id="rId6"/>
    <p:sldId id="649" r:id="rId7"/>
    <p:sldId id="615" r:id="rId8"/>
    <p:sldId id="650" r:id="rId9"/>
    <p:sldId id="651" r:id="rId10"/>
    <p:sldId id="653" r:id="rId11"/>
    <p:sldId id="579" r:id="rId12"/>
    <p:sldId id="654" r:id="rId13"/>
    <p:sldId id="580" r:id="rId14"/>
    <p:sldId id="655" r:id="rId15"/>
    <p:sldId id="656" r:id="rId16"/>
    <p:sldId id="583" r:id="rId17"/>
    <p:sldId id="659" r:id="rId18"/>
    <p:sldId id="660" r:id="rId19"/>
    <p:sldId id="617" r:id="rId20"/>
    <p:sldId id="586" r:id="rId21"/>
    <p:sldId id="696" r:id="rId22"/>
    <p:sldId id="587" r:id="rId23"/>
    <p:sldId id="588" r:id="rId24"/>
    <p:sldId id="670" r:id="rId25"/>
    <p:sldId id="671" r:id="rId26"/>
    <p:sldId id="619" r:id="rId27"/>
    <p:sldId id="589" r:id="rId28"/>
    <p:sldId id="673" r:id="rId29"/>
    <p:sldId id="674" r:id="rId30"/>
    <p:sldId id="675" r:id="rId31"/>
    <p:sldId id="672" r:id="rId32"/>
    <p:sldId id="676" r:id="rId33"/>
    <p:sldId id="590" r:id="rId34"/>
    <p:sldId id="677" r:id="rId35"/>
    <p:sldId id="679" r:id="rId36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6AF4A5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1" autoAdjust="0"/>
    <p:restoredTop sz="94707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460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0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460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4EA698BB-FF4B-43D9-AA78-267FDAA16E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424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8438C-BB9F-4F1E-97C5-AA4A4259FBD8}" type="slidenum">
              <a:rPr lang="en-US"/>
              <a:pPr/>
              <a:t>1</a:t>
            </a:fld>
            <a:endParaRPr lang="en-US"/>
          </a:p>
        </p:txBody>
      </p:sp>
      <p:sp>
        <p:nvSpPr>
          <p:cNvPr id="64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28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2215C4-E5B4-49D5-B7D1-C29C5A297F0A}" type="slidenum">
              <a:rPr lang="en-US"/>
              <a:pPr/>
              <a:t>2</a:t>
            </a:fld>
            <a:endParaRPr lang="en-US"/>
          </a:p>
        </p:txBody>
      </p:sp>
      <p:sp>
        <p:nvSpPr>
          <p:cNvPr id="65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23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3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90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4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71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5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78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6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2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537B0-5815-42A6-828B-F8FD26D04C42}" type="slidenum">
              <a:rPr lang="en-US"/>
              <a:pPr/>
              <a:t>7</a:t>
            </a:fld>
            <a:endParaRPr lang="en-US"/>
          </a:p>
        </p:txBody>
      </p:sp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0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8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1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9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304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10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379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47E01-054C-4DF9-A322-D929300DD309}" type="slidenum">
              <a:rPr lang="en-US"/>
              <a:pPr/>
              <a:t>11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53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12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65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ED3094-B633-4C5E-97B6-AA370442FA7F}" type="slidenum">
              <a:rPr lang="en-US"/>
              <a:pPr/>
              <a:t>13</a:t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9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14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10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4C077-51B9-4249-88D0-CF87179433D5}" type="slidenum">
              <a:rPr lang="en-US"/>
              <a:pPr/>
              <a:t>15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11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C694C-EC1B-4E4B-B9B0-AED7CC8E60E8}" type="slidenum">
              <a:rPr lang="en-US"/>
              <a:pPr/>
              <a:t>16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05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C694C-EC1B-4E4B-B9B0-AED7CC8E60E8}" type="slidenum">
              <a:rPr lang="en-US"/>
              <a:pPr/>
              <a:t>17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28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C694C-EC1B-4E4B-B9B0-AED7CC8E60E8}" type="slidenum">
              <a:rPr lang="en-US"/>
              <a:pPr/>
              <a:t>18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92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393C09-ADFC-427E-9BC6-B58E90C278C9}" type="slidenum">
              <a:rPr lang="en-US"/>
              <a:pPr/>
              <a:t>19</a:t>
            </a:fld>
            <a:endParaRPr lang="en-US"/>
          </a:p>
        </p:txBody>
      </p:sp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74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D23D88-8C2A-4622-93E6-07BC58872499}" type="slidenum">
              <a:rPr lang="en-US"/>
              <a:pPr/>
              <a:t>20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27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D23D88-8C2A-4622-93E6-07BC58872499}" type="slidenum">
              <a:rPr lang="en-US"/>
              <a:pPr/>
              <a:t>21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06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B4E129-EC89-423F-8D30-59843DE9B122}" type="slidenum">
              <a:rPr lang="en-US"/>
              <a:pPr/>
              <a:t>22</a:t>
            </a:fld>
            <a:endParaRPr lang="en-US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67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D255D-ADA5-4484-B4B1-6CBD5EFAACC7}" type="slidenum">
              <a:rPr lang="en-US"/>
              <a:pPr/>
              <a:t>23</a:t>
            </a:fld>
            <a:endParaRPr lang="en-US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68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D255D-ADA5-4484-B4B1-6CBD5EFAACC7}" type="slidenum">
              <a:rPr lang="en-US"/>
              <a:pPr/>
              <a:t>24</a:t>
            </a:fld>
            <a:endParaRPr lang="en-US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07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D255D-ADA5-4484-B4B1-6CBD5EFAACC7}" type="slidenum">
              <a:rPr lang="en-US"/>
              <a:pPr/>
              <a:t>25</a:t>
            </a:fld>
            <a:endParaRPr lang="en-US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67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522CC8-314B-4DC3-9B56-3888F6F78E92}" type="slidenum">
              <a:rPr lang="en-US"/>
              <a:pPr/>
              <a:t>26</a:t>
            </a:fld>
            <a:endParaRPr lang="en-US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9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27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46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28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679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29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4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30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79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31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47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32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818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A5F20E-A18F-4DB3-A49B-4D81A7C6CBD4}" type="slidenum">
              <a:rPr lang="en-US"/>
              <a:pPr/>
              <a:t>33</a:t>
            </a:fld>
            <a:endParaRPr lang="en-US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766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34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049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D4311-1918-40F0-BF92-BFED5F0D1D8C}" type="slidenum">
              <a:rPr lang="en-US"/>
              <a:pPr/>
              <a:t>35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4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95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5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1095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09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2109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58A17E-A09A-4E17-AD0B-2C4A2562B59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10961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DE62B0-91BF-48DE-90D0-59D88800E3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4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6052-D8DC-4C0F-BD6C-D6776175BB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1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16C2C4-5E51-411C-98DD-20F7F05564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4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6A259F-612D-4C8C-A3FB-6D814EE94B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837995-0C59-4277-9804-9E108E25FA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07EB14-ADA0-4A56-9BA7-39D685C6EE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6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6854EC-97F8-47A2-907B-D568106C08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1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06136B-6F59-4FA7-B35C-2861D7BDEF0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7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4E1D445-31B8-496F-9260-5CBE09B3CF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1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32C98-A9BE-4D17-BCA5-734E92202F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41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B299ACE-7B01-43DA-A330-3A0838A311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2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71BC46B-52E3-4C56-B6E4-B62880BF55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3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217BE467-C81F-4197-9A27-8A7D7EE4F2A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png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image" Target="../media/image38.emf"/><Relationship Id="rId3" Type="http://schemas.openxmlformats.org/officeDocument/2006/relationships/image" Target="../media/image28.png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A9BD72-7C32-4F43-BF54-98D94EFB214A}" type="slidenum">
              <a:rPr lang="en-US"/>
              <a:pPr/>
              <a:t>1</a:t>
            </a:fld>
            <a:endParaRPr lang="en-US"/>
          </a:p>
        </p:txBody>
      </p:sp>
      <p:sp>
        <p:nvSpPr>
          <p:cNvPr id="647170" name="Text Box 2"/>
          <p:cNvSpPr txBox="1">
            <a:spLocks noChangeArrowheads="1"/>
          </p:cNvSpPr>
          <p:nvPr/>
        </p:nvSpPr>
        <p:spPr bwMode="auto">
          <a:xfrm>
            <a:off x="1714500" y="6604000"/>
            <a:ext cx="5656263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000" b="0">
                <a:latin typeface="Arial" panose="020B0604020202020204" pitchFamily="34" charset="0"/>
              </a:rPr>
              <a:t>Copyright </a:t>
            </a:r>
            <a:r>
              <a:rPr lang="en-US" sz="1000" b="0">
                <a:latin typeface="Arial" panose="020B0604020202020204" pitchFamily="34" charset="0"/>
                <a:cs typeface="Times New Roman" panose="02020603050405020304" pitchFamily="18" charset="0"/>
              </a:rPr>
              <a:t>© </a:t>
            </a:r>
            <a:r>
              <a:rPr lang="en-US" sz="1000" b="0">
                <a:latin typeface="Arial" panose="020B0604020202020204" pitchFamily="34" charset="0"/>
              </a:rPr>
              <a:t>The McGraw-Hill Companies, Inc. Permission required for reproduction or display.</a:t>
            </a:r>
          </a:p>
        </p:txBody>
      </p:sp>
      <p:sp>
        <p:nvSpPr>
          <p:cNvPr id="647174" name="Text Box 6"/>
          <p:cNvSpPr txBox="1">
            <a:spLocks noChangeArrowheads="1"/>
          </p:cNvSpPr>
          <p:nvPr/>
        </p:nvSpPr>
        <p:spPr bwMode="auto">
          <a:xfrm>
            <a:off x="263525" y="2209800"/>
            <a:ext cx="8042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2800" dirty="0">
                <a:latin typeface="Times" panose="02020603050405020304" pitchFamily="18" charset="0"/>
              </a:rPr>
              <a:t>Domain Name System (DNS)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71F8A3-8682-44FD-96FC-549D86E27459}" type="slidenum">
              <a:rPr lang="en-US"/>
              <a:pPr/>
              <a:t>2</a:t>
            </a:fld>
            <a:endParaRPr lang="en-US"/>
          </a:p>
        </p:txBody>
      </p:sp>
      <p:sp>
        <p:nvSpPr>
          <p:cNvPr id="653314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53315" name="Text Box 3"/>
          <p:cNvSpPr txBox="1">
            <a:spLocks noChangeArrowheads="1"/>
          </p:cNvSpPr>
          <p:nvPr/>
        </p:nvSpPr>
        <p:spPr bwMode="auto">
          <a:xfrm>
            <a:off x="228600" y="355600"/>
            <a:ext cx="46386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 pitchFamily="18" charset="0"/>
              </a:rPr>
              <a:t>19-1  NEED FOR DNS</a:t>
            </a:r>
          </a:p>
        </p:txBody>
      </p:sp>
      <p:sp>
        <p:nvSpPr>
          <p:cNvPr id="653316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399102" y="1874881"/>
            <a:ext cx="8534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400" b="0" dirty="0">
                <a:latin typeface="+mn-lt"/>
              </a:rPr>
              <a:t>TCP/IP protocols use the IP address, which uniquely identifies the connection of a host to the Internet. </a:t>
            </a:r>
          </a:p>
          <a:p>
            <a:pPr algn="just"/>
            <a:endParaRPr lang="en-US" sz="2400" b="0" dirty="0">
              <a:latin typeface="+mn-lt"/>
            </a:endParaRPr>
          </a:p>
          <a:p>
            <a:pPr algn="just"/>
            <a:endParaRPr lang="en-US" sz="2400" b="0" dirty="0">
              <a:latin typeface="+mn-lt"/>
            </a:endParaRPr>
          </a:p>
          <a:p>
            <a:pPr algn="just"/>
            <a:r>
              <a:rPr lang="en-US" sz="2400" b="0" dirty="0">
                <a:latin typeface="+mn-lt"/>
              </a:rPr>
              <a:t>People prefer to use names instead of numeric addresses. </a:t>
            </a:r>
          </a:p>
          <a:p>
            <a:pPr algn="just"/>
            <a:endParaRPr lang="en-US" sz="2400" b="0" dirty="0">
              <a:latin typeface="+mn-lt"/>
            </a:endParaRPr>
          </a:p>
          <a:p>
            <a:pPr algn="just"/>
            <a:endParaRPr lang="en-US" sz="2400" b="0" dirty="0">
              <a:latin typeface="+mn-lt"/>
            </a:endParaRPr>
          </a:p>
          <a:p>
            <a:pPr algn="just"/>
            <a:r>
              <a:rPr lang="en-US" sz="2400" b="0" dirty="0">
                <a:latin typeface="+mn-lt"/>
              </a:rPr>
              <a:t>Need a system that can map a name to an address or an address to a name.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58573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Purpose of DNS</a:t>
            </a: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20650" y="1192153"/>
            <a:ext cx="88265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>
                <a:latin typeface="+mn-lt"/>
              </a:rPr>
              <a:t>When the Internet was small, mapping was done using a </a:t>
            </a:r>
            <a:r>
              <a:rPr lang="en-US" b="0" i="1" dirty="0">
                <a:solidFill>
                  <a:srgbClr val="FF0000"/>
                </a:solidFill>
                <a:latin typeface="+mn-lt"/>
              </a:rPr>
              <a:t>host file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. </a:t>
            </a:r>
          </a:p>
          <a:p>
            <a:pPr algn="just"/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The host file had only two columns: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name and address</a:t>
            </a:r>
            <a:r>
              <a:rPr lang="en-US" b="0" dirty="0">
                <a:latin typeface="+mn-lt"/>
              </a:rPr>
              <a:t>. </a:t>
            </a:r>
          </a:p>
          <a:p>
            <a:pPr algn="just"/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Every host could store the host file on its disk and update it periodically from a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master host file. </a:t>
            </a:r>
          </a:p>
          <a:p>
            <a:pPr algn="just"/>
            <a:endParaRPr lang="en-US" b="0" dirty="0">
              <a:latin typeface="+mn-lt"/>
            </a:endParaRPr>
          </a:p>
          <a:p>
            <a:pPr algn="just"/>
            <a:endParaRPr lang="en-US" b="0" dirty="0">
              <a:latin typeface="+mn-lt"/>
            </a:endParaRPr>
          </a:p>
          <a:p>
            <a:pPr algn="just"/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Today, it is impossible to have one single host file.</a:t>
            </a:r>
          </a:p>
          <a:p>
            <a:pPr algn="just"/>
            <a:endParaRPr lang="en-US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The host file would be too large to store in every host.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It would be impossible to update all the host files every time there is a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4</a:t>
            </a:fld>
            <a:endParaRPr lang="en-US"/>
          </a:p>
        </p:txBody>
      </p:sp>
      <p:sp>
        <p:nvSpPr>
          <p:cNvPr id="58573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Purpose of DNS</a:t>
            </a: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76200" y="1249917"/>
            <a:ext cx="88709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>
                <a:solidFill>
                  <a:srgbClr val="FF0000"/>
                </a:solidFill>
                <a:latin typeface="+mn-lt"/>
              </a:rPr>
              <a:t>One solution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2"/>
                </a:solidFill>
                <a:latin typeface="+mn-lt"/>
              </a:rPr>
              <a:t>T</a:t>
            </a:r>
            <a:r>
              <a:rPr lang="en-US" b="0" dirty="0">
                <a:latin typeface="+mn-lt"/>
              </a:rPr>
              <a:t>o store the entire host file in a single computer and allow access to this centralized information to every computer that needs mapping.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This would create a huge amount of traffic on the Internet.</a:t>
            </a:r>
          </a:p>
          <a:p>
            <a:pPr algn="just"/>
            <a:endParaRPr lang="en-US" b="0" dirty="0">
              <a:latin typeface="+mn-lt"/>
            </a:endParaRPr>
          </a:p>
          <a:p>
            <a:pPr algn="just"/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solidFill>
                  <a:srgbClr val="FF0000"/>
                </a:solidFill>
                <a:latin typeface="+mn-lt"/>
              </a:rPr>
              <a:t>Another solution</a:t>
            </a:r>
            <a:r>
              <a:rPr lang="en-US" b="0" dirty="0">
                <a:latin typeface="+mn-lt"/>
              </a:rPr>
              <a:t>, (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used today</a:t>
            </a:r>
            <a:r>
              <a:rPr lang="en-US" b="0" dirty="0">
                <a:latin typeface="+mn-lt"/>
              </a:rPr>
              <a:t>)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To divide this huge amount of information into smaller parts and store each part on a different computer.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Host that needs mapping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contact the closest computer </a:t>
            </a:r>
            <a:r>
              <a:rPr lang="en-US" b="0" dirty="0">
                <a:latin typeface="+mn-lt"/>
              </a:rPr>
              <a:t>holding the needed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535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5</a:t>
            </a:fld>
            <a:endParaRPr lang="en-US"/>
          </a:p>
        </p:txBody>
      </p:sp>
      <p:pic>
        <p:nvPicPr>
          <p:cNvPr id="58574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90800"/>
            <a:ext cx="8007350" cy="174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573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Purpose of DNS</a:t>
            </a: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8574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1628775"/>
            <a:ext cx="731837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5744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735263"/>
            <a:ext cx="877888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5745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4090988"/>
            <a:ext cx="35734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5746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962400"/>
            <a:ext cx="4706938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5747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0" y="3733800"/>
            <a:ext cx="996950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5748" name="Picture 2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71938"/>
            <a:ext cx="144462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85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8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585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8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585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8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85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58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585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58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585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585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6</a:t>
            </a:fld>
            <a:endParaRPr lang="en-US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20650" y="1228725"/>
            <a:ext cx="88709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Purpose of accessing Internet is to make a connection between file transfer client and server,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But before this can happen, another connection needs to be made between the DNS client and DNS server. </a:t>
            </a:r>
          </a:p>
          <a:p>
            <a:pPr algn="just"/>
            <a:endParaRPr lang="en-US" b="0" dirty="0"/>
          </a:p>
          <a:p>
            <a:pPr algn="just"/>
            <a:endParaRPr lang="en-US" b="0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We need two connections; </a:t>
            </a:r>
          </a:p>
          <a:p>
            <a:pPr algn="just"/>
            <a:endParaRPr lang="en-US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/>
              <a:t>the first is for mapping the name to an IP address;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/>
              <a:t>the second is for transferring files.</a:t>
            </a:r>
            <a:endParaRPr 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765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D8AEBF-7C47-4DD5-AFE5-79EF9CEC6E8D}" type="slidenum">
              <a:rPr lang="en-US"/>
              <a:pPr/>
              <a:t>7</a:t>
            </a:fld>
            <a:endParaRPr lang="en-US"/>
          </a:p>
        </p:txBody>
      </p:sp>
      <p:sp>
        <p:nvSpPr>
          <p:cNvPr id="669698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69699" name="Text Box 3"/>
          <p:cNvSpPr txBox="1">
            <a:spLocks noChangeArrowheads="1"/>
          </p:cNvSpPr>
          <p:nvPr/>
        </p:nvSpPr>
        <p:spPr bwMode="auto">
          <a:xfrm>
            <a:off x="228600" y="355600"/>
            <a:ext cx="42703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 pitchFamily="18" charset="0"/>
              </a:rPr>
              <a:t>19-2  NAME SPACE</a:t>
            </a:r>
          </a:p>
        </p:txBody>
      </p:sp>
      <p:sp>
        <p:nvSpPr>
          <p:cNvPr id="66970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69701" name="Rectangle 5"/>
          <p:cNvSpPr>
            <a:spLocks noChangeArrowheads="1"/>
          </p:cNvSpPr>
          <p:nvPr/>
        </p:nvSpPr>
        <p:spPr bwMode="auto">
          <a:xfrm>
            <a:off x="76200" y="1524000"/>
            <a:ext cx="88392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sz="2000" b="0" dirty="0">
                <a:latin typeface="+mn-lt"/>
              </a:rPr>
              <a:t>Names assigned to machines must be carefully selected from a name space. </a:t>
            </a:r>
          </a:p>
          <a:p>
            <a:pPr algn="just"/>
            <a:endParaRPr lang="en-US" sz="2000" b="0" dirty="0">
              <a:latin typeface="+mn-lt"/>
            </a:endParaRPr>
          </a:p>
          <a:p>
            <a:pPr algn="just"/>
            <a:endParaRPr lang="en-US" sz="2000" b="0" dirty="0">
              <a:latin typeface="+mn-lt"/>
            </a:endParaRPr>
          </a:p>
          <a:p>
            <a:pPr algn="just"/>
            <a:r>
              <a:rPr lang="en-US" sz="2000" b="0" dirty="0">
                <a:latin typeface="+mn-lt"/>
              </a:rPr>
              <a:t>The names must be unique because the addresses are unique. </a:t>
            </a:r>
          </a:p>
          <a:p>
            <a:pPr algn="just"/>
            <a:endParaRPr lang="en-US" sz="2000" b="0" dirty="0">
              <a:latin typeface="+mn-lt"/>
            </a:endParaRPr>
          </a:p>
          <a:p>
            <a:pPr algn="just"/>
            <a:endParaRPr lang="en-US" sz="2000" b="0" dirty="0">
              <a:latin typeface="+mn-lt"/>
            </a:endParaRPr>
          </a:p>
          <a:p>
            <a:pPr algn="just"/>
            <a:r>
              <a:rPr lang="en-US" sz="2000" b="0" dirty="0">
                <a:latin typeface="+mn-lt"/>
              </a:rPr>
              <a:t>A name space that maps each address to a unique name can be organized in two ways:    </a:t>
            </a:r>
            <a:r>
              <a:rPr lang="en-US" sz="2000" b="0" dirty="0">
                <a:solidFill>
                  <a:srgbClr val="FF0000"/>
                </a:solidFill>
                <a:latin typeface="+mn-lt"/>
              </a:rPr>
              <a:t>flat or hierarchical</a:t>
            </a:r>
            <a:r>
              <a:rPr lang="en-US" sz="2000" b="0"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2A4D6-77FB-39E0-2E05-3310EF67347D}"/>
              </a:ext>
            </a:extLst>
          </p:cNvPr>
          <p:cNvSpPr txBox="1"/>
          <p:nvPr/>
        </p:nvSpPr>
        <p:spPr>
          <a:xfrm>
            <a:off x="228600" y="5105400"/>
            <a:ext cx="8610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namespace refers to the hierarchical structure used to name and organize all the domain names on the internet.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DNS namespace is like a tree, with each node representing a part of the domain name</a:t>
            </a:r>
            <a:endParaRPr lang="en-IN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8</a:t>
            </a:fld>
            <a:endParaRPr lang="en-US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66712" y="1228725"/>
            <a:ext cx="86248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In a </a:t>
            </a:r>
            <a:r>
              <a:rPr lang="en-US" dirty="0"/>
              <a:t>flat name space, </a:t>
            </a:r>
            <a:r>
              <a:rPr lang="en-US" b="0" dirty="0"/>
              <a:t>a name is assigned to an address.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 name in this space is a sequence of characters </a:t>
            </a:r>
            <a:r>
              <a:rPr lang="en-US" b="0" dirty="0">
                <a:solidFill>
                  <a:srgbClr val="FF0000"/>
                </a:solidFill>
              </a:rPr>
              <a:t>without structure</a:t>
            </a:r>
            <a:r>
              <a:rPr lang="en-US" b="0" dirty="0"/>
              <a:t>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Names </a:t>
            </a:r>
            <a:r>
              <a:rPr lang="en-US" b="0" dirty="0">
                <a:solidFill>
                  <a:srgbClr val="FF0000"/>
                </a:solidFill>
              </a:rPr>
              <a:t>may or may not have a common section</a:t>
            </a:r>
            <a:r>
              <a:rPr lang="en-US" b="0" dirty="0"/>
              <a:t>; </a:t>
            </a:r>
            <a:r>
              <a:rPr lang="en-US" b="0" dirty="0">
                <a:solidFill>
                  <a:srgbClr val="FF0000"/>
                </a:solidFill>
              </a:rPr>
              <a:t>if they do, it has no meaning</a:t>
            </a:r>
            <a:r>
              <a:rPr lang="en-US" b="0" dirty="0"/>
              <a:t>. </a:t>
            </a:r>
          </a:p>
          <a:p>
            <a:pPr algn="just"/>
            <a:endParaRPr lang="en-US" b="0" dirty="0"/>
          </a:p>
          <a:p>
            <a:pPr algn="just"/>
            <a:endParaRPr lang="en-US" b="0" dirty="0"/>
          </a:p>
          <a:p>
            <a:pPr algn="just"/>
            <a:r>
              <a:rPr lang="en-US" dirty="0"/>
              <a:t>Disadvantage 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It cannot be used in a large system such as the Internet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it must be centrally controlled to avoid ambiguity and duplication.</a:t>
            </a:r>
            <a:endParaRPr lang="en-US" b="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2119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Flat Name Space</a:t>
            </a:r>
          </a:p>
        </p:txBody>
      </p:sp>
    </p:spTree>
    <p:extLst>
      <p:ext uri="{BB962C8B-B14F-4D97-AF65-F5344CB8AC3E}">
        <p14:creationId xmlns:p14="http://schemas.microsoft.com/office/powerpoint/2010/main" val="91886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06907" y="1514653"/>
            <a:ext cx="88709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In a </a:t>
            </a:r>
            <a:r>
              <a:rPr lang="en-US" dirty="0"/>
              <a:t>hierarchical name space, </a:t>
            </a:r>
            <a:r>
              <a:rPr lang="en-US" b="0" dirty="0"/>
              <a:t>each </a:t>
            </a:r>
            <a:r>
              <a:rPr lang="en-US" b="0" dirty="0">
                <a:solidFill>
                  <a:srgbClr val="FF0000"/>
                </a:solidFill>
              </a:rPr>
              <a:t>name is made of several parts.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The </a:t>
            </a:r>
            <a:r>
              <a:rPr lang="en-US" b="0" dirty="0">
                <a:solidFill>
                  <a:srgbClr val="FF0000"/>
                </a:solidFill>
              </a:rPr>
              <a:t>first part </a:t>
            </a:r>
            <a:r>
              <a:rPr lang="en-US" b="0" dirty="0"/>
              <a:t>can define the </a:t>
            </a:r>
            <a:r>
              <a:rPr lang="en-US" b="0" dirty="0">
                <a:solidFill>
                  <a:srgbClr val="FF0000"/>
                </a:solidFill>
              </a:rPr>
              <a:t>nature of the organization,</a:t>
            </a:r>
          </a:p>
          <a:p>
            <a:pPr algn="just"/>
            <a:r>
              <a:rPr lang="en-US" b="0" dirty="0"/>
              <a:t> the </a:t>
            </a:r>
            <a:r>
              <a:rPr lang="en-US" b="0" dirty="0">
                <a:solidFill>
                  <a:srgbClr val="FF0000"/>
                </a:solidFill>
              </a:rPr>
              <a:t>second part </a:t>
            </a:r>
            <a:r>
              <a:rPr lang="en-US" b="0" dirty="0"/>
              <a:t>can define the </a:t>
            </a:r>
            <a:r>
              <a:rPr lang="en-US" b="0" dirty="0">
                <a:solidFill>
                  <a:srgbClr val="FF0000"/>
                </a:solidFill>
              </a:rPr>
              <a:t>name of an organization,</a:t>
            </a:r>
          </a:p>
          <a:p>
            <a:pPr algn="just"/>
            <a:r>
              <a:rPr lang="en-US" b="0" dirty="0"/>
              <a:t> the </a:t>
            </a:r>
            <a:r>
              <a:rPr lang="en-US" b="0" dirty="0">
                <a:solidFill>
                  <a:srgbClr val="FF0000"/>
                </a:solidFill>
              </a:rPr>
              <a:t>third part </a:t>
            </a:r>
            <a:r>
              <a:rPr lang="en-US" b="0" dirty="0"/>
              <a:t>can define </a:t>
            </a:r>
            <a:r>
              <a:rPr lang="en-US" b="0" dirty="0">
                <a:solidFill>
                  <a:srgbClr val="FF0000"/>
                </a:solidFill>
              </a:rPr>
              <a:t>departments in the organization, and so on. </a:t>
            </a:r>
          </a:p>
          <a:p>
            <a:pPr algn="just"/>
            <a:endParaRPr lang="en-US" b="0" dirty="0"/>
          </a:p>
          <a:p>
            <a:pPr algn="just"/>
            <a:endParaRPr lang="en-US" b="0" dirty="0"/>
          </a:p>
          <a:p>
            <a:pPr algn="just"/>
            <a:endParaRPr lang="en-US" b="0" dirty="0"/>
          </a:p>
          <a:p>
            <a:pPr algn="just"/>
            <a:endParaRPr lang="en-US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/>
              <a:t>A </a:t>
            </a:r>
            <a:r>
              <a:rPr lang="en-US" b="0" dirty="0">
                <a:solidFill>
                  <a:srgbClr val="FF0000"/>
                </a:solidFill>
              </a:rPr>
              <a:t>central authority can assign the part of the name </a:t>
            </a:r>
            <a:r>
              <a:rPr lang="en-US" b="0" dirty="0"/>
              <a:t>that defines the nature of the organization and the name of the organization.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0000"/>
                </a:solidFill>
              </a:rPr>
              <a:t>rest of the name can be given to the organization </a:t>
            </a:r>
            <a:r>
              <a:rPr lang="en-US" b="0" dirty="0"/>
              <a:t>itself.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3068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Hierarchical Name Space</a:t>
            </a:r>
          </a:p>
        </p:txBody>
      </p:sp>
    </p:spTree>
    <p:extLst>
      <p:ext uri="{BB962C8B-B14F-4D97-AF65-F5344CB8AC3E}">
        <p14:creationId xmlns:p14="http://schemas.microsoft.com/office/powerpoint/2010/main" val="200428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20650" y="1228725"/>
            <a:ext cx="8870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The domain name space refers to the hierarchical system used to organize and manage domain names on the Internet.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It is a structured system that assigns unique names to websites.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>
                <a:solidFill>
                  <a:srgbClr val="FF0000"/>
                </a:solidFill>
              </a:rPr>
              <a:t>In this design names are defined in an inverted-tree structure with root at the top.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2573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Domain Name Space</a:t>
            </a:r>
          </a:p>
        </p:txBody>
      </p:sp>
    </p:spTree>
    <p:extLst>
      <p:ext uri="{BB962C8B-B14F-4D97-AF65-F5344CB8AC3E}">
        <p14:creationId xmlns:p14="http://schemas.microsoft.com/office/powerpoint/2010/main" val="79111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A8175B-1791-4E06-BD9B-564E72B20675}" type="slidenum">
              <a:rPr lang="en-US"/>
              <a:pPr/>
              <a:t>11</a:t>
            </a:fld>
            <a:endParaRPr lang="en-US"/>
          </a:p>
        </p:txBody>
      </p:sp>
      <p:sp>
        <p:nvSpPr>
          <p:cNvPr id="58777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Domain name space</a:t>
            </a:r>
          </a:p>
        </p:txBody>
      </p:sp>
      <p:sp>
        <p:nvSpPr>
          <p:cNvPr id="58777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778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8778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47775"/>
            <a:ext cx="8829675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20650" y="1228725"/>
            <a:ext cx="8870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Each node in the tree has a domain name.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 full </a:t>
            </a:r>
            <a:r>
              <a:rPr lang="en-US" dirty="0"/>
              <a:t>domain name </a:t>
            </a:r>
            <a:r>
              <a:rPr lang="en-US" b="0" dirty="0"/>
              <a:t>is a sequence of labels separated by dots (.).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The domain names are always read from the </a:t>
            </a:r>
            <a:r>
              <a:rPr lang="en-US" b="0" dirty="0">
                <a:solidFill>
                  <a:srgbClr val="FF0000"/>
                </a:solidFill>
              </a:rPr>
              <a:t>node up to the root</a:t>
            </a:r>
            <a:r>
              <a:rPr lang="en-US" b="0" dirty="0"/>
              <a:t>.</a:t>
            </a:r>
          </a:p>
          <a:p>
            <a:pPr algn="just"/>
            <a:endParaRPr lang="en-US" b="0" dirty="0"/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1816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Domain Name</a:t>
            </a:r>
          </a:p>
        </p:txBody>
      </p:sp>
    </p:spTree>
    <p:extLst>
      <p:ext uri="{BB962C8B-B14F-4D97-AF65-F5344CB8AC3E}">
        <p14:creationId xmlns:p14="http://schemas.microsoft.com/office/powerpoint/2010/main" val="2199553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BFCFF-D780-44C4-B9B1-6907D8E680C1}" type="slidenum">
              <a:rPr lang="en-US"/>
              <a:pPr/>
              <a:t>13</a:t>
            </a:fld>
            <a:endParaRPr lang="en-US"/>
          </a:p>
        </p:txBody>
      </p:sp>
      <p:sp>
        <p:nvSpPr>
          <p:cNvPr id="58982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19.3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Domain names and labels</a:t>
            </a:r>
          </a:p>
        </p:txBody>
      </p:sp>
      <p:sp>
        <p:nvSpPr>
          <p:cNvPr id="58982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2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2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3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3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3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983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898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990600"/>
            <a:ext cx="7075487" cy="48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58913" y="504647"/>
            <a:ext cx="4292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0" dirty="0"/>
              <a:t>Figure 19.3 shows some domain names.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58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281781" y="1228725"/>
            <a:ext cx="854868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If a label is terminated by a null string, it is called a </a:t>
            </a:r>
            <a:r>
              <a:rPr lang="en-US" dirty="0"/>
              <a:t>fully qualified domain name (FQDN).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An FQDN is a domain name that contains the full name of a host.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It contains all labels, from the most specific to the most general, that uniquely define the name of the host.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>
                <a:solidFill>
                  <a:srgbClr val="FF0000"/>
                </a:solidFill>
              </a:rPr>
              <a:t>A DNS server can only match an FQDN to an address.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4487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Fully Qualified Domain Name (FQDN)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477623"/>
            <a:ext cx="3220872" cy="52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1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83307A-9D95-4A16-9A1F-2F3FFCD1996D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857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297656" y="1628140"/>
            <a:ext cx="85486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If a label is not terminated by a null string, it is called a </a:t>
            </a:r>
            <a:r>
              <a:rPr lang="en-US" dirty="0"/>
              <a:t>partially qualified domain name (PQDN). </a:t>
            </a:r>
          </a:p>
          <a:p>
            <a:pPr algn="just"/>
            <a:endParaRPr lang="en-US" dirty="0"/>
          </a:p>
          <a:p>
            <a:pPr algn="just"/>
            <a:endParaRPr lang="en-US" b="0" u="sng" dirty="0"/>
          </a:p>
          <a:p>
            <a:pPr algn="just"/>
            <a:r>
              <a:rPr lang="en-US" b="0" dirty="0"/>
              <a:t>Here </a:t>
            </a:r>
            <a:r>
              <a:rPr lang="en-US" b="0" dirty="0">
                <a:solidFill>
                  <a:srgbClr val="FF0000"/>
                </a:solidFill>
              </a:rPr>
              <a:t>resolver can supply the missing part</a:t>
            </a:r>
            <a:r>
              <a:rPr lang="en-US" b="0" dirty="0"/>
              <a:t>, called the </a:t>
            </a:r>
            <a:r>
              <a:rPr lang="en-US" b="0" i="1" dirty="0"/>
              <a:t>suffix, </a:t>
            </a:r>
            <a:r>
              <a:rPr lang="en-US" b="0" dirty="0"/>
              <a:t>to create an FQDN. </a:t>
            </a:r>
          </a:p>
          <a:p>
            <a:pPr algn="just"/>
            <a:endParaRPr lang="en-US" b="0" dirty="0"/>
          </a:p>
        </p:txBody>
      </p:sp>
      <p:sp>
        <p:nvSpPr>
          <p:cNvPr id="3" name="Rectangle 2"/>
          <p:cNvSpPr/>
          <p:nvPr/>
        </p:nvSpPr>
        <p:spPr>
          <a:xfrm>
            <a:off x="1453883" y="683181"/>
            <a:ext cx="4915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Partially Qualified Domain Name (PQDN)</a:t>
            </a:r>
          </a:p>
        </p:txBody>
      </p:sp>
    </p:spTree>
    <p:extLst>
      <p:ext uri="{BB962C8B-B14F-4D97-AF65-F5344CB8AC3E}">
        <p14:creationId xmlns:p14="http://schemas.microsoft.com/office/powerpoint/2010/main" val="642037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BF4064-2D63-4C5F-BF7A-289743B0B12E}" type="slidenum">
              <a:rPr lang="en-US"/>
              <a:pPr/>
              <a:t>16</a:t>
            </a:fld>
            <a:endParaRPr lang="en-US"/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56394" y="1467382"/>
            <a:ext cx="816768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>
                <a:solidFill>
                  <a:srgbClr val="000000"/>
                </a:solidFill>
                <a:latin typeface="+mn-lt"/>
              </a:rPr>
              <a:t>The information contained in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the domain name space must be stored. </a:t>
            </a: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>
                <a:solidFill>
                  <a:srgbClr val="FF0000"/>
                </a:solidFill>
                <a:latin typeface="+mn-lt"/>
              </a:rPr>
              <a:t>it is very inefficient and also not reliable to have just one computer store such a huge amount of information. </a:t>
            </a: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0000"/>
                </a:solidFill>
                <a:latin typeface="+mn-lt"/>
              </a:rPr>
              <a:t>It is inefficient because responding to requests from all over the world places a heavy load on the system.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1111" y="614001"/>
            <a:ext cx="3706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n-lt"/>
              </a:rPr>
              <a:t>Distribution of Name 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BF4064-2D63-4C5F-BF7A-289743B0B12E}" type="slidenum">
              <a:rPr lang="en-US"/>
              <a:pPr/>
              <a:t>17</a:t>
            </a:fld>
            <a:endParaRPr lang="en-US"/>
          </a:p>
        </p:txBody>
      </p:sp>
      <p:sp>
        <p:nvSpPr>
          <p:cNvPr id="59597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19.6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Hierarchy of name servers</a:t>
            </a: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66713" y="1301750"/>
            <a:ext cx="85804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>
                <a:solidFill>
                  <a:srgbClr val="000000"/>
                </a:solidFill>
                <a:latin typeface="+mn-lt"/>
              </a:rPr>
              <a:t>Solution is to distribute information among many computers called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DNS servers. </a:t>
            </a: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>
                <a:solidFill>
                  <a:srgbClr val="000000"/>
                </a:solidFill>
                <a:latin typeface="+mn-lt"/>
              </a:rPr>
              <a:t>Divide the whole space into many domains based on the first level.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6200" y="635556"/>
            <a:ext cx="3284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Hierarchy of Name Servers</a:t>
            </a:r>
          </a:p>
        </p:txBody>
      </p:sp>
    </p:spTree>
    <p:extLst>
      <p:ext uri="{BB962C8B-B14F-4D97-AF65-F5344CB8AC3E}">
        <p14:creationId xmlns:p14="http://schemas.microsoft.com/office/powerpoint/2010/main" val="101819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BF4064-2D63-4C5F-BF7A-289743B0B12E}" type="slidenum">
              <a:rPr lang="en-US"/>
              <a:pPr/>
              <a:t>18</a:t>
            </a:fld>
            <a:endParaRPr lang="en-US"/>
          </a:p>
        </p:txBody>
      </p:sp>
      <p:sp>
        <p:nvSpPr>
          <p:cNvPr id="59597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19.6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Hierarchy of name servers</a:t>
            </a: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59597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59597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133600"/>
            <a:ext cx="77057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90538" y="891985"/>
            <a:ext cx="86534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b="0" dirty="0"/>
          </a:p>
          <a:p>
            <a:pPr algn="just"/>
            <a:r>
              <a:rPr lang="en-US" b="0" dirty="0"/>
              <a:t>In other words, we have a hierarchy of servers.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1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A3CB1D-E222-4845-9170-6C5751171A63}" type="slidenum">
              <a:rPr lang="en-US"/>
              <a:pPr/>
              <a:t>19</a:t>
            </a:fld>
            <a:endParaRPr lang="en-US"/>
          </a:p>
        </p:txBody>
      </p:sp>
      <p:sp>
        <p:nvSpPr>
          <p:cNvPr id="673794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73795" name="Text Box 3"/>
          <p:cNvSpPr txBox="1">
            <a:spLocks noChangeArrowheads="1"/>
          </p:cNvSpPr>
          <p:nvPr/>
        </p:nvSpPr>
        <p:spPr bwMode="auto">
          <a:xfrm>
            <a:off x="228600" y="355600"/>
            <a:ext cx="63785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 pitchFamily="18" charset="0"/>
              </a:rPr>
              <a:t>19-3  DNS IN THE INTERNET</a:t>
            </a:r>
          </a:p>
        </p:txBody>
      </p:sp>
      <p:sp>
        <p:nvSpPr>
          <p:cNvPr id="673796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73797" name="Rectangle 5"/>
          <p:cNvSpPr>
            <a:spLocks noChangeArrowheads="1"/>
          </p:cNvSpPr>
          <p:nvPr/>
        </p:nvSpPr>
        <p:spPr bwMode="auto">
          <a:xfrm>
            <a:off x="381000" y="1524000"/>
            <a:ext cx="8534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b="0" dirty="0">
                <a:latin typeface="+mn-lt"/>
              </a:rPr>
              <a:t>In the Internet, the domain name space (tree) is divided into three different sections: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generic domains, country domains, and the inverse domain</a:t>
            </a:r>
            <a:r>
              <a:rPr lang="en-US" b="0" dirty="0">
                <a:latin typeface="+mn-lt"/>
              </a:rPr>
              <a:t>.</a:t>
            </a: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25105"/>
            <a:ext cx="6400800" cy="221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4B8165-13CF-4639-BC96-67ABC113D395}" type="slidenum">
              <a:rPr lang="en-US"/>
              <a:pPr/>
              <a:t>20</a:t>
            </a:fld>
            <a:endParaRPr lang="en-US"/>
          </a:p>
        </p:txBody>
      </p:sp>
      <p:sp>
        <p:nvSpPr>
          <p:cNvPr id="60211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19.9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Generic domains</a:t>
            </a:r>
          </a:p>
        </p:txBody>
      </p:sp>
      <p:sp>
        <p:nvSpPr>
          <p:cNvPr id="602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36525" y="1423534"/>
            <a:ext cx="8870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Generic domains define registered hosts according to their generic behavior. </a:t>
            </a:r>
          </a:p>
          <a:p>
            <a:pPr algn="just"/>
            <a:endParaRPr lang="en-US" b="0" dirty="0"/>
          </a:p>
        </p:txBody>
      </p:sp>
      <p:sp>
        <p:nvSpPr>
          <p:cNvPr id="3" name="Rectangle 2"/>
          <p:cNvSpPr/>
          <p:nvPr/>
        </p:nvSpPr>
        <p:spPr>
          <a:xfrm>
            <a:off x="1270639" y="587315"/>
            <a:ext cx="2440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Generic Domains 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2165281"/>
            <a:ext cx="6462957" cy="3660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4B8165-13CF-4639-BC96-67ABC113D395}" type="slidenum">
              <a:rPr lang="en-US"/>
              <a:pPr/>
              <a:t>21</a:t>
            </a:fld>
            <a:endParaRPr lang="en-US"/>
          </a:p>
        </p:txBody>
      </p:sp>
      <p:sp>
        <p:nvSpPr>
          <p:cNvPr id="60211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19.9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Generic domains</a:t>
            </a:r>
          </a:p>
        </p:txBody>
      </p:sp>
      <p:sp>
        <p:nvSpPr>
          <p:cNvPr id="602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2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3" name="Rectangle 2"/>
          <p:cNvSpPr/>
          <p:nvPr/>
        </p:nvSpPr>
        <p:spPr>
          <a:xfrm>
            <a:off x="1270639" y="587315"/>
            <a:ext cx="2440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Generic Domains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970290"/>
            <a:ext cx="5257800" cy="38891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1721310"/>
            <a:ext cx="33153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Table 19.1 </a:t>
            </a:r>
            <a:r>
              <a:rPr lang="en-US" sz="1600" b="0" i="1" dirty="0">
                <a:latin typeface="+mn-lt"/>
              </a:rPr>
              <a:t>Generic domain labels</a:t>
            </a:r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00538" y="2810934"/>
            <a:ext cx="4709662" cy="237066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72567" y="3277881"/>
            <a:ext cx="4709662" cy="237066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737" y="3548900"/>
            <a:ext cx="4709662" cy="237066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11531" y="5255710"/>
            <a:ext cx="4709662" cy="237066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8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371A48-FC90-4BC5-BE5F-1465F6A80BAC}" type="slidenum">
              <a:rPr lang="en-US"/>
              <a:pPr/>
              <a:t>22</a:t>
            </a:fld>
            <a:endParaRPr lang="en-US"/>
          </a:p>
        </p:txBody>
      </p:sp>
      <p:sp>
        <p:nvSpPr>
          <p:cNvPr id="60416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19.10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Country domains</a:t>
            </a:r>
          </a:p>
        </p:txBody>
      </p:sp>
      <p:sp>
        <p:nvSpPr>
          <p:cNvPr id="60416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416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29508" y="1047630"/>
            <a:ext cx="8817642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dirty="0"/>
              <a:t>Country domains uses</a:t>
            </a:r>
            <a:r>
              <a:rPr lang="en-US" sz="1600" b="0" dirty="0">
                <a:solidFill>
                  <a:srgbClr val="FF0000"/>
                </a:solidFill>
              </a:rPr>
              <a:t> two-character </a:t>
            </a:r>
            <a:r>
              <a:rPr lang="en-US" sz="1600" b="0" dirty="0"/>
              <a:t>country abbreviations (us for United States).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Second labels can be organizational, or can be more specific, national designations.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Example: United States uses state abbreviations as a sub-division of us (e.g., ca.us.).</a:t>
            </a:r>
          </a:p>
          <a:p>
            <a:pPr algn="just"/>
            <a:r>
              <a:rPr lang="en-US" sz="1400" b="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07817" y="582613"/>
            <a:ext cx="24801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Country Domains 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72110"/>
            <a:ext cx="4876800" cy="366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6B9BE-596D-420B-9CFC-36172D2A4184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6062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114610" y="1103426"/>
            <a:ext cx="872459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>
                <a:solidFill>
                  <a:srgbClr val="FF0000"/>
                </a:solidFill>
              </a:rPr>
              <a:t>Used to map an address to a name</a:t>
            </a:r>
            <a:r>
              <a:rPr lang="en-US" b="0" dirty="0"/>
              <a:t>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This happen, when a server has received a request from a client to do a task.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The server has a file that contains a list of authorized clients, only the IP address of the client  is listed.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The server asks its resolver to send a query to the DNS server to map an address to a name to determine if the </a:t>
            </a:r>
            <a:r>
              <a:rPr lang="en-US" b="0" dirty="0">
                <a:solidFill>
                  <a:srgbClr val="FF0000"/>
                </a:solidFill>
              </a:rPr>
              <a:t>client is on the authorized list.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>
                <a:solidFill>
                  <a:srgbClr val="FF0000"/>
                </a:solidFill>
              </a:rPr>
              <a:t>This type of query is called an inverse or pointer (PTR) query. </a:t>
            </a:r>
          </a:p>
          <a:p>
            <a:pPr algn="just"/>
            <a:endParaRPr lang="en-US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To handle a pointer query, inverse domain is added to the domain name space with the first-level node called </a:t>
            </a:r>
            <a:r>
              <a:rPr lang="en-US" sz="1600" b="0" dirty="0" err="1">
                <a:solidFill>
                  <a:srgbClr val="FF0000"/>
                </a:solidFill>
              </a:rPr>
              <a:t>arpa</a:t>
            </a:r>
            <a:r>
              <a:rPr lang="en-US" sz="1600" b="0" dirty="0">
                <a:solidFill>
                  <a:srgbClr val="FF0000"/>
                </a:solidFill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second level is also one single node named </a:t>
            </a:r>
            <a:r>
              <a:rPr lang="en-US" sz="1600" b="0" dirty="0">
                <a:solidFill>
                  <a:srgbClr val="FF0000"/>
                </a:solidFill>
              </a:rPr>
              <a:t>in-</a:t>
            </a:r>
            <a:r>
              <a:rPr lang="en-US" sz="1600" b="0" dirty="0" err="1">
                <a:solidFill>
                  <a:srgbClr val="FF0000"/>
                </a:solidFill>
              </a:rPr>
              <a:t>addr</a:t>
            </a:r>
            <a:r>
              <a:rPr lang="en-US" sz="1600" b="0" dirty="0"/>
              <a:t> (for inverse address).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 The rest of the domain defines IP addresses.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6200" y="584624"/>
            <a:ext cx="23102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Inverse Domain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6B9BE-596D-420B-9CFC-36172D2A4184}" type="slidenum">
              <a:rPr lang="en-US"/>
              <a:pPr/>
              <a:t>24</a:t>
            </a:fld>
            <a:endParaRPr lang="en-US"/>
          </a:p>
        </p:txBody>
      </p:sp>
      <p:sp>
        <p:nvSpPr>
          <p:cNvPr id="60621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Inverse domain</a:t>
            </a:r>
          </a:p>
        </p:txBody>
      </p:sp>
      <p:sp>
        <p:nvSpPr>
          <p:cNvPr id="6062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88901" y="1119723"/>
            <a:ext cx="85804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dirty="0"/>
              <a:t>The servers that handle the inverse domain are also hierarchical.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This means the </a:t>
            </a:r>
            <a:r>
              <a:rPr lang="en-US" sz="1600" b="0" dirty="0" err="1">
                <a:solidFill>
                  <a:srgbClr val="FF0000"/>
                </a:solidFill>
              </a:rPr>
              <a:t>netid</a:t>
            </a:r>
            <a:r>
              <a:rPr lang="en-US" sz="1600" b="0" dirty="0"/>
              <a:t> part of the address should be at a higher level than the </a:t>
            </a:r>
            <a:r>
              <a:rPr lang="en-US" sz="1600" b="0" dirty="0" err="1">
                <a:solidFill>
                  <a:srgbClr val="FF0000"/>
                </a:solidFill>
              </a:rPr>
              <a:t>subnetid</a:t>
            </a:r>
            <a:r>
              <a:rPr lang="en-US" sz="1600" b="0" dirty="0">
                <a:solidFill>
                  <a:srgbClr val="FF0000"/>
                </a:solidFill>
              </a:rPr>
              <a:t> part</a:t>
            </a:r>
            <a:r>
              <a:rPr lang="en-US" sz="1600" b="0" dirty="0"/>
              <a:t>, and the </a:t>
            </a:r>
            <a:r>
              <a:rPr lang="en-US" sz="1600" b="0" dirty="0" err="1"/>
              <a:t>subnetid</a:t>
            </a:r>
            <a:r>
              <a:rPr lang="en-US" sz="1600" b="0" dirty="0"/>
              <a:t> part higher than the </a:t>
            </a:r>
            <a:r>
              <a:rPr lang="en-US" sz="1600" b="0" dirty="0" err="1">
                <a:solidFill>
                  <a:srgbClr val="FF0000"/>
                </a:solidFill>
              </a:rPr>
              <a:t>hostid</a:t>
            </a:r>
            <a:r>
              <a:rPr lang="en-US" sz="1600" b="0" dirty="0">
                <a:solidFill>
                  <a:srgbClr val="FF0000"/>
                </a:solidFill>
              </a:rPr>
              <a:t> part.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IP address such as 132.34.45.121 is read as 121.45.34.132.in-addr. </a:t>
            </a:r>
            <a:r>
              <a:rPr lang="en-US" sz="1600" b="0" dirty="0" err="1"/>
              <a:t>arpa</a:t>
            </a:r>
            <a:r>
              <a:rPr lang="en-US" sz="1600" b="0" dirty="0"/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6200" y="572035"/>
            <a:ext cx="23102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Inverse Domain 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981" y="2689383"/>
            <a:ext cx="3237359" cy="376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1281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6B9BE-596D-420B-9CFC-36172D2A4184}" type="slidenum">
              <a:rPr lang="en-US"/>
              <a:pPr/>
              <a:t>25</a:t>
            </a:fld>
            <a:endParaRPr lang="en-US"/>
          </a:p>
        </p:txBody>
      </p:sp>
      <p:sp>
        <p:nvSpPr>
          <p:cNvPr id="6062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62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56394" y="1228725"/>
            <a:ext cx="82966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How are the new domains added to DNS?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This is done through a registrar, a commercial entity accredited by ICANN.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 registrar first verifies that the requested </a:t>
            </a:r>
            <a:r>
              <a:rPr lang="en-US" b="0" dirty="0">
                <a:solidFill>
                  <a:srgbClr val="FF0000"/>
                </a:solidFill>
              </a:rPr>
              <a:t>domain name </a:t>
            </a:r>
            <a:r>
              <a:rPr lang="en-US" b="0" dirty="0"/>
              <a:t>is unique and then enters it into the DNS database.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 fee is charged.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9612" y="635556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Registrar </a:t>
            </a:r>
          </a:p>
        </p:txBody>
      </p:sp>
    </p:spTree>
    <p:extLst>
      <p:ext uri="{BB962C8B-B14F-4D97-AF65-F5344CB8AC3E}">
        <p14:creationId xmlns:p14="http://schemas.microsoft.com/office/powerpoint/2010/main" val="3262452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23A227-2A5E-404A-AE5A-7EC85C7CA8F0}" type="slidenum">
              <a:rPr lang="en-US"/>
              <a:pPr/>
              <a:t>26</a:t>
            </a:fld>
            <a:endParaRPr lang="en-US"/>
          </a:p>
        </p:txBody>
      </p:sp>
      <p:sp>
        <p:nvSpPr>
          <p:cNvPr id="67789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77891" name="Text Box 3"/>
          <p:cNvSpPr txBox="1">
            <a:spLocks noChangeArrowheads="1"/>
          </p:cNvSpPr>
          <p:nvPr/>
        </p:nvSpPr>
        <p:spPr bwMode="auto">
          <a:xfrm>
            <a:off x="228600" y="355600"/>
            <a:ext cx="43084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 pitchFamily="18" charset="0"/>
              </a:rPr>
              <a:t>19-4  RESOLUTION</a:t>
            </a:r>
          </a:p>
        </p:txBody>
      </p:sp>
      <p:sp>
        <p:nvSpPr>
          <p:cNvPr id="677892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677893" name="Rectangle 5"/>
          <p:cNvSpPr>
            <a:spLocks noChangeArrowheads="1"/>
          </p:cNvSpPr>
          <p:nvPr/>
        </p:nvSpPr>
        <p:spPr bwMode="auto">
          <a:xfrm>
            <a:off x="269875" y="1828800"/>
            <a:ext cx="8534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000" b="0" dirty="0">
                <a:latin typeface="+mn-lt"/>
              </a:rPr>
              <a:t>Mapping a name to an address or an address to a name is called name-address resolution.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27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442913" y="1321084"/>
            <a:ext cx="82264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DNS is designed as a client-server application.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 host that needs to map an address to a name or a name to an address calls a </a:t>
            </a:r>
            <a:r>
              <a:rPr lang="en-US" b="0" dirty="0">
                <a:solidFill>
                  <a:srgbClr val="FF0000"/>
                </a:solidFill>
              </a:rPr>
              <a:t>DNS client called a resolver. </a:t>
            </a:r>
          </a:p>
          <a:p>
            <a:pPr algn="just"/>
            <a:endParaRPr lang="en-US" b="0" dirty="0">
              <a:solidFill>
                <a:srgbClr val="FF0000"/>
              </a:solidFill>
            </a:endParaRPr>
          </a:p>
          <a:p>
            <a:pPr algn="just"/>
            <a:r>
              <a:rPr lang="en-US" b="0" dirty="0"/>
              <a:t>The resolver accesses the closest DNS server with a mapping request.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server has the information, it satisfies the resolver; otherwise, it either refers the resolver to other servers or asks other servers to provide the information.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After the resolver receives the mapping, it interprets the response to see if it is a </a:t>
            </a:r>
            <a:r>
              <a:rPr lang="en-US" b="0" dirty="0">
                <a:solidFill>
                  <a:srgbClr val="FF0000"/>
                </a:solidFill>
              </a:rPr>
              <a:t>real resolution or an error</a:t>
            </a:r>
            <a:r>
              <a:rPr lang="en-US" b="0" dirty="0"/>
              <a:t>, and finally delivers the result to the process that requested it.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5420" y="602888"/>
            <a:ext cx="13019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Resolver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28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35922" y="1160463"/>
            <a:ext cx="861122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Resolver gives a domain name to the server and asks for corresponding address.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In this case, server checks the generic domains or country domains to find the mapping.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 The query is sent by the resolver to the local DNS server for resolution.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local server cannot resolve the query, </a:t>
            </a:r>
            <a:r>
              <a:rPr lang="en-US" b="0" dirty="0">
                <a:solidFill>
                  <a:srgbClr val="FF0000"/>
                </a:solidFill>
              </a:rPr>
              <a:t>it either refers the resolver to other servers or asks other servers directly.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6200" y="609909"/>
            <a:ext cx="4049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Mapping Names to Addresses </a:t>
            </a:r>
          </a:p>
        </p:txBody>
      </p:sp>
    </p:spTree>
    <p:extLst>
      <p:ext uri="{BB962C8B-B14F-4D97-AF65-F5344CB8AC3E}">
        <p14:creationId xmlns:p14="http://schemas.microsoft.com/office/powerpoint/2010/main" val="2672744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29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466654" y="1466827"/>
            <a:ext cx="8178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A client can send an IP address to a server to be mapped to a domain name.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>
                <a:solidFill>
                  <a:srgbClr val="FF0000"/>
                </a:solidFill>
              </a:rPr>
              <a:t>this is called a PTR query.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To answer queries of this kind, DNS uses the inverse domain.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In the request, the IP address is reversed and </a:t>
            </a:r>
            <a:r>
              <a:rPr lang="en-US" sz="1600" b="0" dirty="0">
                <a:solidFill>
                  <a:srgbClr val="FF0000"/>
                </a:solidFill>
              </a:rPr>
              <a:t>two labels, </a:t>
            </a:r>
            <a:r>
              <a:rPr lang="en-US" sz="1600" dirty="0">
                <a:solidFill>
                  <a:srgbClr val="FF0000"/>
                </a:solidFill>
              </a:rPr>
              <a:t>in-</a:t>
            </a:r>
            <a:r>
              <a:rPr lang="en-US" sz="1600" dirty="0" err="1">
                <a:solidFill>
                  <a:srgbClr val="FF0000"/>
                </a:solidFill>
              </a:rPr>
              <a:t>addr</a:t>
            </a:r>
            <a:r>
              <a:rPr lang="en-US" sz="1600" b="0" dirty="0">
                <a:solidFill>
                  <a:srgbClr val="FF0000"/>
                </a:solidFill>
              </a:rPr>
              <a:t> and </a:t>
            </a:r>
            <a:r>
              <a:rPr lang="en-US" sz="1600" dirty="0" err="1">
                <a:solidFill>
                  <a:srgbClr val="FF0000"/>
                </a:solidFill>
              </a:rPr>
              <a:t>arpa</a:t>
            </a:r>
            <a:r>
              <a:rPr lang="en-US" sz="1600" b="0" dirty="0">
                <a:solidFill>
                  <a:srgbClr val="FF0000"/>
                </a:solidFill>
              </a:rPr>
              <a:t>, are appended</a:t>
            </a:r>
            <a:r>
              <a:rPr lang="en-US" sz="1600" b="0" dirty="0"/>
              <a:t> to create a domain acceptable by the inverse domain section.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If the resolver receives the IP address </a:t>
            </a:r>
            <a:r>
              <a:rPr lang="en-US" sz="1600" b="0" dirty="0">
                <a:solidFill>
                  <a:srgbClr val="FF0000"/>
                </a:solidFill>
              </a:rPr>
              <a:t>132.34.45.121</a:t>
            </a:r>
            <a:r>
              <a:rPr lang="en-US" sz="1600" b="0" dirty="0"/>
              <a:t>, resolver first inverts the address and then adds the two labels before sending.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The domain name sent is “121.45.34.132.in-addr.arpa.”, which is received by the local DNS and resolved.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1270948" y="637428"/>
            <a:ext cx="3664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Mapping Addresses to Names </a:t>
            </a:r>
          </a:p>
        </p:txBody>
      </p:sp>
    </p:spTree>
    <p:extLst>
      <p:ext uri="{BB962C8B-B14F-4D97-AF65-F5344CB8AC3E}">
        <p14:creationId xmlns:p14="http://schemas.microsoft.com/office/powerpoint/2010/main" val="2283119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30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56394" y="1401763"/>
            <a:ext cx="83058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The client (resolver) can ask for a recursive answer from a name server.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This means that the resolver expects the server to supply the final answer.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server is the authority for the domain name, it checks its database and responds.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server is not the authority, it sends the request to another server (the parent usually) and waits for the response.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parent is the authority, it responds; otherwise, it sends the query to yet another server.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When the query is finally resolved, the response travels back until it finally reaches the requesting client.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4287" y="627649"/>
            <a:ext cx="29658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Recursive Resolution </a:t>
            </a:r>
          </a:p>
        </p:txBody>
      </p:sp>
    </p:spTree>
    <p:extLst>
      <p:ext uri="{BB962C8B-B14F-4D97-AF65-F5344CB8AC3E}">
        <p14:creationId xmlns:p14="http://schemas.microsoft.com/office/powerpoint/2010/main" val="3217111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31</a:t>
            </a:fld>
            <a:endParaRPr lang="en-US"/>
          </a:p>
        </p:txBody>
      </p:sp>
      <p:sp>
        <p:nvSpPr>
          <p:cNvPr id="60825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Recursive resolution</a:t>
            </a:r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8839200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8" y="3970338"/>
            <a:ext cx="887412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1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2286000"/>
            <a:ext cx="812800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2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1955800"/>
            <a:ext cx="904875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3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2200"/>
            <a:ext cx="941388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4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828800"/>
            <a:ext cx="941388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5" name="Picture 1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505200"/>
            <a:ext cx="941388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6" name="Picture 2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935413"/>
            <a:ext cx="941388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8" name="Picture 2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13300"/>
            <a:ext cx="10699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79" name="Picture 2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7800"/>
            <a:ext cx="105092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8282" name="Picture 2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521075"/>
            <a:ext cx="91440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92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0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0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0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0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0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60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60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60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0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60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32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26824" y="1197819"/>
            <a:ext cx="8598717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If the server is an authority for the name, it sends the answer.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 If it is not, it returns (to the client) the IP address of the server that it thinks can resolve the query.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The client is responsible for repeating the query to this second server.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If the newly addressed server can resolve the problem, it answers the query with the IP address; otherwise, it returns the IP address of a new server to the client.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Now the client must repeat the query to the third server. This process is called iterative because the client repeats the same query to multiple servers.</a:t>
            </a:r>
          </a:p>
          <a:p>
            <a:pPr algn="just"/>
            <a:endParaRPr lang="en-US" b="0" dirty="0"/>
          </a:p>
          <a:p>
            <a:pPr algn="just"/>
            <a:r>
              <a:rPr lang="en-US" sz="1600" b="0" dirty="0"/>
              <a:t> In Figure 19.13 client queries 5 servers before it gets an answer from  mcgraw.com server.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7151" y="656325"/>
            <a:ext cx="2577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Iterative Resolution </a:t>
            </a:r>
          </a:p>
        </p:txBody>
      </p:sp>
    </p:spTree>
    <p:extLst>
      <p:ext uri="{BB962C8B-B14F-4D97-AF65-F5344CB8AC3E}">
        <p14:creationId xmlns:p14="http://schemas.microsoft.com/office/powerpoint/2010/main" val="2812924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0B580B-EB53-4F04-B1AE-DC5D921462B8}" type="slidenum">
              <a:rPr lang="en-US"/>
              <a:pPr/>
              <a:t>33</a:t>
            </a:fld>
            <a:endParaRPr lang="en-US"/>
          </a:p>
        </p:txBody>
      </p:sp>
      <p:pic>
        <p:nvPicPr>
          <p:cNvPr id="61031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865188"/>
            <a:ext cx="7450137" cy="370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030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19.13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Iterative resolution</a:t>
            </a: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0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0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1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1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1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1031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pic>
        <p:nvPicPr>
          <p:cNvPr id="61031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62400"/>
            <a:ext cx="116046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1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67200"/>
            <a:ext cx="115252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19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00338"/>
            <a:ext cx="2395538" cy="110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0" name="Picture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2852738"/>
            <a:ext cx="2395537" cy="110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1" name="Picture 1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4144963" cy="250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2" name="Picture 1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3835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3" name="Picture 1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40075"/>
            <a:ext cx="4918075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4" name="Picture 2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43250"/>
            <a:ext cx="5538788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5" name="Picture 2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48200"/>
            <a:ext cx="6791325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26" name="Picture 2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648200"/>
            <a:ext cx="7358063" cy="129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6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1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000"/>
                                        <p:tgtEl>
                                          <p:spTgt spid="6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1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6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1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61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61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61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34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356394" y="1189072"/>
            <a:ext cx="8590756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/>
              <a:t>Each time a server receives a query for a name that is not in its domain, it needs to search its database for a server IP address.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Reduction of this search time would increase efficiency. </a:t>
            </a:r>
          </a:p>
          <a:p>
            <a:pPr algn="just"/>
            <a:endParaRPr lang="en-US" b="0" dirty="0"/>
          </a:p>
          <a:p>
            <a:pPr algn="just"/>
            <a:r>
              <a:rPr lang="en-US" b="0" dirty="0"/>
              <a:t>DNS handles this with a mechanism called caching. </a:t>
            </a:r>
          </a:p>
          <a:p>
            <a:pPr algn="just"/>
            <a:endParaRPr lang="en-US" b="0" dirty="0"/>
          </a:p>
          <a:p>
            <a:pPr algn="just"/>
            <a:r>
              <a:rPr lang="en-US" sz="1600" b="0" dirty="0"/>
              <a:t>When a server asks for a mapping from another server and receives the response, it stores this information in its cache memory before sending it to the client.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If the same or another client asks for the same mapping, it can check its cache memory and resolve the problem.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However, to inform the client that the response is coming from the cache memory and not from an authoritative source, the </a:t>
            </a:r>
            <a:r>
              <a:rPr lang="en-US" sz="1600" b="0" dirty="0">
                <a:solidFill>
                  <a:srgbClr val="FF0000"/>
                </a:solidFill>
              </a:rPr>
              <a:t>server marks the response as unauthoritative</a:t>
            </a:r>
            <a:r>
              <a:rPr lang="en-US" sz="1600" b="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5299" y="62764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Caching</a:t>
            </a:r>
          </a:p>
        </p:txBody>
      </p:sp>
    </p:spTree>
    <p:extLst>
      <p:ext uri="{BB962C8B-B14F-4D97-AF65-F5344CB8AC3E}">
        <p14:creationId xmlns:p14="http://schemas.microsoft.com/office/powerpoint/2010/main" val="2692699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B58DE4-A59F-42BA-B6EA-839DB51CF47C}" type="slidenum">
              <a:rPr lang="en-US"/>
              <a:pPr/>
              <a:t>35</a:t>
            </a:fld>
            <a:endParaRPr lang="en-US"/>
          </a:p>
        </p:txBody>
      </p:sp>
      <p:sp>
        <p:nvSpPr>
          <p:cNvPr id="60825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60826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/>
          </a:p>
        </p:txBody>
      </p:sp>
      <p:sp>
        <p:nvSpPr>
          <p:cNvPr id="2" name="Rectangle 1"/>
          <p:cNvSpPr/>
          <p:nvPr/>
        </p:nvSpPr>
        <p:spPr>
          <a:xfrm>
            <a:off x="76200" y="1189072"/>
            <a:ext cx="887095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dirty="0">
                <a:solidFill>
                  <a:srgbClr val="FF0000"/>
                </a:solidFill>
              </a:rPr>
              <a:t>Caching speeds up resolution, but it can also be problematic</a:t>
            </a:r>
            <a:r>
              <a:rPr lang="en-US" sz="1600" b="0" dirty="0"/>
              <a:t>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If a server caches a mapping for a long time, it may send an outdated mapping to  client. </a:t>
            </a:r>
          </a:p>
          <a:p>
            <a:pPr algn="just"/>
            <a:endParaRPr lang="en-US" sz="1600" b="0" dirty="0"/>
          </a:p>
          <a:p>
            <a:pPr algn="just"/>
            <a:r>
              <a:rPr lang="en-US" sz="1600" b="0" dirty="0"/>
              <a:t>To counter this, </a:t>
            </a:r>
            <a:r>
              <a:rPr lang="en-US" sz="1600" b="0" dirty="0">
                <a:solidFill>
                  <a:srgbClr val="FF0000"/>
                </a:solidFill>
              </a:rPr>
              <a:t>two techniques are used</a:t>
            </a:r>
            <a:r>
              <a:rPr lang="en-US" sz="1600" b="0" dirty="0"/>
              <a:t>. </a:t>
            </a:r>
          </a:p>
          <a:p>
            <a:pPr algn="just"/>
            <a:endParaRPr lang="en-US" b="0" dirty="0"/>
          </a:p>
          <a:p>
            <a:pPr algn="just"/>
            <a:r>
              <a:rPr lang="en-US" sz="1600" b="0" dirty="0"/>
              <a:t>First, authoritative server always adds information to the mapping called time-to-live (TTL).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It defines the time in seconds that the receiving server can cache the information.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After that time, mapping is invalid and any query must be sent again to authoritative server. </a:t>
            </a:r>
          </a:p>
          <a:p>
            <a:pPr algn="just"/>
            <a:endParaRPr lang="en-US" b="0" dirty="0"/>
          </a:p>
          <a:p>
            <a:pPr algn="just"/>
            <a:r>
              <a:rPr lang="en-US" sz="1600" b="0" dirty="0"/>
              <a:t>Second, DNS requires that each server keep a TTL counter for each mapping it caches.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Cache memory must be searched periodically and those mappings with an expired TTL must be purged.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5299" y="627649"/>
            <a:ext cx="2244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Caching (</a:t>
            </a:r>
            <a:r>
              <a:rPr lang="en-US" sz="2000" dirty="0" err="1"/>
              <a:t>contd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35922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4"/>
  <p:tag name="MMPROD_UIDATA" val="&lt;database version=&quot;6.0&quot;&gt;&lt;object type=&quot;1&quot; unique_id=&quot;10001&quot;&gt;&lt;object type=&quot;8&quot; unique_id=&quot;11292&quot;&gt;&lt;/object&gt;&lt;object type=&quot;2&quot; unique_id=&quot;11293&quot;&gt;&lt;object type=&quot;3&quot; unique_id=&quot;11294&quot;&gt;&lt;property id=&quot;20148&quot; value=&quot;5&quot;/&gt;&lt;property id=&quot;20300&quot; value=&quot;Slide 1&quot;/&gt;&lt;property id=&quot;20307&quot; value=&quot;607&quot;/&gt;&lt;/object&gt;&lt;object type=&quot;3&quot; unique_id=&quot;11295&quot;&gt;&lt;property id=&quot;20148&quot; value=&quot;5&quot;/&gt;&lt;property id=&quot;20300&quot; value=&quot;Slide 2 - &amp;quot;OBJECTIVES:&amp;quot;&quot;/&gt;&lt;property id=&quot;20307&quot; value=&quot;608&quot;/&gt;&lt;/object&gt;&lt;object type=&quot;3&quot; unique_id=&quot;11296&quot;&gt;&lt;property id=&quot;20148&quot; value=&quot;5&quot;/&gt;&lt;property id=&quot;20300&quot; value=&quot;Slide 3&quot;/&gt;&lt;property id=&quot;20307&quot; value=&quot;609&quot;/&gt;&lt;/object&gt;&lt;object type=&quot;3&quot; unique_id=&quot;11297&quot;&gt;&lt;property id=&quot;20148&quot; value=&quot;5&quot;/&gt;&lt;property id=&quot;20300&quot; value=&quot;Slide 4&quot;/&gt;&lt;property id=&quot;20307&quot; value=&quot;610&quot;/&gt;&lt;/object&gt;&lt;object type=&quot;3&quot; unique_id=&quot;11298&quot;&gt;&lt;property id=&quot;20148&quot; value=&quot;5&quot;/&gt;&lt;property id=&quot;20300&quot; value=&quot;Slide 5&quot;/&gt;&lt;property id=&quot;20307&quot; value=&quot;578&quot;/&gt;&lt;/object&gt;&lt;object type=&quot;3&quot; unique_id=&quot;11299&quot;&gt;&lt;property id=&quot;20148&quot; value=&quot;5&quot;/&gt;&lt;property id=&quot;20300&quot; value=&quot;Slide 6&quot;/&gt;&lt;property id=&quot;20307&quot; value=&quot;615&quot;/&gt;&lt;/object&gt;&lt;object type=&quot;3&quot; unique_id=&quot;11300&quot;&gt;&lt;property id=&quot;20148&quot; value=&quot;5&quot;/&gt;&lt;property id=&quot;20300&quot; value=&quot;Slide 7&quot;/&gt;&lt;property id=&quot;20307&quot; value=&quot;616&quot;/&gt;&lt;/object&gt;&lt;object type=&quot;3&quot; unique_id=&quot;11301&quot;&gt;&lt;property id=&quot;20148&quot; value=&quot;5&quot;/&gt;&lt;property id=&quot;20300&quot; value=&quot;Slide 8&quot;/&gt;&lt;property id=&quot;20307&quot; value=&quot;579&quot;/&gt;&lt;/object&gt;&lt;object type=&quot;3&quot; unique_id=&quot;11302&quot;&gt;&lt;property id=&quot;20148&quot; value=&quot;5&quot;/&gt;&lt;property id=&quot;20300&quot; value=&quot;Slide 9&quot;/&gt;&lt;property id=&quot;20307&quot; value=&quot;580&quot;/&gt;&lt;/object&gt;&lt;object type=&quot;3&quot; unique_id=&quot;11303&quot;&gt;&lt;property id=&quot;20148&quot; value=&quot;5&quot;/&gt;&lt;property id=&quot;20300&quot; value=&quot;Slide 10&quot;/&gt;&lt;property id=&quot;20307&quot; value=&quot;581&quot;/&gt;&lt;/object&gt;&lt;object type=&quot;3&quot; unique_id=&quot;11304&quot;&gt;&lt;property id=&quot;20148&quot; value=&quot;5&quot;/&gt;&lt;property id=&quot;20300&quot; value=&quot;Slide 11&quot;/&gt;&lt;property id=&quot;20307&quot; value=&quot;582&quot;/&gt;&lt;/object&gt;&lt;object type=&quot;3&quot; unique_id=&quot;11305&quot;&gt;&lt;property id=&quot;20148&quot; value=&quot;5&quot;/&gt;&lt;property id=&quot;20300&quot; value=&quot;Slide 12&quot;/&gt;&lt;property id=&quot;20307&quot; value=&quot;583&quot;/&gt;&lt;/object&gt;&lt;object type=&quot;3&quot; unique_id=&quot;11306&quot;&gt;&lt;property id=&quot;20148&quot; value=&quot;5&quot;/&gt;&lt;property id=&quot;20300&quot; value=&quot;Slide 13&quot;/&gt;&lt;property id=&quot;20307&quot; value=&quot;584&quot;/&gt;&lt;/object&gt;&lt;object type=&quot;3&quot; unique_id=&quot;11307&quot;&gt;&lt;property id=&quot;20148&quot; value=&quot;5&quot;/&gt;&lt;property id=&quot;20300&quot; value=&quot;Slide 14&quot;/&gt;&lt;property id=&quot;20307&quot; value=&quot;635&quot;/&gt;&lt;/object&gt;&lt;object type=&quot;3&quot; unique_id=&quot;11308&quot;&gt;&lt;property id=&quot;20148&quot; value=&quot;5&quot;/&gt;&lt;property id=&quot;20300&quot; value=&quot;Slide 15&quot;/&gt;&lt;property id=&quot;20307&quot; value=&quot;617&quot;/&gt;&lt;/object&gt;&lt;object type=&quot;3&quot; unique_id=&quot;11309&quot;&gt;&lt;property id=&quot;20148&quot; value=&quot;5&quot;/&gt;&lt;property id=&quot;20300&quot; value=&quot;Slide 16&quot;/&gt;&lt;property id=&quot;20307&quot; value=&quot;618&quot;/&gt;&lt;/object&gt;&lt;object type=&quot;3&quot; unique_id=&quot;11310&quot;&gt;&lt;property id=&quot;20148&quot; value=&quot;5&quot;/&gt;&lt;property id=&quot;20300&quot; value=&quot;Slide 17&quot;/&gt;&lt;property id=&quot;20307&quot; value=&quot;585&quot;/&gt;&lt;/object&gt;&lt;object type=&quot;3&quot; unique_id=&quot;11311&quot;&gt;&lt;property id=&quot;20148&quot; value=&quot;5&quot;/&gt;&lt;property id=&quot;20300&quot; value=&quot;Slide 18&quot;/&gt;&lt;property id=&quot;20307&quot; value=&quot;586&quot;/&gt;&lt;/object&gt;&lt;object type=&quot;3&quot; unique_id=&quot;11312&quot;&gt;&lt;property id=&quot;20148&quot; value=&quot;5&quot;/&gt;&lt;property id=&quot;20300&quot; value=&quot;Slide 19&quot;/&gt;&lt;property id=&quot;20307&quot; value=&quot;636&quot;/&gt;&lt;/object&gt;&lt;object type=&quot;3&quot; unique_id=&quot;11313&quot;&gt;&lt;property id=&quot;20148&quot; value=&quot;5&quot;/&gt;&lt;property id=&quot;20300&quot; value=&quot;Slide 20&quot;/&gt;&lt;property id=&quot;20307&quot; value=&quot;587&quot;/&gt;&lt;/object&gt;&lt;object type=&quot;3&quot; unique_id=&quot;11314&quot;&gt;&lt;property id=&quot;20148&quot; value=&quot;5&quot;/&gt;&lt;property id=&quot;20300&quot; value=&quot;Slide 21&quot;/&gt;&lt;property id=&quot;20307&quot; value=&quot;588&quot;/&gt;&lt;/object&gt;&lt;object type=&quot;3&quot; unique_id=&quot;11315&quot;&gt;&lt;property id=&quot;20148&quot; value=&quot;5&quot;/&gt;&lt;property id=&quot;20300&quot; value=&quot;Slide 22&quot;/&gt;&lt;property id=&quot;20307&quot; value=&quot;619&quot;/&gt;&lt;/object&gt;&lt;object type=&quot;3&quot; unique_id=&quot;11316&quot;&gt;&lt;property id=&quot;20148&quot; value=&quot;5&quot;/&gt;&lt;property id=&quot;20300&quot; value=&quot;Slide 23&quot;/&gt;&lt;property id=&quot;20307&quot; value=&quot;620&quot;/&gt;&lt;/object&gt;&lt;object type=&quot;3&quot; unique_id=&quot;11317&quot;&gt;&lt;property id=&quot;20148&quot; value=&quot;5&quot;/&gt;&lt;property id=&quot;20300&quot; value=&quot;Slide 24&quot;/&gt;&lt;property id=&quot;20307&quot; value=&quot;589&quot;/&gt;&lt;/object&gt;&lt;object type=&quot;3&quot; unique_id=&quot;11318&quot;&gt;&lt;property id=&quot;20148&quot; value=&quot;5&quot;/&gt;&lt;property id=&quot;20300&quot; value=&quot;Slide 25&quot;/&gt;&lt;property id=&quot;20307&quot; value=&quot;590&quot;/&gt;&lt;/object&gt;&lt;object type=&quot;3&quot; unique_id=&quot;11319&quot;&gt;&lt;property id=&quot;20148&quot; value=&quot;5&quot;/&gt;&lt;property id=&quot;20300&quot; value=&quot;Slide 26&quot;/&gt;&lt;property id=&quot;20307&quot; value=&quot;621&quot;/&gt;&lt;/object&gt;&lt;object type=&quot;3&quot; unique_id=&quot;11320&quot;&gt;&lt;property id=&quot;20148&quot; value=&quot;5&quot;/&gt;&lt;property id=&quot;20300&quot; value=&quot;Slide 27&quot;/&gt;&lt;property id=&quot;20307&quot; value=&quot;622&quot;/&gt;&lt;/object&gt;&lt;object type=&quot;3&quot; unique_id=&quot;11321&quot;&gt;&lt;property id=&quot;20148&quot; value=&quot;5&quot;/&gt;&lt;property id=&quot;20300&quot; value=&quot;Slide 28&quot;/&gt;&lt;property id=&quot;20307&quot; value=&quot;591&quot;/&gt;&lt;/object&gt;&lt;object type=&quot;3&quot; unique_id=&quot;11322&quot;&gt;&lt;property id=&quot;20148&quot; value=&quot;5&quot;/&gt;&lt;property id=&quot;20300&quot; value=&quot;Slide 29&quot;/&gt;&lt;property id=&quot;20307&quot; value=&quot;592&quot;/&gt;&lt;/object&gt;&lt;object type=&quot;3&quot; unique_id=&quot;11323&quot;&gt;&lt;property id=&quot;20148&quot; value=&quot;5&quot;/&gt;&lt;property id=&quot;20300&quot; value=&quot;Slide 30&quot;/&gt;&lt;property id=&quot;20307&quot; value=&quot;593&quot;/&gt;&lt;/object&gt;&lt;object type=&quot;3&quot; unique_id=&quot;11324&quot;&gt;&lt;property id=&quot;20148&quot; value=&quot;5&quot;/&gt;&lt;property id=&quot;20300&quot; value=&quot;Slide 31&quot;/&gt;&lt;property id=&quot;20307&quot; value=&quot;637&quot;/&gt;&lt;/object&gt;&lt;object type=&quot;3&quot; unique_id=&quot;11325&quot;&gt;&lt;property id=&quot;20148&quot; value=&quot;5&quot;/&gt;&lt;property id=&quot;20300&quot; value=&quot;Slide 32&quot;/&gt;&lt;property id=&quot;20307&quot; value=&quot;623&quot;/&gt;&lt;/object&gt;&lt;object type=&quot;3&quot; unique_id=&quot;11326&quot;&gt;&lt;property id=&quot;20148&quot; value=&quot;5&quot;/&gt;&lt;property id=&quot;20300&quot; value=&quot;Slide 33&quot;/&gt;&lt;property id=&quot;20307&quot; value=&quot;624&quot;/&gt;&lt;/object&gt;&lt;object type=&quot;3&quot; unique_id=&quot;11327&quot;&gt;&lt;property id=&quot;20148&quot; value=&quot;5&quot;/&gt;&lt;property id=&quot;20300&quot; value=&quot;Slide 34&quot;/&gt;&lt;property id=&quot;20307&quot; value=&quot;594&quot;/&gt;&lt;/object&gt;&lt;object type=&quot;3&quot; unique_id=&quot;11328&quot;&gt;&lt;property id=&quot;20148&quot; value=&quot;5&quot;/&gt;&lt;property id=&quot;20300&quot; value=&quot;Slide 35&quot;/&gt;&lt;property id=&quot;20307&quot; value=&quot;595&quot;/&gt;&lt;/object&gt;&lt;object type=&quot;3&quot; unique_id=&quot;11329&quot;&gt;&lt;property id=&quot;20148&quot; value=&quot;5&quot;/&gt;&lt;property id=&quot;20300&quot; value=&quot;Slide 36&quot;/&gt;&lt;property id=&quot;20307&quot; value=&quot;638&quot;/&gt;&lt;/object&gt;&lt;object type=&quot;3&quot; unique_id=&quot;11330&quot;&gt;&lt;property id=&quot;20148&quot; value=&quot;5&quot;/&gt;&lt;property id=&quot;20300&quot; value=&quot;Slide 37&quot;/&gt;&lt;property id=&quot;20307&quot; value=&quot;639&quot;/&gt;&lt;/object&gt;&lt;object type=&quot;3&quot; unique_id=&quot;11331&quot;&gt;&lt;property id=&quot;20148&quot; value=&quot;5&quot;/&gt;&lt;property id=&quot;20300&quot; value=&quot;Slide 38&quot;/&gt;&lt;property id=&quot;20307&quot; value=&quot;596&quot;/&gt;&lt;/object&gt;&lt;object type=&quot;3&quot; unique_id=&quot;11332&quot;&gt;&lt;property id=&quot;20148&quot; value=&quot;5&quot;/&gt;&lt;property id=&quot;20300&quot; value=&quot;Slide 39&quot;/&gt;&lt;property id=&quot;20307&quot; value=&quot;625&quot;/&gt;&lt;/object&gt;&lt;object type=&quot;3&quot; unique_id=&quot;11333&quot;&gt;&lt;property id=&quot;20148&quot; value=&quot;5&quot;/&gt;&lt;property id=&quot;20300&quot; value=&quot;Slide 40&quot;/&gt;&lt;property id=&quot;20307&quot; value=&quot;597&quot;/&gt;&lt;/object&gt;&lt;object type=&quot;3&quot; unique_id=&quot;11334&quot;&gt;&lt;property id=&quot;20148&quot; value=&quot;5&quot;/&gt;&lt;property id=&quot;20300&quot; value=&quot;Slide 41&quot;/&gt;&lt;property id=&quot;20307&quot; value=&quot;640&quot;/&gt;&lt;/object&gt;&lt;object type=&quot;3&quot; unique_id=&quot;11335&quot;&gt;&lt;property id=&quot;20148&quot; value=&quot;5&quot;/&gt;&lt;property id=&quot;20300&quot; value=&quot;Slide 42&quot;/&gt;&lt;property id=&quot;20307&quot; value=&quot;598&quot;/&gt;&lt;/object&gt;&lt;object type=&quot;3&quot; unique_id=&quot;11336&quot;&gt;&lt;property id=&quot;20148&quot; value=&quot;5&quot;/&gt;&lt;property id=&quot;20300&quot; value=&quot;Slide 43&quot;/&gt;&lt;property id=&quot;20307&quot; value=&quot;643&quot;/&gt;&lt;/object&gt;&lt;object type=&quot;3&quot; unique_id=&quot;11337&quot;&gt;&lt;property id=&quot;20148&quot; value=&quot;5&quot;/&gt;&lt;property id=&quot;20300&quot; value=&quot;Slide 44&quot;/&gt;&lt;property id=&quot;20307&quot; value=&quot;599&quot;/&gt;&lt;/object&gt;&lt;object type=&quot;3&quot; unique_id=&quot;11338&quot;&gt;&lt;property id=&quot;20148&quot; value=&quot;5&quot;/&gt;&lt;property id=&quot;20300&quot; value=&quot;Slide 45&quot;/&gt;&lt;property id=&quot;20307&quot; value=&quot;641&quot;/&gt;&lt;/object&gt;&lt;object type=&quot;3&quot; unique_id=&quot;11339&quot;&gt;&lt;property id=&quot;20148&quot; value=&quot;5&quot;/&gt;&lt;property id=&quot;20300&quot; value=&quot;Slide 46&quot;/&gt;&lt;property id=&quot;20307&quot; value=&quot;600&quot;/&gt;&lt;/object&gt;&lt;object type=&quot;3&quot; unique_id=&quot;11340&quot;&gt;&lt;property id=&quot;20148&quot; value=&quot;5&quot;/&gt;&lt;property id=&quot;20300&quot; value=&quot;Slide 47&quot;/&gt;&lt;property id=&quot;20307&quot; value=&quot;644&quot;/&gt;&lt;/object&gt;&lt;object type=&quot;3&quot; unique_id=&quot;11341&quot;&gt;&lt;property id=&quot;20148&quot; value=&quot;5&quot;/&gt;&lt;property id=&quot;20300&quot; value=&quot;Slide 48&quot;/&gt;&lt;property id=&quot;20307&quot; value=&quot;601&quot;/&gt;&lt;/object&gt;&lt;object type=&quot;3&quot; unique_id=&quot;11342&quot;&gt;&lt;property id=&quot;20148&quot; value=&quot;5&quot;/&gt;&lt;property id=&quot;20300&quot; value=&quot;Slide 49&quot;/&gt;&lt;property id=&quot;20307&quot; value=&quot;642&quot;/&gt;&lt;/object&gt;&lt;object type=&quot;3&quot; unique_id=&quot;11343&quot;&gt;&lt;property id=&quot;20148&quot; value=&quot;5&quot;/&gt;&lt;property id=&quot;20300&quot; value=&quot;Slide 50&quot;/&gt;&lt;property id=&quot;20307&quot; value=&quot;627&quot;/&gt;&lt;/object&gt;&lt;object type=&quot;3&quot; unique_id=&quot;11344&quot;&gt;&lt;property id=&quot;20148&quot; value=&quot;5&quot;/&gt;&lt;property id=&quot;20300&quot; value=&quot;Slide 51&quot;/&gt;&lt;property id=&quot;20307&quot; value=&quot;645&quot;/&gt;&lt;/object&gt;&lt;object type=&quot;3&quot; unique_id=&quot;11345&quot;&gt;&lt;property id=&quot;20148&quot; value=&quot;5&quot;/&gt;&lt;property id=&quot;20300&quot; value=&quot;Slide 52&quot;/&gt;&lt;property id=&quot;20307&quot; value=&quot;629&quot;/&gt;&lt;/object&gt;&lt;object type=&quot;3&quot; unique_id=&quot;11346&quot;&gt;&lt;property id=&quot;20148&quot; value=&quot;5&quot;/&gt;&lt;property id=&quot;20300&quot; value=&quot;Slide 53&quot;/&gt;&lt;property id=&quot;20307&quot; value=&quot;631&quot;/&gt;&lt;/object&gt;&lt;/object&gt;&lt;/object&gt;&lt;/database&gt;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5917</TotalTime>
  <Words>2364</Words>
  <Application>Microsoft Office PowerPoint</Application>
  <PresentationFormat>On-screen Show (4:3)</PresentationFormat>
  <Paragraphs>360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McGrawHill-Italic</vt:lpstr>
      <vt:lpstr>Tahoma</vt:lpstr>
      <vt:lpstr>Times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Raghavendra Achar [MAHE-MIT]</cp:lastModifiedBy>
  <cp:revision>349</cp:revision>
  <dcterms:created xsi:type="dcterms:W3CDTF">2000-01-15T04:50:39Z</dcterms:created>
  <dcterms:modified xsi:type="dcterms:W3CDTF">2025-10-19T16:01:04Z</dcterms:modified>
</cp:coreProperties>
</file>