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80" r:id="rId15"/>
    <p:sldId id="281" r:id="rId16"/>
    <p:sldId id="282" r:id="rId17"/>
    <p:sldId id="283" r:id="rId18"/>
    <p:sldId id="284" r:id="rId19"/>
    <p:sldId id="285" r:id="rId20"/>
    <p:sldId id="286" r:id="rId21"/>
    <p:sldId id="292" r:id="rId22"/>
    <p:sldId id="290" r:id="rId23"/>
    <p:sldId id="291" r:id="rId24"/>
    <p:sldId id="297" r:id="rId25"/>
    <p:sldId id="298" r:id="rId26"/>
    <p:sldId id="299" r:id="rId27"/>
    <p:sldId id="275" r:id="rId28"/>
    <p:sldId id="274" r:id="rId29"/>
    <p:sldId id="270" r:id="rId30"/>
    <p:sldId id="271" r:id="rId31"/>
    <p:sldId id="272" r:id="rId32"/>
    <p:sldId id="303" r:id="rId33"/>
    <p:sldId id="304" r:id="rId34"/>
    <p:sldId id="300" r:id="rId35"/>
    <p:sldId id="301" r:id="rId36"/>
    <p:sldId id="30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3" d="100"/>
          <a:sy n="63" d="100"/>
        </p:scale>
        <p:origin x="80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2161410-244C-4171-9E12-B419C497E02F}"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1339671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161410-244C-4171-9E12-B419C497E02F}"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623420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2161410-244C-4171-9E12-B419C497E02F}"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4185952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161410-244C-4171-9E12-B419C497E02F}"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2758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2161410-244C-4171-9E12-B419C497E02F}" type="datetimeFigureOut">
              <a:rPr lang="en-US" smtClean="0"/>
              <a:t>8/7/2025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3842795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161410-244C-4171-9E12-B419C497E02F}" type="datetimeFigureOut">
              <a:rPr lang="en-US" smtClean="0"/>
              <a:t>8/7/2025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2985706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161410-244C-4171-9E12-B419C497E02F}" type="datetimeFigureOut">
              <a:rPr lang="en-US" smtClean="0"/>
              <a:t>8/7/2025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979358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2161410-244C-4171-9E12-B419C497E02F}"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2568029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2161410-244C-4171-9E12-B419C497E02F}"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2690858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161410-244C-4171-9E12-B419C497E02F}"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352224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161410-244C-4171-9E12-B419C497E02F}"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A48B9-2122-437B-8D51-87738A1C4A03}" type="slidenum">
              <a:rPr lang="en-US" smtClean="0"/>
              <a:t>‹#›</a:t>
            </a:fld>
            <a:endParaRPr lang="en-US"/>
          </a:p>
        </p:txBody>
      </p:sp>
    </p:spTree>
    <p:extLst>
      <p:ext uri="{BB962C8B-B14F-4D97-AF65-F5344CB8AC3E}">
        <p14:creationId xmlns:p14="http://schemas.microsoft.com/office/powerpoint/2010/main" val="179506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161410-244C-4171-9E12-B419C497E02F}" type="datetimeFigureOut">
              <a:rPr lang="en-US" smtClean="0"/>
              <a:t>8/7/2025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DA48B9-2122-437B-8D51-87738A1C4A03}" type="slidenum">
              <a:rPr lang="en-US" smtClean="0"/>
              <a:t>‹#›</a:t>
            </a:fld>
            <a:endParaRPr lang="en-US"/>
          </a:p>
        </p:txBody>
      </p:sp>
    </p:spTree>
    <p:extLst>
      <p:ext uri="{BB962C8B-B14F-4D97-AF65-F5344CB8AC3E}">
        <p14:creationId xmlns:p14="http://schemas.microsoft.com/office/powerpoint/2010/main" val="437429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1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6.emf"/><Relationship Id="rId1" Type="http://schemas.openxmlformats.org/officeDocument/2006/relationships/slideLayout" Target="../slideLayouts/slideLayout7.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13.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5.emf"/><Relationship Id="rId2" Type="http://schemas.openxmlformats.org/officeDocument/2006/relationships/image" Target="../media/image19.emf"/><Relationship Id="rId1" Type="http://schemas.openxmlformats.org/officeDocument/2006/relationships/slideLayout" Target="../slideLayouts/slideLayout7.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14.emf"/></Relationships>
</file>

<file path=ppt/slides/_rels/slide1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7.xml"/><Relationship Id="rId5" Type="http://schemas.openxmlformats.org/officeDocument/2006/relationships/image" Target="../media/image38.emf"/><Relationship Id="rId4" Type="http://schemas.openxmlformats.org/officeDocument/2006/relationships/image" Target="../media/image37.emf"/></Relationships>
</file>

<file path=ppt/slides/_rels/slide2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7.xml"/><Relationship Id="rId6" Type="http://schemas.openxmlformats.org/officeDocument/2006/relationships/image" Target="../media/image45.emf"/><Relationship Id="rId5" Type="http://schemas.openxmlformats.org/officeDocument/2006/relationships/image" Target="../media/image44.emf"/><Relationship Id="rId4" Type="http://schemas.openxmlformats.org/officeDocument/2006/relationships/image" Target="../media/image43.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16256" y="637612"/>
            <a:ext cx="2574744" cy="584775"/>
          </a:xfrm>
          <a:prstGeom prst="rect">
            <a:avLst/>
          </a:prstGeom>
        </p:spPr>
        <p:txBody>
          <a:bodyPr wrap="none">
            <a:spAutoFit/>
          </a:bodyPr>
          <a:lstStyle/>
          <a:p>
            <a:r>
              <a:rPr lang="en-US" sz="3200" b="1" dirty="0">
                <a:latin typeface="Times-BoldSC"/>
              </a:rPr>
              <a:t>Multiplexers</a:t>
            </a:r>
            <a:endParaRPr lang="en-US" sz="3200" dirty="0"/>
          </a:p>
        </p:txBody>
      </p:sp>
      <p:sp>
        <p:nvSpPr>
          <p:cNvPr id="3" name="Rectangle 2"/>
          <p:cNvSpPr/>
          <p:nvPr/>
        </p:nvSpPr>
        <p:spPr>
          <a:xfrm>
            <a:off x="1194999" y="1651085"/>
            <a:ext cx="9832391" cy="2554545"/>
          </a:xfrm>
          <a:prstGeom prst="rect">
            <a:avLst/>
          </a:prstGeom>
        </p:spPr>
        <p:txBody>
          <a:bodyPr wrap="square">
            <a:spAutoFit/>
          </a:bodyPr>
          <a:lstStyle/>
          <a:p>
            <a:pPr algn="just"/>
            <a:r>
              <a:rPr lang="en-US" sz="3200" dirty="0">
                <a:latin typeface="Times-Roman"/>
              </a:rPr>
              <a:t>A multiplexer circuit has a number of data inputs, one or more select inputs, and one output. It passes the signal value on one of the data inputs to the output. The data input is selected by the values of the select</a:t>
            </a:r>
          </a:p>
          <a:p>
            <a:pPr algn="just"/>
            <a:r>
              <a:rPr lang="en-US" sz="3200" dirty="0">
                <a:latin typeface="Times-Roman"/>
              </a:rPr>
              <a:t>inputs.</a:t>
            </a:r>
            <a:endParaRPr lang="en-US" sz="3200" dirty="0"/>
          </a:p>
        </p:txBody>
      </p:sp>
    </p:spTree>
    <p:extLst>
      <p:ext uri="{BB962C8B-B14F-4D97-AF65-F5344CB8AC3E}">
        <p14:creationId xmlns:p14="http://schemas.microsoft.com/office/powerpoint/2010/main" val="3124140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5532" t="7912" r="4255" b="12213"/>
          <a:stretch/>
        </p:blipFill>
        <p:spPr>
          <a:xfrm>
            <a:off x="1692321" y="1078173"/>
            <a:ext cx="2893327" cy="2756848"/>
          </a:xfrm>
          <a:prstGeom prst="rect">
            <a:avLst/>
          </a:prstGeom>
        </p:spPr>
      </p:pic>
      <p:pic>
        <p:nvPicPr>
          <p:cNvPr id="4" name="Picture 3"/>
          <p:cNvPicPr>
            <a:picLocks noChangeAspect="1"/>
          </p:cNvPicPr>
          <p:nvPr/>
        </p:nvPicPr>
        <p:blipFill rotWithShape="1">
          <a:blip r:embed="rId3"/>
          <a:srcRect l="14408"/>
          <a:stretch/>
        </p:blipFill>
        <p:spPr>
          <a:xfrm>
            <a:off x="7624568" y="1078173"/>
            <a:ext cx="2197290" cy="2793793"/>
          </a:xfrm>
          <a:prstGeom prst="rect">
            <a:avLst/>
          </a:prstGeom>
        </p:spPr>
      </p:pic>
      <p:pic>
        <p:nvPicPr>
          <p:cNvPr id="5" name="Picture 4"/>
          <p:cNvPicPr>
            <a:picLocks noChangeAspect="1"/>
          </p:cNvPicPr>
          <p:nvPr/>
        </p:nvPicPr>
        <p:blipFill>
          <a:blip r:embed="rId4"/>
          <a:stretch>
            <a:fillRect/>
          </a:stretch>
        </p:blipFill>
        <p:spPr>
          <a:xfrm>
            <a:off x="1944114" y="4138061"/>
            <a:ext cx="4807136" cy="2255944"/>
          </a:xfrm>
          <a:prstGeom prst="rect">
            <a:avLst/>
          </a:prstGeom>
        </p:spPr>
      </p:pic>
      <p:sp>
        <p:nvSpPr>
          <p:cNvPr id="7" name="Rectangle 6"/>
          <p:cNvSpPr/>
          <p:nvPr/>
        </p:nvSpPr>
        <p:spPr>
          <a:xfrm>
            <a:off x="512353" y="343420"/>
            <a:ext cx="3835329" cy="646331"/>
          </a:xfrm>
          <a:prstGeom prst="rect">
            <a:avLst/>
          </a:prstGeom>
        </p:spPr>
        <p:txBody>
          <a:bodyPr wrap="square">
            <a:spAutoFit/>
          </a:bodyPr>
          <a:lstStyle/>
          <a:p>
            <a:r>
              <a:rPr lang="en-US" sz="3600" dirty="0">
                <a:latin typeface="Futura"/>
              </a:rPr>
              <a:t>2-to-1 multiplexer.</a:t>
            </a:r>
            <a:endParaRPr lang="en-US" sz="3600" dirty="0"/>
          </a:p>
        </p:txBody>
      </p:sp>
    </p:spTree>
    <p:extLst>
      <p:ext uri="{BB962C8B-B14F-4D97-AF65-F5344CB8AC3E}">
        <p14:creationId xmlns:p14="http://schemas.microsoft.com/office/powerpoint/2010/main" val="45085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4084" y="764276"/>
            <a:ext cx="8970837" cy="5443706"/>
          </a:xfrm>
          <a:prstGeom prst="rect">
            <a:avLst/>
          </a:prstGeom>
        </p:spPr>
      </p:pic>
      <p:sp>
        <p:nvSpPr>
          <p:cNvPr id="3" name="Rectangle 2"/>
          <p:cNvSpPr/>
          <p:nvPr/>
        </p:nvSpPr>
        <p:spPr>
          <a:xfrm>
            <a:off x="998947" y="214531"/>
            <a:ext cx="3440173" cy="584775"/>
          </a:xfrm>
          <a:prstGeom prst="rect">
            <a:avLst/>
          </a:prstGeom>
        </p:spPr>
        <p:txBody>
          <a:bodyPr wrap="none">
            <a:spAutoFit/>
          </a:bodyPr>
          <a:lstStyle/>
          <a:p>
            <a:r>
              <a:rPr lang="en-US" sz="3200" dirty="0">
                <a:latin typeface="Futura"/>
              </a:rPr>
              <a:t>4-to-1 multiplexer.</a:t>
            </a:r>
            <a:endParaRPr lang="en-US" sz="3200" dirty="0"/>
          </a:p>
        </p:txBody>
      </p:sp>
    </p:spTree>
    <p:extLst>
      <p:ext uri="{BB962C8B-B14F-4D97-AF65-F5344CB8AC3E}">
        <p14:creationId xmlns:p14="http://schemas.microsoft.com/office/powerpoint/2010/main" val="3038235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5092" y="374260"/>
            <a:ext cx="7506269" cy="5841549"/>
          </a:xfrm>
          <a:prstGeom prst="rect">
            <a:avLst/>
          </a:prstGeom>
        </p:spPr>
      </p:pic>
      <p:pic>
        <p:nvPicPr>
          <p:cNvPr id="3" name="Picture 2"/>
          <p:cNvPicPr>
            <a:picLocks noChangeAspect="1"/>
          </p:cNvPicPr>
          <p:nvPr/>
        </p:nvPicPr>
        <p:blipFill>
          <a:blip r:embed="rId3"/>
          <a:stretch>
            <a:fillRect/>
          </a:stretch>
        </p:blipFill>
        <p:spPr>
          <a:xfrm>
            <a:off x="6264781" y="4164037"/>
            <a:ext cx="5771698" cy="532177"/>
          </a:xfrm>
          <a:prstGeom prst="rect">
            <a:avLst/>
          </a:prstGeom>
        </p:spPr>
      </p:pic>
      <p:pic>
        <p:nvPicPr>
          <p:cNvPr id="4" name="Picture 3"/>
          <p:cNvPicPr>
            <a:picLocks noChangeAspect="1"/>
          </p:cNvPicPr>
          <p:nvPr/>
        </p:nvPicPr>
        <p:blipFill rotWithShape="1">
          <a:blip r:embed="rId4"/>
          <a:srcRect l="61691" b="26635"/>
          <a:stretch/>
        </p:blipFill>
        <p:spPr>
          <a:xfrm>
            <a:off x="8161361" y="292526"/>
            <a:ext cx="2583685" cy="3002508"/>
          </a:xfrm>
          <a:prstGeom prst="rect">
            <a:avLst/>
          </a:prstGeom>
        </p:spPr>
      </p:pic>
    </p:spTree>
    <p:extLst>
      <p:ext uri="{BB962C8B-B14F-4D97-AF65-F5344CB8AC3E}">
        <p14:creationId xmlns:p14="http://schemas.microsoft.com/office/powerpoint/2010/main" val="40460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2973" y="590602"/>
            <a:ext cx="9890078" cy="2062103"/>
          </a:xfrm>
          <a:prstGeom prst="rect">
            <a:avLst/>
          </a:prstGeom>
        </p:spPr>
        <p:txBody>
          <a:bodyPr wrap="square">
            <a:spAutoFit/>
          </a:bodyPr>
          <a:lstStyle/>
          <a:p>
            <a:pPr algn="just"/>
            <a:r>
              <a:rPr lang="en-US" sz="3200" dirty="0">
                <a:latin typeface="Times-Roman"/>
              </a:rPr>
              <a:t>Usually, the number of data inputs, </a:t>
            </a:r>
            <a:r>
              <a:rPr lang="en-US" sz="3200" i="1" dirty="0">
                <a:latin typeface="Times-Italic"/>
              </a:rPr>
              <a:t>n</a:t>
            </a:r>
            <a:r>
              <a:rPr lang="en-US" sz="3200" dirty="0">
                <a:latin typeface="Times-Roman"/>
              </a:rPr>
              <a:t>, is an integer power of two. A multiplexer that has </a:t>
            </a:r>
            <a:r>
              <a:rPr lang="en-US" sz="3200" i="1" dirty="0">
                <a:latin typeface="Times-Italic"/>
              </a:rPr>
              <a:t>n </a:t>
            </a:r>
            <a:r>
              <a:rPr lang="en-US" sz="3200" dirty="0">
                <a:latin typeface="Times-Roman"/>
              </a:rPr>
              <a:t>data inputs,</a:t>
            </a:r>
          </a:p>
          <a:p>
            <a:pPr algn="just"/>
            <a:r>
              <a:rPr lang="en-US" sz="3200" i="1" dirty="0">
                <a:latin typeface="Times-Italic"/>
              </a:rPr>
              <a:t>w</a:t>
            </a:r>
            <a:r>
              <a:rPr lang="en-US" sz="3200" dirty="0">
                <a:latin typeface="Times-Roman"/>
              </a:rPr>
              <a:t>0</a:t>
            </a:r>
            <a:r>
              <a:rPr lang="en-US" sz="3200" i="1" dirty="0">
                <a:latin typeface="MTMI"/>
              </a:rPr>
              <a:t>, . . . ,</a:t>
            </a:r>
            <a:r>
              <a:rPr lang="en-US" sz="3200" i="1" dirty="0">
                <a:latin typeface="Times-Italic"/>
              </a:rPr>
              <a:t>wn</a:t>
            </a:r>
            <a:r>
              <a:rPr lang="en-US" sz="3200" dirty="0">
                <a:latin typeface="MTSYN"/>
              </a:rPr>
              <a:t>−</a:t>
            </a:r>
            <a:r>
              <a:rPr lang="en-US" sz="3200" dirty="0">
                <a:latin typeface="Times-Roman"/>
              </a:rPr>
              <a:t>1, requires          </a:t>
            </a:r>
            <a:r>
              <a:rPr lang="en-US" sz="3200" dirty="0">
                <a:latin typeface="MTSYN"/>
              </a:rPr>
              <a:t> </a:t>
            </a:r>
            <a:r>
              <a:rPr lang="en-US" sz="3200" dirty="0">
                <a:latin typeface="Times-Roman"/>
              </a:rPr>
              <a:t> </a:t>
            </a:r>
            <a:r>
              <a:rPr lang="en-US" sz="3200" i="1" dirty="0">
                <a:latin typeface="Times-Italic"/>
              </a:rPr>
              <a:t> </a:t>
            </a:r>
            <a:r>
              <a:rPr lang="en-US" sz="3200" dirty="0">
                <a:latin typeface="Times-Roman"/>
              </a:rPr>
              <a:t>select inputs and it has one output.</a:t>
            </a:r>
            <a:endParaRPr lang="en-US" sz="3200" dirty="0"/>
          </a:p>
        </p:txBody>
      </p:sp>
      <p:pic>
        <p:nvPicPr>
          <p:cNvPr id="3" name="Picture 2"/>
          <p:cNvPicPr>
            <a:picLocks noChangeAspect="1"/>
          </p:cNvPicPr>
          <p:nvPr/>
        </p:nvPicPr>
        <p:blipFill>
          <a:blip r:embed="rId2"/>
          <a:stretch>
            <a:fillRect/>
          </a:stretch>
        </p:blipFill>
        <p:spPr>
          <a:xfrm>
            <a:off x="5435601" y="1727917"/>
            <a:ext cx="2070668" cy="715970"/>
          </a:xfrm>
          <a:prstGeom prst="rect">
            <a:avLst/>
          </a:prstGeom>
        </p:spPr>
      </p:pic>
      <p:sp>
        <p:nvSpPr>
          <p:cNvPr id="4" name="Rectangle 3"/>
          <p:cNvSpPr/>
          <p:nvPr/>
        </p:nvSpPr>
        <p:spPr>
          <a:xfrm>
            <a:off x="1410267" y="3060848"/>
            <a:ext cx="9862783" cy="2062103"/>
          </a:xfrm>
          <a:prstGeom prst="rect">
            <a:avLst/>
          </a:prstGeom>
        </p:spPr>
        <p:txBody>
          <a:bodyPr wrap="square">
            <a:spAutoFit/>
          </a:bodyPr>
          <a:lstStyle/>
          <a:p>
            <a:pPr algn="just"/>
            <a:r>
              <a:rPr lang="en-US" sz="3200" dirty="0">
                <a:latin typeface="Times-Roman"/>
              </a:rPr>
              <a:t>Larger multiplexers can also be constructed from smaller multiplexers. For example, the 4-to-1 multiplexer can be built using three 2-to-1 multiplexers as shown below:</a:t>
            </a:r>
            <a:endParaRPr lang="en-US" sz="3200" dirty="0"/>
          </a:p>
        </p:txBody>
      </p:sp>
    </p:spTree>
    <p:extLst>
      <p:ext uri="{BB962C8B-B14F-4D97-AF65-F5344CB8AC3E}">
        <p14:creationId xmlns:p14="http://schemas.microsoft.com/office/powerpoint/2010/main" val="2671839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691117" y="316700"/>
            <a:ext cx="4885897" cy="5501680"/>
          </a:xfrm>
          <a:prstGeom prst="rect">
            <a:avLst/>
          </a:prstGeom>
        </p:spPr>
      </p:pic>
      <p:sp>
        <p:nvSpPr>
          <p:cNvPr id="3" name="Rectangle 2"/>
          <p:cNvSpPr/>
          <p:nvPr/>
        </p:nvSpPr>
        <p:spPr>
          <a:xfrm>
            <a:off x="2274625" y="5818380"/>
            <a:ext cx="7865662" cy="461665"/>
          </a:xfrm>
          <a:prstGeom prst="rect">
            <a:avLst/>
          </a:prstGeom>
        </p:spPr>
        <p:txBody>
          <a:bodyPr wrap="square">
            <a:spAutoFit/>
          </a:bodyPr>
          <a:lstStyle/>
          <a:p>
            <a:r>
              <a:rPr lang="en-US" sz="2400" dirty="0">
                <a:latin typeface="Futura"/>
              </a:rPr>
              <a:t>Using 2-to-1 multiplexers to build a 4-to-1 multiplexer.</a:t>
            </a:r>
            <a:endParaRPr lang="en-US" sz="2400" dirty="0"/>
          </a:p>
        </p:txBody>
      </p:sp>
      <p:pic>
        <p:nvPicPr>
          <p:cNvPr id="4" name="Picture 3"/>
          <p:cNvPicPr>
            <a:picLocks noChangeAspect="1"/>
          </p:cNvPicPr>
          <p:nvPr/>
        </p:nvPicPr>
        <p:blipFill>
          <a:blip r:embed="rId3"/>
          <a:stretch>
            <a:fillRect/>
          </a:stretch>
        </p:blipFill>
        <p:spPr>
          <a:xfrm>
            <a:off x="71295" y="1256523"/>
            <a:ext cx="3336094" cy="3622034"/>
          </a:xfrm>
          <a:prstGeom prst="rect">
            <a:avLst/>
          </a:prstGeom>
        </p:spPr>
      </p:pic>
    </p:spTree>
    <p:extLst>
      <p:ext uri="{BB962C8B-B14F-4D97-AF65-F5344CB8AC3E}">
        <p14:creationId xmlns:p14="http://schemas.microsoft.com/office/powerpoint/2010/main" val="404703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3038" y="3051243"/>
            <a:ext cx="3216323" cy="2554545"/>
          </a:xfrm>
          <a:prstGeom prst="rect">
            <a:avLst/>
          </a:prstGeom>
        </p:spPr>
        <p:txBody>
          <a:bodyPr wrap="square">
            <a:spAutoFit/>
          </a:bodyPr>
          <a:lstStyle/>
          <a:p>
            <a:r>
              <a:rPr lang="en-US" sz="3200" dirty="0">
                <a:latin typeface="Times-Roman"/>
              </a:rPr>
              <a:t>Similarly, 16-to-1 multiplexer can be constructed with five 4-to-1 multiplexers.</a:t>
            </a:r>
            <a:endParaRPr lang="en-US" sz="3200" dirty="0"/>
          </a:p>
        </p:txBody>
      </p:sp>
      <p:pic>
        <p:nvPicPr>
          <p:cNvPr id="3" name="Picture 2"/>
          <p:cNvPicPr>
            <a:picLocks noChangeAspect="1"/>
          </p:cNvPicPr>
          <p:nvPr/>
        </p:nvPicPr>
        <p:blipFill>
          <a:blip r:embed="rId2"/>
          <a:stretch>
            <a:fillRect/>
          </a:stretch>
        </p:blipFill>
        <p:spPr>
          <a:xfrm>
            <a:off x="4899546" y="95535"/>
            <a:ext cx="4156714" cy="6762466"/>
          </a:xfrm>
          <a:prstGeom prst="rect">
            <a:avLst/>
          </a:prstGeom>
        </p:spPr>
      </p:pic>
    </p:spTree>
    <p:extLst>
      <p:ext uri="{BB962C8B-B14F-4D97-AF65-F5344CB8AC3E}">
        <p14:creationId xmlns:p14="http://schemas.microsoft.com/office/powerpoint/2010/main" val="1867785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8287" y="364657"/>
            <a:ext cx="9650399" cy="584775"/>
          </a:xfrm>
          <a:prstGeom prst="rect">
            <a:avLst/>
          </a:prstGeom>
        </p:spPr>
        <p:txBody>
          <a:bodyPr wrap="none">
            <a:spAutoFit/>
          </a:bodyPr>
          <a:lstStyle/>
          <a:p>
            <a:r>
              <a:rPr lang="en-US" sz="3200" b="1" dirty="0">
                <a:latin typeface="Times-BoldSC"/>
              </a:rPr>
              <a:t>Synthesis of Logic Functions Using Multiplexers</a:t>
            </a:r>
            <a:endParaRPr lang="en-US" sz="3200" dirty="0"/>
          </a:p>
        </p:txBody>
      </p:sp>
      <p:pic>
        <p:nvPicPr>
          <p:cNvPr id="3" name="Picture 2"/>
          <p:cNvPicPr>
            <a:picLocks noChangeAspect="1"/>
          </p:cNvPicPr>
          <p:nvPr/>
        </p:nvPicPr>
        <p:blipFill>
          <a:blip r:embed="rId2"/>
          <a:stretch>
            <a:fillRect/>
          </a:stretch>
        </p:blipFill>
        <p:spPr>
          <a:xfrm>
            <a:off x="1735865" y="1419367"/>
            <a:ext cx="8257130" cy="4258101"/>
          </a:xfrm>
          <a:prstGeom prst="rect">
            <a:avLst/>
          </a:prstGeom>
        </p:spPr>
      </p:pic>
    </p:spTree>
    <p:extLst>
      <p:ext uri="{BB962C8B-B14F-4D97-AF65-F5344CB8AC3E}">
        <p14:creationId xmlns:p14="http://schemas.microsoft.com/office/powerpoint/2010/main" val="2529522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r="58043" b="27235"/>
          <a:stretch/>
        </p:blipFill>
        <p:spPr>
          <a:xfrm>
            <a:off x="1146961" y="2009635"/>
            <a:ext cx="2387809" cy="2999096"/>
          </a:xfrm>
          <a:prstGeom prst="rect">
            <a:avLst/>
          </a:prstGeom>
        </p:spPr>
      </p:pic>
      <p:pic>
        <p:nvPicPr>
          <p:cNvPr id="3" name="Picture 2"/>
          <p:cNvPicPr>
            <a:picLocks noChangeAspect="1"/>
          </p:cNvPicPr>
          <p:nvPr/>
        </p:nvPicPr>
        <p:blipFill>
          <a:blip r:embed="rId3"/>
          <a:stretch>
            <a:fillRect/>
          </a:stretch>
        </p:blipFill>
        <p:spPr>
          <a:xfrm>
            <a:off x="7554283" y="2511192"/>
            <a:ext cx="4239791" cy="2906972"/>
          </a:xfrm>
          <a:prstGeom prst="rect">
            <a:avLst/>
          </a:prstGeom>
        </p:spPr>
      </p:pic>
      <p:pic>
        <p:nvPicPr>
          <p:cNvPr id="4" name="Picture 3"/>
          <p:cNvPicPr>
            <a:picLocks noChangeAspect="1"/>
          </p:cNvPicPr>
          <p:nvPr/>
        </p:nvPicPr>
        <p:blipFill rotWithShape="1">
          <a:blip r:embed="rId2"/>
          <a:srcRect l="64220" b="29305"/>
          <a:stretch/>
        </p:blipFill>
        <p:spPr>
          <a:xfrm>
            <a:off x="4940490" y="2009635"/>
            <a:ext cx="2036295" cy="2913797"/>
          </a:xfrm>
          <a:prstGeom prst="rect">
            <a:avLst/>
          </a:prstGeom>
        </p:spPr>
      </p:pic>
      <p:pic>
        <p:nvPicPr>
          <p:cNvPr id="5" name="Picture 4"/>
          <p:cNvPicPr>
            <a:picLocks noChangeAspect="1"/>
          </p:cNvPicPr>
          <p:nvPr/>
        </p:nvPicPr>
        <p:blipFill rotWithShape="1">
          <a:blip r:embed="rId2"/>
          <a:srcRect l="41678" r="35540" b="27235"/>
          <a:stretch/>
        </p:blipFill>
        <p:spPr>
          <a:xfrm>
            <a:off x="3599721" y="2009635"/>
            <a:ext cx="1296537" cy="2999096"/>
          </a:xfrm>
          <a:prstGeom prst="rect">
            <a:avLst/>
          </a:prstGeom>
        </p:spPr>
      </p:pic>
      <p:sp>
        <p:nvSpPr>
          <p:cNvPr id="7" name="TextBox 6"/>
          <p:cNvSpPr txBox="1"/>
          <p:nvPr/>
        </p:nvSpPr>
        <p:spPr>
          <a:xfrm>
            <a:off x="491318" y="263645"/>
            <a:ext cx="9689912" cy="523220"/>
          </a:xfrm>
          <a:prstGeom prst="rect">
            <a:avLst/>
          </a:prstGeom>
          <a:noFill/>
        </p:spPr>
        <p:txBody>
          <a:bodyPr wrap="square" rtlCol="0">
            <a:spAutoFit/>
          </a:bodyPr>
          <a:lstStyle/>
          <a:p>
            <a:r>
              <a:rPr lang="en-US" sz="2800" dirty="0"/>
              <a:t>Example 1 : Two input XOR function using 2 to 1 multiplexer</a:t>
            </a:r>
          </a:p>
        </p:txBody>
      </p:sp>
    </p:spTree>
    <p:extLst>
      <p:ext uri="{BB962C8B-B14F-4D97-AF65-F5344CB8AC3E}">
        <p14:creationId xmlns:p14="http://schemas.microsoft.com/office/powerpoint/2010/main" val="674100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r="62863" b="15771"/>
          <a:stretch/>
        </p:blipFill>
        <p:spPr>
          <a:xfrm>
            <a:off x="491318" y="786865"/>
            <a:ext cx="2442951" cy="4890604"/>
          </a:xfrm>
          <a:prstGeom prst="rect">
            <a:avLst/>
          </a:prstGeom>
        </p:spPr>
      </p:pic>
      <p:sp>
        <p:nvSpPr>
          <p:cNvPr id="3" name="TextBox 2"/>
          <p:cNvSpPr txBox="1"/>
          <p:nvPr/>
        </p:nvSpPr>
        <p:spPr>
          <a:xfrm>
            <a:off x="491318" y="263645"/>
            <a:ext cx="9689912" cy="523220"/>
          </a:xfrm>
          <a:prstGeom prst="rect">
            <a:avLst/>
          </a:prstGeom>
          <a:noFill/>
        </p:spPr>
        <p:txBody>
          <a:bodyPr wrap="square" rtlCol="0">
            <a:spAutoFit/>
          </a:bodyPr>
          <a:lstStyle/>
          <a:p>
            <a:r>
              <a:rPr lang="en-US" sz="2800" dirty="0"/>
              <a:t>Example 2 : Three input majority function using 4 to 1 multiplexer</a:t>
            </a:r>
          </a:p>
        </p:txBody>
      </p:sp>
      <p:pic>
        <p:nvPicPr>
          <p:cNvPr id="4" name="Picture 3"/>
          <p:cNvPicPr>
            <a:picLocks noChangeAspect="1"/>
          </p:cNvPicPr>
          <p:nvPr/>
        </p:nvPicPr>
        <p:blipFill>
          <a:blip r:embed="rId3"/>
          <a:stretch>
            <a:fillRect/>
          </a:stretch>
        </p:blipFill>
        <p:spPr>
          <a:xfrm>
            <a:off x="7301551" y="1539921"/>
            <a:ext cx="4326342" cy="4240906"/>
          </a:xfrm>
          <a:prstGeom prst="rect">
            <a:avLst/>
          </a:prstGeom>
        </p:spPr>
      </p:pic>
      <p:pic>
        <p:nvPicPr>
          <p:cNvPr id="5" name="Picture 4"/>
          <p:cNvPicPr>
            <a:picLocks noChangeAspect="1"/>
          </p:cNvPicPr>
          <p:nvPr/>
        </p:nvPicPr>
        <p:blipFill rotWithShape="1">
          <a:blip r:embed="rId2"/>
          <a:srcRect l="37552" b="20236"/>
          <a:stretch/>
        </p:blipFill>
        <p:spPr>
          <a:xfrm>
            <a:off x="3063922" y="786865"/>
            <a:ext cx="4107976" cy="4631296"/>
          </a:xfrm>
          <a:prstGeom prst="rect">
            <a:avLst/>
          </a:prstGeom>
        </p:spPr>
      </p:pic>
    </p:spTree>
    <p:extLst>
      <p:ext uri="{BB962C8B-B14F-4D97-AF65-F5344CB8AC3E}">
        <p14:creationId xmlns:p14="http://schemas.microsoft.com/office/powerpoint/2010/main" val="19831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994" y="222112"/>
            <a:ext cx="9890078" cy="1077218"/>
          </a:xfrm>
          <a:prstGeom prst="rect">
            <a:avLst/>
          </a:prstGeom>
        </p:spPr>
        <p:txBody>
          <a:bodyPr wrap="square">
            <a:spAutoFit/>
          </a:bodyPr>
          <a:lstStyle/>
          <a:p>
            <a:pPr algn="just"/>
            <a:r>
              <a:rPr lang="en-US" sz="3200" dirty="0">
                <a:latin typeface="Times-Roman"/>
              </a:rPr>
              <a:t>Example 3: Implement a three-input XOR gate using 2-to-1 multiplexer. </a:t>
            </a:r>
            <a:endParaRPr lang="en-US" sz="3200" dirty="0"/>
          </a:p>
        </p:txBody>
      </p:sp>
      <p:pic>
        <p:nvPicPr>
          <p:cNvPr id="5" name="Picture 4"/>
          <p:cNvPicPr>
            <a:picLocks noChangeAspect="1"/>
          </p:cNvPicPr>
          <p:nvPr/>
        </p:nvPicPr>
        <p:blipFill>
          <a:blip r:embed="rId2"/>
          <a:stretch>
            <a:fillRect/>
          </a:stretch>
        </p:blipFill>
        <p:spPr>
          <a:xfrm>
            <a:off x="1028132" y="1299330"/>
            <a:ext cx="2725003" cy="5310214"/>
          </a:xfrm>
          <a:prstGeom prst="rect">
            <a:avLst/>
          </a:prstGeom>
        </p:spPr>
      </p:pic>
      <p:pic>
        <p:nvPicPr>
          <p:cNvPr id="6" name="Picture 5"/>
          <p:cNvPicPr>
            <a:picLocks noChangeAspect="1"/>
          </p:cNvPicPr>
          <p:nvPr/>
        </p:nvPicPr>
        <p:blipFill>
          <a:blip r:embed="rId3"/>
          <a:stretch>
            <a:fillRect/>
          </a:stretch>
        </p:blipFill>
        <p:spPr>
          <a:xfrm>
            <a:off x="3643953" y="2014705"/>
            <a:ext cx="2088107" cy="4016944"/>
          </a:xfrm>
          <a:prstGeom prst="rect">
            <a:avLst/>
          </a:prstGeom>
        </p:spPr>
      </p:pic>
      <p:pic>
        <p:nvPicPr>
          <p:cNvPr id="7" name="Picture 6"/>
          <p:cNvPicPr>
            <a:picLocks noChangeAspect="1"/>
          </p:cNvPicPr>
          <p:nvPr/>
        </p:nvPicPr>
        <p:blipFill>
          <a:blip r:embed="rId4"/>
          <a:stretch>
            <a:fillRect/>
          </a:stretch>
        </p:blipFill>
        <p:spPr>
          <a:xfrm>
            <a:off x="5908154" y="1869743"/>
            <a:ext cx="6152267" cy="2620369"/>
          </a:xfrm>
          <a:prstGeom prst="rect">
            <a:avLst/>
          </a:prstGeom>
        </p:spPr>
      </p:pic>
      <p:pic>
        <p:nvPicPr>
          <p:cNvPr id="8" name="Picture 7"/>
          <p:cNvPicPr>
            <a:picLocks noChangeAspect="1"/>
          </p:cNvPicPr>
          <p:nvPr/>
        </p:nvPicPr>
        <p:blipFill>
          <a:blip r:embed="rId5"/>
          <a:stretch>
            <a:fillRect/>
          </a:stretch>
        </p:blipFill>
        <p:spPr>
          <a:xfrm>
            <a:off x="1692323" y="6256891"/>
            <a:ext cx="2347416" cy="601109"/>
          </a:xfrm>
          <a:prstGeom prst="rect">
            <a:avLst/>
          </a:prstGeom>
        </p:spPr>
      </p:pic>
      <p:pic>
        <p:nvPicPr>
          <p:cNvPr id="9" name="Picture 8"/>
          <p:cNvPicPr>
            <a:picLocks noChangeAspect="1"/>
          </p:cNvPicPr>
          <p:nvPr/>
        </p:nvPicPr>
        <p:blipFill>
          <a:blip r:embed="rId6"/>
          <a:stretch>
            <a:fillRect/>
          </a:stretch>
        </p:blipFill>
        <p:spPr>
          <a:xfrm>
            <a:off x="8984287" y="4214661"/>
            <a:ext cx="1449815" cy="550902"/>
          </a:xfrm>
          <a:prstGeom prst="rect">
            <a:avLst/>
          </a:prstGeom>
        </p:spPr>
      </p:pic>
    </p:spTree>
    <p:extLst>
      <p:ext uri="{BB962C8B-B14F-4D97-AF65-F5344CB8AC3E}">
        <p14:creationId xmlns:p14="http://schemas.microsoft.com/office/powerpoint/2010/main" val="3300276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5994" y="222112"/>
            <a:ext cx="9890078" cy="1077218"/>
          </a:xfrm>
          <a:prstGeom prst="rect">
            <a:avLst/>
          </a:prstGeom>
        </p:spPr>
        <p:txBody>
          <a:bodyPr wrap="square">
            <a:spAutoFit/>
          </a:bodyPr>
          <a:lstStyle/>
          <a:p>
            <a:pPr algn="just"/>
            <a:r>
              <a:rPr lang="en-US" sz="3200" dirty="0">
                <a:latin typeface="Times-Roman"/>
              </a:rPr>
              <a:t>Example 4: Implement a three-input XOR gate using 4-to-1 multiplexer. </a:t>
            </a:r>
            <a:endParaRPr lang="en-US" sz="3200" dirty="0"/>
          </a:p>
        </p:txBody>
      </p:sp>
      <p:pic>
        <p:nvPicPr>
          <p:cNvPr id="5" name="Picture 4"/>
          <p:cNvPicPr>
            <a:picLocks noChangeAspect="1"/>
          </p:cNvPicPr>
          <p:nvPr/>
        </p:nvPicPr>
        <p:blipFill>
          <a:blip r:embed="rId2"/>
          <a:stretch>
            <a:fillRect/>
          </a:stretch>
        </p:blipFill>
        <p:spPr>
          <a:xfrm>
            <a:off x="1028132" y="1299330"/>
            <a:ext cx="2725003" cy="5310214"/>
          </a:xfrm>
          <a:prstGeom prst="rect">
            <a:avLst/>
          </a:prstGeom>
        </p:spPr>
      </p:pic>
      <p:pic>
        <p:nvPicPr>
          <p:cNvPr id="8" name="Picture 7"/>
          <p:cNvPicPr>
            <a:picLocks noChangeAspect="1"/>
          </p:cNvPicPr>
          <p:nvPr/>
        </p:nvPicPr>
        <p:blipFill>
          <a:blip r:embed="rId3"/>
          <a:stretch>
            <a:fillRect/>
          </a:stretch>
        </p:blipFill>
        <p:spPr>
          <a:xfrm>
            <a:off x="1692323" y="6256891"/>
            <a:ext cx="2347416" cy="601109"/>
          </a:xfrm>
          <a:prstGeom prst="rect">
            <a:avLst/>
          </a:prstGeom>
        </p:spPr>
      </p:pic>
      <p:pic>
        <p:nvPicPr>
          <p:cNvPr id="9" name="Picture 8"/>
          <p:cNvPicPr>
            <a:picLocks noChangeAspect="1"/>
          </p:cNvPicPr>
          <p:nvPr/>
        </p:nvPicPr>
        <p:blipFill>
          <a:blip r:embed="rId4"/>
          <a:stretch>
            <a:fillRect/>
          </a:stretch>
        </p:blipFill>
        <p:spPr>
          <a:xfrm>
            <a:off x="8342844" y="5019879"/>
            <a:ext cx="1449815" cy="550902"/>
          </a:xfrm>
          <a:prstGeom prst="rect">
            <a:avLst/>
          </a:prstGeom>
        </p:spPr>
      </p:pic>
      <p:pic>
        <p:nvPicPr>
          <p:cNvPr id="3" name="Picture 2"/>
          <p:cNvPicPr>
            <a:picLocks noChangeAspect="1"/>
          </p:cNvPicPr>
          <p:nvPr/>
        </p:nvPicPr>
        <p:blipFill>
          <a:blip r:embed="rId5"/>
          <a:stretch>
            <a:fillRect/>
          </a:stretch>
        </p:blipFill>
        <p:spPr>
          <a:xfrm>
            <a:off x="3602842" y="1991508"/>
            <a:ext cx="990363" cy="4265384"/>
          </a:xfrm>
          <a:prstGeom prst="rect">
            <a:avLst/>
          </a:prstGeom>
        </p:spPr>
      </p:pic>
      <p:pic>
        <p:nvPicPr>
          <p:cNvPr id="4" name="Picture 3"/>
          <p:cNvPicPr>
            <a:picLocks noChangeAspect="1"/>
          </p:cNvPicPr>
          <p:nvPr/>
        </p:nvPicPr>
        <p:blipFill>
          <a:blip r:embed="rId6"/>
          <a:stretch>
            <a:fillRect/>
          </a:stretch>
        </p:blipFill>
        <p:spPr>
          <a:xfrm>
            <a:off x="6666085" y="1593107"/>
            <a:ext cx="4866182" cy="3006189"/>
          </a:xfrm>
          <a:prstGeom prst="rect">
            <a:avLst/>
          </a:prstGeom>
        </p:spPr>
      </p:pic>
    </p:spTree>
    <p:extLst>
      <p:ext uri="{BB962C8B-B14F-4D97-AF65-F5344CB8AC3E}">
        <p14:creationId xmlns:p14="http://schemas.microsoft.com/office/powerpoint/2010/main" val="203893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692323" y="6256891"/>
            <a:ext cx="2347416" cy="601109"/>
          </a:xfrm>
          <a:prstGeom prst="rect">
            <a:avLst/>
          </a:prstGeom>
        </p:spPr>
      </p:pic>
      <p:pic>
        <p:nvPicPr>
          <p:cNvPr id="9" name="Picture 8"/>
          <p:cNvPicPr>
            <a:picLocks noChangeAspect="1"/>
          </p:cNvPicPr>
          <p:nvPr/>
        </p:nvPicPr>
        <p:blipFill>
          <a:blip r:embed="rId3"/>
          <a:stretch>
            <a:fillRect/>
          </a:stretch>
        </p:blipFill>
        <p:spPr>
          <a:xfrm>
            <a:off x="8342844" y="5019879"/>
            <a:ext cx="1449815" cy="550902"/>
          </a:xfrm>
          <a:prstGeom prst="rect">
            <a:avLst/>
          </a:prstGeom>
        </p:spPr>
      </p:pic>
      <p:pic>
        <p:nvPicPr>
          <p:cNvPr id="10" name="Picture 9"/>
          <p:cNvPicPr>
            <a:picLocks noChangeAspect="1"/>
          </p:cNvPicPr>
          <p:nvPr/>
        </p:nvPicPr>
        <p:blipFill rotWithShape="1">
          <a:blip r:embed="rId4"/>
          <a:srcRect r="62863" b="15771"/>
          <a:stretch/>
        </p:blipFill>
        <p:spPr>
          <a:xfrm>
            <a:off x="290919" y="1366287"/>
            <a:ext cx="2442951" cy="4890604"/>
          </a:xfrm>
          <a:prstGeom prst="rect">
            <a:avLst/>
          </a:prstGeom>
        </p:spPr>
      </p:pic>
      <p:sp>
        <p:nvSpPr>
          <p:cNvPr id="12" name="TextBox 11"/>
          <p:cNvSpPr txBox="1"/>
          <p:nvPr/>
        </p:nvSpPr>
        <p:spPr>
          <a:xfrm>
            <a:off x="491318" y="263645"/>
            <a:ext cx="9689912" cy="523220"/>
          </a:xfrm>
          <a:prstGeom prst="rect">
            <a:avLst/>
          </a:prstGeom>
          <a:noFill/>
        </p:spPr>
        <p:txBody>
          <a:bodyPr wrap="square" rtlCol="0">
            <a:spAutoFit/>
          </a:bodyPr>
          <a:lstStyle/>
          <a:p>
            <a:r>
              <a:rPr lang="en-US" sz="2800" dirty="0"/>
              <a:t>Example 5 : Three input majority function using 2 to 1 multiplexer</a:t>
            </a:r>
          </a:p>
        </p:txBody>
      </p:sp>
      <p:pic>
        <p:nvPicPr>
          <p:cNvPr id="6" name="Picture 5"/>
          <p:cNvPicPr>
            <a:picLocks noChangeAspect="1"/>
          </p:cNvPicPr>
          <p:nvPr/>
        </p:nvPicPr>
        <p:blipFill>
          <a:blip r:embed="rId5"/>
          <a:stretch>
            <a:fillRect/>
          </a:stretch>
        </p:blipFill>
        <p:spPr>
          <a:xfrm>
            <a:off x="2733870" y="2028611"/>
            <a:ext cx="1549880" cy="3858479"/>
          </a:xfrm>
          <a:prstGeom prst="rect">
            <a:avLst/>
          </a:prstGeom>
        </p:spPr>
      </p:pic>
      <p:pic>
        <p:nvPicPr>
          <p:cNvPr id="7" name="Picture 6"/>
          <p:cNvPicPr>
            <a:picLocks noChangeAspect="1"/>
          </p:cNvPicPr>
          <p:nvPr/>
        </p:nvPicPr>
        <p:blipFill>
          <a:blip r:embed="rId6"/>
          <a:stretch>
            <a:fillRect/>
          </a:stretch>
        </p:blipFill>
        <p:spPr>
          <a:xfrm>
            <a:off x="5336274" y="2187506"/>
            <a:ext cx="2148032" cy="1624083"/>
          </a:xfrm>
          <a:prstGeom prst="rect">
            <a:avLst/>
          </a:prstGeom>
        </p:spPr>
      </p:pic>
      <p:sp>
        <p:nvSpPr>
          <p:cNvPr id="13" name="TextBox 12"/>
          <p:cNvSpPr txBox="1"/>
          <p:nvPr/>
        </p:nvSpPr>
        <p:spPr>
          <a:xfrm>
            <a:off x="4283750" y="2690178"/>
            <a:ext cx="1514902" cy="954107"/>
          </a:xfrm>
          <a:prstGeom prst="rect">
            <a:avLst/>
          </a:prstGeom>
          <a:noFill/>
        </p:spPr>
        <p:txBody>
          <a:bodyPr wrap="square" rtlCol="0">
            <a:spAutoFit/>
          </a:bodyPr>
          <a:lstStyle/>
          <a:p>
            <a:r>
              <a:rPr lang="en-US" sz="2800" dirty="0"/>
              <a:t>w</a:t>
            </a:r>
            <a:r>
              <a:rPr lang="en-US" sz="2800" baseline="-25000" dirty="0"/>
              <a:t>2</a:t>
            </a:r>
            <a:r>
              <a:rPr lang="en-US" sz="2800" dirty="0"/>
              <a:t>w</a:t>
            </a:r>
            <a:r>
              <a:rPr lang="en-US" sz="2800" baseline="-25000" dirty="0"/>
              <a:t>3</a:t>
            </a:r>
          </a:p>
          <a:p>
            <a:r>
              <a:rPr lang="en-US" sz="2800" dirty="0"/>
              <a:t>w</a:t>
            </a:r>
            <a:r>
              <a:rPr lang="en-US" sz="2800" baseline="-25000" dirty="0"/>
              <a:t>2</a:t>
            </a:r>
            <a:r>
              <a:rPr lang="en-US" sz="2800" dirty="0"/>
              <a:t>+w</a:t>
            </a:r>
            <a:r>
              <a:rPr lang="en-US" sz="2800" baseline="-25000" dirty="0"/>
              <a:t>3</a:t>
            </a:r>
          </a:p>
        </p:txBody>
      </p:sp>
      <p:pic>
        <p:nvPicPr>
          <p:cNvPr id="14" name="Picture 13"/>
          <p:cNvPicPr>
            <a:picLocks noChangeAspect="1"/>
          </p:cNvPicPr>
          <p:nvPr/>
        </p:nvPicPr>
        <p:blipFill>
          <a:blip r:embed="rId7"/>
          <a:stretch>
            <a:fillRect/>
          </a:stretch>
        </p:blipFill>
        <p:spPr>
          <a:xfrm>
            <a:off x="7442920" y="1780858"/>
            <a:ext cx="4699478" cy="2176992"/>
          </a:xfrm>
          <a:prstGeom prst="rect">
            <a:avLst/>
          </a:prstGeom>
        </p:spPr>
      </p:pic>
    </p:spTree>
    <p:extLst>
      <p:ext uri="{BB962C8B-B14F-4D97-AF65-F5344CB8AC3E}">
        <p14:creationId xmlns:p14="http://schemas.microsoft.com/office/powerpoint/2010/main" val="112342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053" y="150754"/>
            <a:ext cx="11352805" cy="584775"/>
          </a:xfrm>
          <a:prstGeom prst="rect">
            <a:avLst/>
          </a:prstGeom>
        </p:spPr>
        <p:txBody>
          <a:bodyPr wrap="square">
            <a:spAutoFit/>
          </a:bodyPr>
          <a:lstStyle/>
          <a:p>
            <a:r>
              <a:rPr lang="en-US" sz="3200" b="1" dirty="0">
                <a:latin typeface="Times-BoldSC"/>
              </a:rPr>
              <a:t>Decoders</a:t>
            </a:r>
            <a:endParaRPr lang="en-US" sz="3200" dirty="0"/>
          </a:p>
        </p:txBody>
      </p:sp>
      <p:sp>
        <p:nvSpPr>
          <p:cNvPr id="6" name="Rectangle 5"/>
          <p:cNvSpPr/>
          <p:nvPr/>
        </p:nvSpPr>
        <p:spPr>
          <a:xfrm>
            <a:off x="292053" y="1023867"/>
            <a:ext cx="11526908" cy="2554545"/>
          </a:xfrm>
          <a:prstGeom prst="rect">
            <a:avLst/>
          </a:prstGeom>
        </p:spPr>
        <p:txBody>
          <a:bodyPr wrap="square">
            <a:spAutoFit/>
          </a:bodyPr>
          <a:lstStyle/>
          <a:p>
            <a:pPr marL="342900" indent="-342900">
              <a:buFont typeface="Arial" panose="020B0604020202020204" pitchFamily="34" charset="0"/>
              <a:buChar char="•"/>
            </a:pPr>
            <a:r>
              <a:rPr lang="en-US" sz="2400" dirty="0">
                <a:latin typeface="Times-BoldSC"/>
              </a:rPr>
              <a:t>A binary decoder is a logic circuit with </a:t>
            </a:r>
            <a:r>
              <a:rPr lang="en-US" sz="2400" i="1" dirty="0">
                <a:latin typeface="Times-BoldSC"/>
              </a:rPr>
              <a:t>n</a:t>
            </a:r>
            <a:r>
              <a:rPr lang="en-US" sz="2400" dirty="0">
                <a:latin typeface="Times-BoldSC"/>
              </a:rPr>
              <a:t> inputs and 2</a:t>
            </a:r>
            <a:r>
              <a:rPr lang="en-US" sz="2400" i="1" baseline="30000" dirty="0">
                <a:latin typeface="Times-BoldSC"/>
              </a:rPr>
              <a:t>n</a:t>
            </a:r>
            <a:r>
              <a:rPr lang="en-US" sz="2400" dirty="0">
                <a:latin typeface="Times-BoldSC"/>
              </a:rPr>
              <a:t> outputs. </a:t>
            </a:r>
          </a:p>
          <a:p>
            <a:pPr marL="342900" indent="-342900">
              <a:buFont typeface="Arial" panose="020B0604020202020204" pitchFamily="34" charset="0"/>
              <a:buChar char="•"/>
            </a:pPr>
            <a:r>
              <a:rPr lang="en-US" sz="2400" dirty="0">
                <a:latin typeface="Times-BoldSC"/>
              </a:rPr>
              <a:t>Only one output is asserted at a time, and each output corresponds to one valuation of the inputs. </a:t>
            </a:r>
          </a:p>
          <a:p>
            <a:pPr marL="342900" indent="-342900">
              <a:buFont typeface="Arial" panose="020B0604020202020204" pitchFamily="34" charset="0"/>
              <a:buChar char="•"/>
            </a:pPr>
            <a:r>
              <a:rPr lang="en-US" sz="2400" dirty="0">
                <a:latin typeface="Times-BoldSC"/>
              </a:rPr>
              <a:t>The decoder also has an enable input </a:t>
            </a:r>
            <a:r>
              <a:rPr lang="en-US" sz="2400" i="1" dirty="0" err="1">
                <a:latin typeface="Times-BoldSC"/>
              </a:rPr>
              <a:t>En</a:t>
            </a:r>
            <a:endParaRPr lang="en-US" sz="2400" dirty="0">
              <a:latin typeface="Times-BoldSC"/>
            </a:endParaRPr>
          </a:p>
          <a:p>
            <a:pPr marL="342900" indent="-342900">
              <a:buFont typeface="Arial" panose="020B0604020202020204" pitchFamily="34" charset="0"/>
              <a:buChar char="•"/>
            </a:pPr>
            <a:r>
              <a:rPr lang="en-US" sz="2400" dirty="0">
                <a:latin typeface="Times-BoldSC"/>
              </a:rPr>
              <a:t>If </a:t>
            </a:r>
            <a:r>
              <a:rPr lang="en-US" sz="2400" i="1" dirty="0" err="1">
                <a:latin typeface="Times-BoldSC"/>
              </a:rPr>
              <a:t>En</a:t>
            </a:r>
            <a:r>
              <a:rPr lang="en-US" sz="2400" dirty="0">
                <a:latin typeface="Times-BoldSC"/>
              </a:rPr>
              <a:t>=1, the valuation of w</a:t>
            </a:r>
            <a:r>
              <a:rPr lang="en-US" sz="2400" baseline="-25000" dirty="0">
                <a:latin typeface="Times-BoldSC"/>
              </a:rPr>
              <a:t>n-1</a:t>
            </a:r>
            <a:r>
              <a:rPr lang="en-US" sz="2400" dirty="0">
                <a:latin typeface="Times-BoldSC"/>
              </a:rPr>
              <a:t>…w</a:t>
            </a:r>
            <a:r>
              <a:rPr lang="en-US" sz="2400" baseline="-25000" dirty="0">
                <a:latin typeface="Times-BoldSC"/>
              </a:rPr>
              <a:t>1</a:t>
            </a:r>
            <a:r>
              <a:rPr lang="en-US" sz="2400" dirty="0">
                <a:latin typeface="Times-BoldSC"/>
              </a:rPr>
              <a:t>w</a:t>
            </a:r>
            <a:r>
              <a:rPr lang="en-US" sz="2400" baseline="-25000" dirty="0">
                <a:latin typeface="Times-BoldSC"/>
              </a:rPr>
              <a:t>0</a:t>
            </a:r>
            <a:r>
              <a:rPr lang="en-US" sz="2400" dirty="0">
                <a:latin typeface="Times-BoldSC"/>
              </a:rPr>
              <a:t> determines which of the outputs is asserted.</a:t>
            </a:r>
          </a:p>
          <a:p>
            <a:pPr marL="342900" indent="-342900">
              <a:buFont typeface="Arial" panose="020B0604020202020204" pitchFamily="34" charset="0"/>
              <a:buChar char="•"/>
            </a:pPr>
            <a:r>
              <a:rPr lang="en-US" sz="2400" dirty="0">
                <a:latin typeface="Times-BoldSC"/>
              </a:rPr>
              <a:t>If </a:t>
            </a:r>
            <a:r>
              <a:rPr lang="en-US" sz="2400" i="1" dirty="0" err="1">
                <a:latin typeface="Times-BoldSC"/>
              </a:rPr>
              <a:t>En</a:t>
            </a:r>
            <a:r>
              <a:rPr lang="en-US" sz="2400" dirty="0">
                <a:latin typeface="Times-BoldSC"/>
              </a:rPr>
              <a:t>=0, then none of the decoder outputs is asserted.</a:t>
            </a:r>
          </a:p>
          <a:p>
            <a:pPr marL="342900" indent="-342900">
              <a:buFont typeface="Arial" panose="020B0604020202020204" pitchFamily="34" charset="0"/>
              <a:buChar char="•"/>
            </a:pPr>
            <a:endParaRPr lang="en-US" sz="2400" i="1" baseline="-25000" dirty="0">
              <a:latin typeface="Times-BoldSC"/>
            </a:endParaRPr>
          </a:p>
        </p:txBody>
      </p:sp>
      <p:pic>
        <p:nvPicPr>
          <p:cNvPr id="9" name="Picture 8"/>
          <p:cNvPicPr>
            <a:picLocks noChangeAspect="1"/>
          </p:cNvPicPr>
          <p:nvPr/>
        </p:nvPicPr>
        <p:blipFill>
          <a:blip r:embed="rId2"/>
          <a:stretch>
            <a:fillRect/>
          </a:stretch>
        </p:blipFill>
        <p:spPr>
          <a:xfrm>
            <a:off x="373818" y="4262990"/>
            <a:ext cx="11189274" cy="1026274"/>
          </a:xfrm>
          <a:prstGeom prst="rect">
            <a:avLst/>
          </a:prstGeom>
        </p:spPr>
      </p:pic>
    </p:spTree>
    <p:extLst>
      <p:ext uri="{BB962C8B-B14F-4D97-AF65-F5344CB8AC3E}">
        <p14:creationId xmlns:p14="http://schemas.microsoft.com/office/powerpoint/2010/main" val="399870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053" y="150754"/>
            <a:ext cx="11352805" cy="584775"/>
          </a:xfrm>
          <a:prstGeom prst="rect">
            <a:avLst/>
          </a:prstGeom>
        </p:spPr>
        <p:txBody>
          <a:bodyPr wrap="square">
            <a:spAutoFit/>
          </a:bodyPr>
          <a:lstStyle/>
          <a:p>
            <a:r>
              <a:rPr lang="en-US" sz="3200" b="1" dirty="0">
                <a:latin typeface="Times-BoldSC"/>
              </a:rPr>
              <a:t>2-to-4 Decoders</a:t>
            </a:r>
            <a:endParaRPr lang="en-US" sz="3200" dirty="0"/>
          </a:p>
        </p:txBody>
      </p:sp>
      <p:pic>
        <p:nvPicPr>
          <p:cNvPr id="3" name="Picture 2"/>
          <p:cNvPicPr>
            <a:picLocks noChangeAspect="1"/>
          </p:cNvPicPr>
          <p:nvPr/>
        </p:nvPicPr>
        <p:blipFill>
          <a:blip r:embed="rId2"/>
          <a:stretch>
            <a:fillRect/>
          </a:stretch>
        </p:blipFill>
        <p:spPr>
          <a:xfrm>
            <a:off x="2033515" y="1615828"/>
            <a:ext cx="8625385" cy="3849689"/>
          </a:xfrm>
          <a:prstGeom prst="rect">
            <a:avLst/>
          </a:prstGeom>
        </p:spPr>
      </p:pic>
    </p:spTree>
    <p:extLst>
      <p:ext uri="{BB962C8B-B14F-4D97-AF65-F5344CB8AC3E}">
        <p14:creationId xmlns:p14="http://schemas.microsoft.com/office/powerpoint/2010/main" val="1964613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053" y="150754"/>
            <a:ext cx="11352805" cy="584775"/>
          </a:xfrm>
          <a:prstGeom prst="rect">
            <a:avLst/>
          </a:prstGeom>
        </p:spPr>
        <p:txBody>
          <a:bodyPr wrap="square">
            <a:spAutoFit/>
          </a:bodyPr>
          <a:lstStyle/>
          <a:p>
            <a:r>
              <a:rPr lang="en-US" sz="3200" b="1" dirty="0">
                <a:latin typeface="Times-BoldSC"/>
              </a:rPr>
              <a:t>2-to-4 Decoders</a:t>
            </a:r>
            <a:endParaRPr lang="en-US" sz="3200" dirty="0"/>
          </a:p>
        </p:txBody>
      </p:sp>
      <p:pic>
        <p:nvPicPr>
          <p:cNvPr id="4" name="Picture 3"/>
          <p:cNvPicPr>
            <a:picLocks noChangeAspect="1"/>
          </p:cNvPicPr>
          <p:nvPr/>
        </p:nvPicPr>
        <p:blipFill>
          <a:blip r:embed="rId2"/>
          <a:stretch>
            <a:fillRect/>
          </a:stretch>
        </p:blipFill>
        <p:spPr>
          <a:xfrm>
            <a:off x="2866030" y="735529"/>
            <a:ext cx="5322627" cy="5437410"/>
          </a:xfrm>
          <a:prstGeom prst="rect">
            <a:avLst/>
          </a:prstGeom>
        </p:spPr>
      </p:pic>
    </p:spTree>
    <p:extLst>
      <p:ext uri="{BB962C8B-B14F-4D97-AF65-F5344CB8AC3E}">
        <p14:creationId xmlns:p14="http://schemas.microsoft.com/office/powerpoint/2010/main" val="208388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053" y="150754"/>
            <a:ext cx="11352805" cy="584775"/>
          </a:xfrm>
          <a:prstGeom prst="rect">
            <a:avLst/>
          </a:prstGeom>
        </p:spPr>
        <p:txBody>
          <a:bodyPr wrap="square">
            <a:spAutoFit/>
          </a:bodyPr>
          <a:lstStyle/>
          <a:p>
            <a:r>
              <a:rPr lang="en-US" sz="3200" b="1" dirty="0">
                <a:latin typeface="Times-BoldSC"/>
              </a:rPr>
              <a:t>Decoders</a:t>
            </a:r>
            <a:endParaRPr lang="en-US" sz="3200" dirty="0"/>
          </a:p>
        </p:txBody>
      </p:sp>
      <p:pic>
        <p:nvPicPr>
          <p:cNvPr id="3" name="Picture 2"/>
          <p:cNvPicPr>
            <a:picLocks noChangeAspect="1"/>
          </p:cNvPicPr>
          <p:nvPr/>
        </p:nvPicPr>
        <p:blipFill>
          <a:blip r:embed="rId2"/>
          <a:stretch>
            <a:fillRect/>
          </a:stretch>
        </p:blipFill>
        <p:spPr>
          <a:xfrm>
            <a:off x="3102362" y="1528549"/>
            <a:ext cx="6137172" cy="3896059"/>
          </a:xfrm>
          <a:prstGeom prst="rect">
            <a:avLst/>
          </a:prstGeom>
        </p:spPr>
      </p:pic>
    </p:spTree>
    <p:extLst>
      <p:ext uri="{BB962C8B-B14F-4D97-AF65-F5344CB8AC3E}">
        <p14:creationId xmlns:p14="http://schemas.microsoft.com/office/powerpoint/2010/main" val="3695166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001" y="-20024"/>
            <a:ext cx="11352805" cy="584775"/>
          </a:xfrm>
          <a:prstGeom prst="rect">
            <a:avLst/>
          </a:prstGeom>
        </p:spPr>
        <p:txBody>
          <a:bodyPr wrap="square">
            <a:spAutoFit/>
          </a:bodyPr>
          <a:lstStyle/>
          <a:p>
            <a:r>
              <a:rPr lang="en-US" sz="3200" b="1" dirty="0">
                <a:latin typeface="Times-BoldSC"/>
              </a:rPr>
              <a:t>Decoders</a:t>
            </a:r>
            <a:endParaRPr lang="en-US" sz="3200" dirty="0"/>
          </a:p>
        </p:txBody>
      </p:sp>
      <p:sp>
        <p:nvSpPr>
          <p:cNvPr id="5" name="Rectangle 4"/>
          <p:cNvSpPr/>
          <p:nvPr/>
        </p:nvSpPr>
        <p:spPr>
          <a:xfrm>
            <a:off x="205001" y="477314"/>
            <a:ext cx="11526908" cy="830997"/>
          </a:xfrm>
          <a:prstGeom prst="rect">
            <a:avLst/>
          </a:prstGeom>
        </p:spPr>
        <p:txBody>
          <a:bodyPr wrap="square">
            <a:spAutoFit/>
          </a:bodyPr>
          <a:lstStyle/>
          <a:p>
            <a:r>
              <a:rPr lang="en-US" sz="2400" i="1" dirty="0">
                <a:latin typeface="Times-BoldSC"/>
              </a:rPr>
              <a:t>Larger decoders can be built using the sum-of-products structure or else they can be constructed from smaller decoders. </a:t>
            </a:r>
            <a:endParaRPr lang="en-US" sz="2400" i="1" baseline="-25000" dirty="0">
              <a:latin typeface="Times-BoldSC"/>
            </a:endParaRPr>
          </a:p>
        </p:txBody>
      </p:sp>
      <p:pic>
        <p:nvPicPr>
          <p:cNvPr id="6" name="Picture 5"/>
          <p:cNvPicPr>
            <a:picLocks noChangeAspect="1"/>
          </p:cNvPicPr>
          <p:nvPr/>
        </p:nvPicPr>
        <p:blipFill>
          <a:blip r:embed="rId2"/>
          <a:stretch>
            <a:fillRect/>
          </a:stretch>
        </p:blipFill>
        <p:spPr>
          <a:xfrm>
            <a:off x="3070682" y="1308311"/>
            <a:ext cx="7080621" cy="4440750"/>
          </a:xfrm>
          <a:prstGeom prst="rect">
            <a:avLst/>
          </a:prstGeom>
        </p:spPr>
      </p:pic>
      <p:pic>
        <p:nvPicPr>
          <p:cNvPr id="7" name="Picture 6"/>
          <p:cNvPicPr>
            <a:picLocks noChangeAspect="1"/>
          </p:cNvPicPr>
          <p:nvPr/>
        </p:nvPicPr>
        <p:blipFill>
          <a:blip r:embed="rId3"/>
          <a:stretch>
            <a:fillRect/>
          </a:stretch>
        </p:blipFill>
        <p:spPr>
          <a:xfrm>
            <a:off x="2866031" y="5842919"/>
            <a:ext cx="7069540" cy="684439"/>
          </a:xfrm>
          <a:prstGeom prst="rect">
            <a:avLst/>
          </a:prstGeom>
        </p:spPr>
      </p:pic>
      <p:sp>
        <p:nvSpPr>
          <p:cNvPr id="8" name="Rectangle 7"/>
          <p:cNvSpPr/>
          <p:nvPr/>
        </p:nvSpPr>
        <p:spPr>
          <a:xfrm>
            <a:off x="117949" y="6390383"/>
            <a:ext cx="11526908" cy="461665"/>
          </a:xfrm>
          <a:prstGeom prst="rect">
            <a:avLst/>
          </a:prstGeom>
        </p:spPr>
        <p:txBody>
          <a:bodyPr wrap="square">
            <a:spAutoFit/>
          </a:bodyPr>
          <a:lstStyle/>
          <a:p>
            <a:r>
              <a:rPr lang="en-US" sz="2400" i="1" dirty="0">
                <a:latin typeface="Times-BoldSC"/>
              </a:rPr>
              <a:t>The w2 input drives the enable input of the two decoders.</a:t>
            </a:r>
            <a:endParaRPr lang="en-US" sz="2400" i="1" baseline="-25000" dirty="0">
              <a:latin typeface="Times-BoldSC"/>
            </a:endParaRPr>
          </a:p>
        </p:txBody>
      </p:sp>
    </p:spTree>
    <p:extLst>
      <p:ext uri="{BB962C8B-B14F-4D97-AF65-F5344CB8AC3E}">
        <p14:creationId xmlns:p14="http://schemas.microsoft.com/office/powerpoint/2010/main" val="2130436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001" y="-20024"/>
            <a:ext cx="11352805" cy="584775"/>
          </a:xfrm>
          <a:prstGeom prst="rect">
            <a:avLst/>
          </a:prstGeom>
        </p:spPr>
        <p:txBody>
          <a:bodyPr wrap="square">
            <a:spAutoFit/>
          </a:bodyPr>
          <a:lstStyle/>
          <a:p>
            <a:r>
              <a:rPr lang="en-US" sz="3200" b="1" dirty="0">
                <a:latin typeface="Times-BoldSC"/>
              </a:rPr>
              <a:t>4-to-16 Decoder</a:t>
            </a:r>
            <a:endParaRPr lang="en-US" sz="3200" dirty="0"/>
          </a:p>
        </p:txBody>
      </p:sp>
      <p:pic>
        <p:nvPicPr>
          <p:cNvPr id="3" name="Picture 2"/>
          <p:cNvPicPr>
            <a:picLocks noChangeAspect="1"/>
          </p:cNvPicPr>
          <p:nvPr/>
        </p:nvPicPr>
        <p:blipFill>
          <a:blip r:embed="rId2"/>
          <a:stretch>
            <a:fillRect/>
          </a:stretch>
        </p:blipFill>
        <p:spPr>
          <a:xfrm>
            <a:off x="5991368" y="272363"/>
            <a:ext cx="5411007" cy="6332561"/>
          </a:xfrm>
          <a:prstGeom prst="rect">
            <a:avLst/>
          </a:prstGeom>
        </p:spPr>
      </p:pic>
      <p:sp>
        <p:nvSpPr>
          <p:cNvPr id="9" name="Rectangle 8"/>
          <p:cNvSpPr/>
          <p:nvPr/>
        </p:nvSpPr>
        <p:spPr>
          <a:xfrm>
            <a:off x="117950" y="1176938"/>
            <a:ext cx="5423041" cy="830997"/>
          </a:xfrm>
          <a:prstGeom prst="rect">
            <a:avLst/>
          </a:prstGeom>
        </p:spPr>
        <p:txBody>
          <a:bodyPr wrap="square">
            <a:spAutoFit/>
          </a:bodyPr>
          <a:lstStyle/>
          <a:p>
            <a:r>
              <a:rPr lang="en-US" sz="2400" i="1" dirty="0">
                <a:latin typeface="Times-BoldSC"/>
              </a:rPr>
              <a:t>This type of circuit is referred to as a decoder tree.</a:t>
            </a:r>
            <a:endParaRPr lang="en-US" sz="2400" i="1" baseline="-25000" dirty="0">
              <a:latin typeface="Times-BoldSC"/>
            </a:endParaRPr>
          </a:p>
        </p:txBody>
      </p:sp>
    </p:spTree>
    <p:extLst>
      <p:ext uri="{BB962C8B-B14F-4D97-AF65-F5344CB8AC3E}">
        <p14:creationId xmlns:p14="http://schemas.microsoft.com/office/powerpoint/2010/main" val="208514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001" y="-20024"/>
            <a:ext cx="7369506" cy="584775"/>
          </a:xfrm>
          <a:prstGeom prst="rect">
            <a:avLst/>
          </a:prstGeom>
        </p:spPr>
        <p:txBody>
          <a:bodyPr wrap="square">
            <a:spAutoFit/>
          </a:bodyPr>
          <a:lstStyle/>
          <a:p>
            <a:r>
              <a:rPr lang="en-US" sz="3200" b="1" dirty="0">
                <a:latin typeface="Times-BoldSC"/>
              </a:rPr>
              <a:t>4-to-1 Multiplexer using Decoder</a:t>
            </a:r>
            <a:endParaRPr lang="en-US" sz="3200" dirty="0"/>
          </a:p>
        </p:txBody>
      </p:sp>
      <p:pic>
        <p:nvPicPr>
          <p:cNvPr id="4" name="Picture 3"/>
          <p:cNvPicPr>
            <a:picLocks noChangeAspect="1"/>
          </p:cNvPicPr>
          <p:nvPr/>
        </p:nvPicPr>
        <p:blipFill>
          <a:blip r:embed="rId2"/>
          <a:stretch>
            <a:fillRect/>
          </a:stretch>
        </p:blipFill>
        <p:spPr>
          <a:xfrm>
            <a:off x="5131559" y="1276429"/>
            <a:ext cx="6696552" cy="3928617"/>
          </a:xfrm>
          <a:prstGeom prst="rect">
            <a:avLst/>
          </a:prstGeom>
        </p:spPr>
      </p:pic>
      <p:pic>
        <p:nvPicPr>
          <p:cNvPr id="5" name="Picture 4"/>
          <p:cNvPicPr>
            <a:picLocks noChangeAspect="1"/>
          </p:cNvPicPr>
          <p:nvPr/>
        </p:nvPicPr>
        <p:blipFill>
          <a:blip r:embed="rId3"/>
          <a:stretch>
            <a:fillRect/>
          </a:stretch>
        </p:blipFill>
        <p:spPr>
          <a:xfrm>
            <a:off x="0" y="1276429"/>
            <a:ext cx="5459763" cy="3661331"/>
          </a:xfrm>
          <a:prstGeom prst="rect">
            <a:avLst/>
          </a:prstGeom>
        </p:spPr>
      </p:pic>
      <p:sp>
        <p:nvSpPr>
          <p:cNvPr id="7" name="Rectangle 6"/>
          <p:cNvSpPr/>
          <p:nvPr/>
        </p:nvSpPr>
        <p:spPr>
          <a:xfrm>
            <a:off x="1051163" y="5393883"/>
            <a:ext cx="2579142" cy="461665"/>
          </a:xfrm>
          <a:prstGeom prst="rect">
            <a:avLst/>
          </a:prstGeom>
        </p:spPr>
        <p:txBody>
          <a:bodyPr wrap="square">
            <a:spAutoFit/>
          </a:bodyPr>
          <a:lstStyle/>
          <a:p>
            <a:r>
              <a:rPr lang="en-US" sz="2400" i="1" dirty="0">
                <a:latin typeface="Times-BoldSC"/>
              </a:rPr>
              <a:t>4-to-1 Multiplexer</a:t>
            </a:r>
            <a:endParaRPr lang="en-US" sz="2400" i="1" baseline="-25000" dirty="0">
              <a:latin typeface="Times-BoldSC"/>
            </a:endParaRPr>
          </a:p>
        </p:txBody>
      </p:sp>
      <p:sp>
        <p:nvSpPr>
          <p:cNvPr id="8" name="Rectangle 7"/>
          <p:cNvSpPr/>
          <p:nvPr/>
        </p:nvSpPr>
        <p:spPr>
          <a:xfrm>
            <a:off x="6023827" y="5661904"/>
            <a:ext cx="5423041" cy="461665"/>
          </a:xfrm>
          <a:prstGeom prst="rect">
            <a:avLst/>
          </a:prstGeom>
        </p:spPr>
        <p:txBody>
          <a:bodyPr wrap="square">
            <a:spAutoFit/>
          </a:bodyPr>
          <a:lstStyle/>
          <a:p>
            <a:r>
              <a:rPr lang="en-US" sz="2400" i="1" dirty="0">
                <a:latin typeface="Times-BoldSC"/>
              </a:rPr>
              <a:t>4-to-1 Multiplexer using decoder</a:t>
            </a:r>
            <a:endParaRPr lang="en-US" sz="2400" i="1" baseline="-25000" dirty="0">
              <a:latin typeface="Times-BoldSC"/>
            </a:endParaRPr>
          </a:p>
        </p:txBody>
      </p:sp>
    </p:spTree>
    <p:extLst>
      <p:ext uri="{BB962C8B-B14F-4D97-AF65-F5344CB8AC3E}">
        <p14:creationId xmlns:p14="http://schemas.microsoft.com/office/powerpoint/2010/main" val="77370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053" y="150754"/>
            <a:ext cx="11352805" cy="584775"/>
          </a:xfrm>
          <a:prstGeom prst="rect">
            <a:avLst/>
          </a:prstGeom>
        </p:spPr>
        <p:txBody>
          <a:bodyPr wrap="square">
            <a:spAutoFit/>
          </a:bodyPr>
          <a:lstStyle/>
          <a:p>
            <a:r>
              <a:rPr lang="en-US" sz="3200" b="1" dirty="0">
                <a:latin typeface="Times-BoldSC"/>
              </a:rPr>
              <a:t>Encoders</a:t>
            </a:r>
            <a:endParaRPr lang="en-US" sz="3200" dirty="0"/>
          </a:p>
        </p:txBody>
      </p:sp>
      <p:pic>
        <p:nvPicPr>
          <p:cNvPr id="6" name="Picture 5"/>
          <p:cNvPicPr>
            <a:picLocks noChangeAspect="1"/>
          </p:cNvPicPr>
          <p:nvPr/>
        </p:nvPicPr>
        <p:blipFill>
          <a:blip r:embed="rId2"/>
          <a:stretch>
            <a:fillRect/>
          </a:stretch>
        </p:blipFill>
        <p:spPr>
          <a:xfrm>
            <a:off x="136493" y="900333"/>
            <a:ext cx="11903377" cy="717451"/>
          </a:xfrm>
          <a:prstGeom prst="rect">
            <a:avLst/>
          </a:prstGeom>
        </p:spPr>
      </p:pic>
      <p:sp>
        <p:nvSpPr>
          <p:cNvPr id="9" name="Rectangle 8"/>
          <p:cNvSpPr/>
          <p:nvPr/>
        </p:nvSpPr>
        <p:spPr>
          <a:xfrm>
            <a:off x="292052" y="1617785"/>
            <a:ext cx="11352805" cy="584775"/>
          </a:xfrm>
          <a:prstGeom prst="rect">
            <a:avLst/>
          </a:prstGeom>
        </p:spPr>
        <p:txBody>
          <a:bodyPr wrap="square">
            <a:spAutoFit/>
          </a:bodyPr>
          <a:lstStyle/>
          <a:p>
            <a:r>
              <a:rPr lang="en-US" sz="3200" b="1" dirty="0">
                <a:latin typeface="Times-BoldSC"/>
              </a:rPr>
              <a:t>Binary Encoders</a:t>
            </a:r>
            <a:endParaRPr lang="en-US" sz="3200" dirty="0"/>
          </a:p>
        </p:txBody>
      </p:sp>
      <p:pic>
        <p:nvPicPr>
          <p:cNvPr id="7" name="Picture 6"/>
          <p:cNvPicPr>
            <a:picLocks noChangeAspect="1"/>
          </p:cNvPicPr>
          <p:nvPr/>
        </p:nvPicPr>
        <p:blipFill>
          <a:blip r:embed="rId3"/>
          <a:stretch>
            <a:fillRect/>
          </a:stretch>
        </p:blipFill>
        <p:spPr>
          <a:xfrm>
            <a:off x="313436" y="2325020"/>
            <a:ext cx="11331421" cy="432248"/>
          </a:xfrm>
          <a:prstGeom prst="rect">
            <a:avLst/>
          </a:prstGeom>
        </p:spPr>
      </p:pic>
      <p:sp>
        <p:nvSpPr>
          <p:cNvPr id="11" name="Rectangle 10"/>
          <p:cNvSpPr/>
          <p:nvPr/>
        </p:nvSpPr>
        <p:spPr>
          <a:xfrm>
            <a:off x="136493" y="2879728"/>
            <a:ext cx="11778003" cy="954107"/>
          </a:xfrm>
          <a:prstGeom prst="rect">
            <a:avLst/>
          </a:prstGeom>
        </p:spPr>
        <p:txBody>
          <a:bodyPr wrap="square">
            <a:spAutoFit/>
          </a:bodyPr>
          <a:lstStyle/>
          <a:p>
            <a:r>
              <a:rPr lang="en-US" sz="2800" dirty="0">
                <a:latin typeface="Times-BoldSC"/>
              </a:rPr>
              <a:t>Exactly one of the input signals should have a value of 1, and the outputs present the binary number that identifies which input is equal to 1.</a:t>
            </a:r>
            <a:endParaRPr lang="en-US" sz="2800" dirty="0"/>
          </a:p>
        </p:txBody>
      </p:sp>
      <p:pic>
        <p:nvPicPr>
          <p:cNvPr id="12" name="Picture 11"/>
          <p:cNvPicPr>
            <a:picLocks noChangeAspect="1"/>
          </p:cNvPicPr>
          <p:nvPr/>
        </p:nvPicPr>
        <p:blipFill>
          <a:blip r:embed="rId4"/>
          <a:stretch>
            <a:fillRect/>
          </a:stretch>
        </p:blipFill>
        <p:spPr>
          <a:xfrm>
            <a:off x="1641456" y="3956295"/>
            <a:ext cx="6575582" cy="2294380"/>
          </a:xfrm>
          <a:prstGeom prst="rect">
            <a:avLst/>
          </a:prstGeom>
        </p:spPr>
      </p:pic>
      <p:pic>
        <p:nvPicPr>
          <p:cNvPr id="13" name="Picture 12"/>
          <p:cNvPicPr>
            <a:picLocks noChangeAspect="1"/>
          </p:cNvPicPr>
          <p:nvPr/>
        </p:nvPicPr>
        <p:blipFill>
          <a:blip r:embed="rId5"/>
          <a:stretch>
            <a:fillRect/>
          </a:stretch>
        </p:blipFill>
        <p:spPr>
          <a:xfrm>
            <a:off x="3163472" y="6368091"/>
            <a:ext cx="3764628" cy="489909"/>
          </a:xfrm>
          <a:prstGeom prst="rect">
            <a:avLst/>
          </a:prstGeom>
        </p:spPr>
      </p:pic>
    </p:spTree>
    <p:extLst>
      <p:ext uri="{BB962C8B-B14F-4D97-AF65-F5344CB8AC3E}">
        <p14:creationId xmlns:p14="http://schemas.microsoft.com/office/powerpoint/2010/main" val="346221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053" y="150754"/>
            <a:ext cx="11352805" cy="584775"/>
          </a:xfrm>
          <a:prstGeom prst="rect">
            <a:avLst/>
          </a:prstGeom>
        </p:spPr>
        <p:txBody>
          <a:bodyPr wrap="square">
            <a:spAutoFit/>
          </a:bodyPr>
          <a:lstStyle/>
          <a:p>
            <a:r>
              <a:rPr lang="en-US" sz="3200" b="1" dirty="0">
                <a:latin typeface="Times-BoldSC"/>
              </a:rPr>
              <a:t>4-to-2 Binary Encoders</a:t>
            </a:r>
            <a:endParaRPr lang="en-US" sz="3200" dirty="0"/>
          </a:p>
        </p:txBody>
      </p:sp>
      <p:pic>
        <p:nvPicPr>
          <p:cNvPr id="3" name="Picture 2"/>
          <p:cNvPicPr>
            <a:picLocks noChangeAspect="1"/>
          </p:cNvPicPr>
          <p:nvPr/>
        </p:nvPicPr>
        <p:blipFill>
          <a:blip r:embed="rId2"/>
          <a:stretch>
            <a:fillRect/>
          </a:stretch>
        </p:blipFill>
        <p:spPr>
          <a:xfrm>
            <a:off x="491321" y="1327801"/>
            <a:ext cx="4875876" cy="3776462"/>
          </a:xfrm>
          <a:prstGeom prst="rect">
            <a:avLst/>
          </a:prstGeom>
        </p:spPr>
      </p:pic>
      <p:pic>
        <p:nvPicPr>
          <p:cNvPr id="4" name="Picture 3"/>
          <p:cNvPicPr>
            <a:picLocks noChangeAspect="1"/>
          </p:cNvPicPr>
          <p:nvPr/>
        </p:nvPicPr>
        <p:blipFill>
          <a:blip r:embed="rId3"/>
          <a:stretch>
            <a:fillRect/>
          </a:stretch>
        </p:blipFill>
        <p:spPr>
          <a:xfrm>
            <a:off x="5772589" y="1327800"/>
            <a:ext cx="5227651" cy="3476211"/>
          </a:xfrm>
          <a:prstGeom prst="rect">
            <a:avLst/>
          </a:prstGeom>
        </p:spPr>
      </p:pic>
      <p:sp>
        <p:nvSpPr>
          <p:cNvPr id="14" name="Rectangle 13"/>
          <p:cNvSpPr/>
          <p:nvPr/>
        </p:nvSpPr>
        <p:spPr>
          <a:xfrm>
            <a:off x="491321" y="5219481"/>
            <a:ext cx="11778003" cy="1384995"/>
          </a:xfrm>
          <a:prstGeom prst="rect">
            <a:avLst/>
          </a:prstGeom>
        </p:spPr>
        <p:txBody>
          <a:bodyPr wrap="square">
            <a:spAutoFit/>
          </a:bodyPr>
          <a:lstStyle/>
          <a:p>
            <a:r>
              <a:rPr lang="en-US" sz="2800" dirty="0">
                <a:latin typeface="Times-BoldSC"/>
              </a:rPr>
              <a:t>The inputs are one-hot encoded. The input patterns that have multiple inputs set to 1 are treated as don’t care conditions.</a:t>
            </a:r>
          </a:p>
          <a:p>
            <a:r>
              <a:rPr lang="en-US" sz="2800" dirty="0">
                <a:latin typeface="Times-BoldSC"/>
              </a:rPr>
              <a:t>Encoders are used for transmitting information in a digital system.</a:t>
            </a:r>
            <a:endParaRPr lang="en-US" sz="2800" dirty="0"/>
          </a:p>
        </p:txBody>
      </p:sp>
    </p:spTree>
    <p:extLst>
      <p:ext uri="{BB962C8B-B14F-4D97-AF65-F5344CB8AC3E}">
        <p14:creationId xmlns:p14="http://schemas.microsoft.com/office/powerpoint/2010/main" val="2645285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053" y="150754"/>
            <a:ext cx="11352805" cy="584775"/>
          </a:xfrm>
          <a:prstGeom prst="rect">
            <a:avLst/>
          </a:prstGeom>
        </p:spPr>
        <p:txBody>
          <a:bodyPr wrap="square">
            <a:spAutoFit/>
          </a:bodyPr>
          <a:lstStyle/>
          <a:p>
            <a:r>
              <a:rPr lang="en-US" sz="3200" b="1" dirty="0">
                <a:latin typeface="Times-BoldSC"/>
              </a:rPr>
              <a:t>Priority Encoders</a:t>
            </a:r>
            <a:endParaRPr lang="en-US" sz="3200" dirty="0"/>
          </a:p>
        </p:txBody>
      </p:sp>
      <p:sp>
        <p:nvSpPr>
          <p:cNvPr id="14" name="Rectangle 13"/>
          <p:cNvSpPr/>
          <p:nvPr/>
        </p:nvSpPr>
        <p:spPr>
          <a:xfrm>
            <a:off x="292053" y="893141"/>
            <a:ext cx="11778003" cy="1815882"/>
          </a:xfrm>
          <a:prstGeom prst="rect">
            <a:avLst/>
          </a:prstGeom>
        </p:spPr>
        <p:txBody>
          <a:bodyPr wrap="square">
            <a:spAutoFit/>
          </a:bodyPr>
          <a:lstStyle/>
          <a:p>
            <a:r>
              <a:rPr lang="en-US" sz="2800" dirty="0">
                <a:latin typeface="Times-BoldSC"/>
              </a:rPr>
              <a:t>In a priority encoder each input has a priority level associated with it.</a:t>
            </a:r>
          </a:p>
          <a:p>
            <a:r>
              <a:rPr lang="en-US" sz="2800" dirty="0">
                <a:latin typeface="Times-BoldSC"/>
              </a:rPr>
              <a:t>The encoder outputs indicate the active input that has the highest priority.</a:t>
            </a:r>
          </a:p>
          <a:p>
            <a:r>
              <a:rPr lang="en-US" sz="2800" dirty="0">
                <a:latin typeface="Times-BoldSC"/>
              </a:rPr>
              <a:t>When an input with high priority is asserted, the inputs with lower priority are ignored.</a:t>
            </a:r>
            <a:endParaRPr lang="en-US" sz="2800" dirty="0"/>
          </a:p>
        </p:txBody>
      </p:sp>
      <p:pic>
        <p:nvPicPr>
          <p:cNvPr id="5" name="Picture 4"/>
          <p:cNvPicPr>
            <a:picLocks noChangeAspect="1"/>
          </p:cNvPicPr>
          <p:nvPr/>
        </p:nvPicPr>
        <p:blipFill>
          <a:blip r:embed="rId2"/>
          <a:stretch>
            <a:fillRect/>
          </a:stretch>
        </p:blipFill>
        <p:spPr>
          <a:xfrm>
            <a:off x="292053" y="2866635"/>
            <a:ext cx="4573770" cy="3001902"/>
          </a:xfrm>
          <a:prstGeom prst="rect">
            <a:avLst/>
          </a:prstGeom>
        </p:spPr>
      </p:pic>
      <p:pic>
        <p:nvPicPr>
          <p:cNvPr id="6" name="Picture 5"/>
          <p:cNvPicPr>
            <a:picLocks noChangeAspect="1"/>
          </p:cNvPicPr>
          <p:nvPr/>
        </p:nvPicPr>
        <p:blipFill>
          <a:blip r:embed="rId3"/>
          <a:stretch>
            <a:fillRect/>
          </a:stretch>
        </p:blipFill>
        <p:spPr>
          <a:xfrm>
            <a:off x="5968455" y="2333940"/>
            <a:ext cx="2703415" cy="2378016"/>
          </a:xfrm>
          <a:prstGeom prst="rect">
            <a:avLst/>
          </a:prstGeom>
        </p:spPr>
      </p:pic>
      <p:pic>
        <p:nvPicPr>
          <p:cNvPr id="7" name="Picture 6"/>
          <p:cNvPicPr>
            <a:picLocks noChangeAspect="1"/>
          </p:cNvPicPr>
          <p:nvPr/>
        </p:nvPicPr>
        <p:blipFill>
          <a:blip r:embed="rId4"/>
          <a:stretch>
            <a:fillRect/>
          </a:stretch>
        </p:blipFill>
        <p:spPr>
          <a:xfrm>
            <a:off x="8866006" y="2437319"/>
            <a:ext cx="1816992" cy="1085629"/>
          </a:xfrm>
          <a:prstGeom prst="rect">
            <a:avLst/>
          </a:prstGeom>
        </p:spPr>
      </p:pic>
      <p:pic>
        <p:nvPicPr>
          <p:cNvPr id="8" name="Picture 7"/>
          <p:cNvPicPr>
            <a:picLocks noChangeAspect="1"/>
          </p:cNvPicPr>
          <p:nvPr/>
        </p:nvPicPr>
        <p:blipFill rotWithShape="1">
          <a:blip r:embed="rId5"/>
          <a:srcRect l="61098" t="71670"/>
          <a:stretch/>
        </p:blipFill>
        <p:spPr>
          <a:xfrm>
            <a:off x="7131631" y="4727036"/>
            <a:ext cx="2642871" cy="393400"/>
          </a:xfrm>
          <a:prstGeom prst="rect">
            <a:avLst/>
          </a:prstGeom>
        </p:spPr>
      </p:pic>
      <p:pic>
        <p:nvPicPr>
          <p:cNvPr id="9" name="Picture 8"/>
          <p:cNvPicPr>
            <a:picLocks noChangeAspect="1"/>
          </p:cNvPicPr>
          <p:nvPr/>
        </p:nvPicPr>
        <p:blipFill>
          <a:blip r:embed="rId6"/>
          <a:stretch>
            <a:fillRect/>
          </a:stretch>
        </p:blipFill>
        <p:spPr>
          <a:xfrm>
            <a:off x="292053" y="6074543"/>
            <a:ext cx="8774077" cy="488599"/>
          </a:xfrm>
          <a:prstGeom prst="rect">
            <a:avLst/>
          </a:prstGeom>
        </p:spPr>
      </p:pic>
      <p:sp>
        <p:nvSpPr>
          <p:cNvPr id="12" name="Rectangle 11"/>
          <p:cNvSpPr/>
          <p:nvPr/>
        </p:nvSpPr>
        <p:spPr>
          <a:xfrm>
            <a:off x="5695440" y="5120436"/>
            <a:ext cx="5949418" cy="954107"/>
          </a:xfrm>
          <a:prstGeom prst="rect">
            <a:avLst/>
          </a:prstGeom>
        </p:spPr>
        <p:txBody>
          <a:bodyPr wrap="square">
            <a:spAutoFit/>
          </a:bodyPr>
          <a:lstStyle/>
          <a:p>
            <a:r>
              <a:rPr lang="en-US" sz="2800" dirty="0"/>
              <a:t>Z is set to 1 when at least one of the inputs is equal to 1. </a:t>
            </a:r>
          </a:p>
        </p:txBody>
      </p:sp>
    </p:spTree>
    <p:extLst>
      <p:ext uri="{BB962C8B-B14F-4D97-AF65-F5344CB8AC3E}">
        <p14:creationId xmlns:p14="http://schemas.microsoft.com/office/powerpoint/2010/main" val="310419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12"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5779" y="1323833"/>
            <a:ext cx="5506636" cy="3416320"/>
          </a:xfrm>
          <a:prstGeom prst="rect">
            <a:avLst/>
          </a:prstGeom>
          <a:noFill/>
        </p:spPr>
        <p:txBody>
          <a:bodyPr wrap="none" rtlCol="0">
            <a:spAutoFit/>
          </a:bodyPr>
          <a:lstStyle/>
          <a:p>
            <a:r>
              <a:rPr lang="en-US" sz="3600" dirty="0"/>
              <a:t>w3  w2  w1  w0   y1  y0   z</a:t>
            </a:r>
          </a:p>
          <a:p>
            <a:r>
              <a:rPr lang="en-US" sz="3600" dirty="0"/>
              <a:t> x      </a:t>
            </a:r>
            <a:r>
              <a:rPr lang="en-US" sz="3600" dirty="0" err="1"/>
              <a:t>x</a:t>
            </a:r>
            <a:r>
              <a:rPr lang="en-US" sz="3600" dirty="0"/>
              <a:t>     </a:t>
            </a:r>
            <a:r>
              <a:rPr lang="en-US" sz="3600" dirty="0" err="1"/>
              <a:t>x</a:t>
            </a:r>
            <a:r>
              <a:rPr lang="en-US" sz="3600" dirty="0"/>
              <a:t>      1      0    0   1</a:t>
            </a:r>
          </a:p>
          <a:p>
            <a:r>
              <a:rPr lang="en-US" sz="3600" dirty="0"/>
              <a:t> x      </a:t>
            </a:r>
            <a:r>
              <a:rPr lang="en-US" sz="3600" dirty="0" err="1"/>
              <a:t>x</a:t>
            </a:r>
            <a:r>
              <a:rPr lang="en-US" sz="3600" dirty="0"/>
              <a:t>     1      0      0    1   1</a:t>
            </a:r>
          </a:p>
          <a:p>
            <a:r>
              <a:rPr lang="en-US" sz="3600" dirty="0"/>
              <a:t> x      1     0      0      1   0    1 </a:t>
            </a:r>
          </a:p>
          <a:p>
            <a:r>
              <a:rPr lang="en-US" sz="3600" dirty="0"/>
              <a:t> 1      0     0      0      1   1    1</a:t>
            </a:r>
          </a:p>
          <a:p>
            <a:r>
              <a:rPr lang="en-US" sz="3600" dirty="0"/>
              <a:t> 0      0     0      0      x   </a:t>
            </a:r>
            <a:r>
              <a:rPr lang="en-US" sz="3600" dirty="0" err="1"/>
              <a:t>x</a:t>
            </a:r>
            <a:r>
              <a:rPr lang="en-US" sz="3600" dirty="0"/>
              <a:t>     0    </a:t>
            </a:r>
          </a:p>
        </p:txBody>
      </p:sp>
      <p:sp>
        <p:nvSpPr>
          <p:cNvPr id="3" name="TextBox 2"/>
          <p:cNvSpPr txBox="1"/>
          <p:nvPr/>
        </p:nvSpPr>
        <p:spPr>
          <a:xfrm>
            <a:off x="1078173" y="627797"/>
            <a:ext cx="9473106" cy="523220"/>
          </a:xfrm>
          <a:prstGeom prst="rect">
            <a:avLst/>
          </a:prstGeom>
          <a:noFill/>
        </p:spPr>
        <p:txBody>
          <a:bodyPr wrap="none" rtlCol="0">
            <a:spAutoFit/>
          </a:bodyPr>
          <a:lstStyle/>
          <a:p>
            <a:r>
              <a:rPr lang="en-US" sz="2800" dirty="0"/>
              <a:t>Priority encoder having w0 highest priority and w3 least priority</a:t>
            </a:r>
          </a:p>
        </p:txBody>
      </p:sp>
    </p:spTree>
    <p:extLst>
      <p:ext uri="{BB962C8B-B14F-4D97-AF65-F5344CB8AC3E}">
        <p14:creationId xmlns:p14="http://schemas.microsoft.com/office/powerpoint/2010/main" val="69730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5910" y="955344"/>
            <a:ext cx="11163869" cy="3539430"/>
          </a:xfrm>
          <a:prstGeom prst="rect">
            <a:avLst/>
          </a:prstGeom>
        </p:spPr>
        <p:txBody>
          <a:bodyPr wrap="square">
            <a:spAutoFit/>
          </a:bodyPr>
          <a:lstStyle/>
          <a:p>
            <a:pPr algn="just"/>
            <a:r>
              <a:rPr lang="en-US" sz="3200" dirty="0">
                <a:solidFill>
                  <a:srgbClr val="000000"/>
                </a:solidFill>
                <a:latin typeface="Times-Roman"/>
              </a:rPr>
              <a:t>Problems: </a:t>
            </a:r>
          </a:p>
          <a:p>
            <a:pPr algn="just"/>
            <a:r>
              <a:rPr lang="en-US" sz="3200" dirty="0">
                <a:solidFill>
                  <a:srgbClr val="000000"/>
                </a:solidFill>
                <a:latin typeface="Times-Roman"/>
              </a:rPr>
              <a:t>1. Show how the function </a:t>
            </a:r>
            <a:r>
              <a:rPr lang="en-US" sz="3200" i="1" dirty="0">
                <a:solidFill>
                  <a:srgbClr val="000000"/>
                </a:solidFill>
                <a:latin typeface="Times-Italic"/>
              </a:rPr>
              <a:t>f </a:t>
            </a:r>
            <a:r>
              <a:rPr lang="en-US" sz="3200" i="1" dirty="0">
                <a:solidFill>
                  <a:srgbClr val="000000"/>
                </a:solidFill>
                <a:latin typeface="MTMI"/>
              </a:rPr>
              <a:t>(</a:t>
            </a:r>
            <a:r>
              <a:rPr lang="en-US" sz="3200" i="1" dirty="0">
                <a:solidFill>
                  <a:srgbClr val="000000"/>
                </a:solidFill>
                <a:latin typeface="Times-Italic"/>
              </a:rPr>
              <a:t>w</a:t>
            </a:r>
            <a:r>
              <a:rPr lang="en-US" sz="3200" dirty="0">
                <a:solidFill>
                  <a:srgbClr val="000000"/>
                </a:solidFill>
                <a:latin typeface="Times-Roman"/>
              </a:rPr>
              <a:t>1</a:t>
            </a:r>
            <a:r>
              <a:rPr lang="en-US" sz="3200" i="1" dirty="0">
                <a:solidFill>
                  <a:srgbClr val="000000"/>
                </a:solidFill>
                <a:latin typeface="MTMI"/>
              </a:rPr>
              <a:t>, </a:t>
            </a:r>
            <a:r>
              <a:rPr lang="en-US" sz="3200" i="1" dirty="0">
                <a:solidFill>
                  <a:srgbClr val="000000"/>
                </a:solidFill>
                <a:latin typeface="Times-Italic"/>
              </a:rPr>
              <a:t>w</a:t>
            </a:r>
            <a:r>
              <a:rPr lang="en-US" sz="3200" dirty="0">
                <a:solidFill>
                  <a:srgbClr val="000000"/>
                </a:solidFill>
                <a:latin typeface="Times-Roman"/>
              </a:rPr>
              <a:t>2</a:t>
            </a:r>
            <a:r>
              <a:rPr lang="en-US" sz="3200" i="1" dirty="0">
                <a:solidFill>
                  <a:srgbClr val="000000"/>
                </a:solidFill>
                <a:latin typeface="MTMI"/>
              </a:rPr>
              <a:t>, </a:t>
            </a:r>
            <a:r>
              <a:rPr lang="en-US" sz="3200" i="1" dirty="0">
                <a:solidFill>
                  <a:srgbClr val="000000"/>
                </a:solidFill>
                <a:latin typeface="Times-Italic"/>
              </a:rPr>
              <a:t>w</a:t>
            </a:r>
            <a:r>
              <a:rPr lang="en-US" sz="3200" dirty="0">
                <a:solidFill>
                  <a:srgbClr val="000000"/>
                </a:solidFill>
                <a:latin typeface="Times-Roman"/>
              </a:rPr>
              <a:t>3</a:t>
            </a:r>
            <a:r>
              <a:rPr lang="en-US" sz="3200" i="1" dirty="0">
                <a:solidFill>
                  <a:srgbClr val="000000"/>
                </a:solidFill>
                <a:latin typeface="MTMI"/>
              </a:rPr>
              <a:t>) </a:t>
            </a:r>
            <a:r>
              <a:rPr lang="en-US" sz="3200" dirty="0">
                <a:solidFill>
                  <a:srgbClr val="000000"/>
                </a:solidFill>
                <a:latin typeface="MTSYN"/>
              </a:rPr>
              <a:t>= </a:t>
            </a:r>
            <a:r>
              <a:rPr lang="en-US" sz="3200" dirty="0">
                <a:solidFill>
                  <a:srgbClr val="000000"/>
                </a:solidFill>
                <a:latin typeface="Calibri" panose="020F0502020204030204" pitchFamily="34" charset="0"/>
                <a:cs typeface="Calibri" panose="020F0502020204030204" pitchFamily="34" charset="0"/>
              </a:rPr>
              <a:t>∑</a:t>
            </a:r>
            <a:r>
              <a:rPr lang="en-US" sz="3200" i="1" dirty="0">
                <a:solidFill>
                  <a:srgbClr val="000000"/>
                </a:solidFill>
                <a:latin typeface="Times-Italic"/>
              </a:rPr>
              <a:t>m</a:t>
            </a:r>
            <a:r>
              <a:rPr lang="en-US" sz="3200" i="1" dirty="0">
                <a:solidFill>
                  <a:srgbClr val="000000"/>
                </a:solidFill>
                <a:latin typeface="MTMI"/>
              </a:rPr>
              <a:t>(</a:t>
            </a:r>
            <a:r>
              <a:rPr lang="en-US" sz="3200" dirty="0">
                <a:solidFill>
                  <a:srgbClr val="000000"/>
                </a:solidFill>
                <a:latin typeface="Times-Roman"/>
              </a:rPr>
              <a:t>0</a:t>
            </a:r>
            <a:r>
              <a:rPr lang="en-US" sz="3200" i="1" dirty="0">
                <a:solidFill>
                  <a:srgbClr val="000000"/>
                </a:solidFill>
                <a:latin typeface="MTMI"/>
              </a:rPr>
              <a:t>, </a:t>
            </a:r>
            <a:r>
              <a:rPr lang="en-US" sz="3200" dirty="0">
                <a:solidFill>
                  <a:srgbClr val="000000"/>
                </a:solidFill>
                <a:latin typeface="Times-Roman"/>
              </a:rPr>
              <a:t>2</a:t>
            </a:r>
            <a:r>
              <a:rPr lang="en-US" sz="3200" i="1" dirty="0">
                <a:solidFill>
                  <a:srgbClr val="000000"/>
                </a:solidFill>
                <a:latin typeface="MTMI"/>
              </a:rPr>
              <a:t>, </a:t>
            </a:r>
            <a:r>
              <a:rPr lang="en-US" sz="3200" dirty="0">
                <a:solidFill>
                  <a:srgbClr val="000000"/>
                </a:solidFill>
                <a:latin typeface="Times-Roman"/>
              </a:rPr>
              <a:t>3</a:t>
            </a:r>
            <a:r>
              <a:rPr lang="en-US" sz="3200" i="1" dirty="0">
                <a:solidFill>
                  <a:srgbClr val="000000"/>
                </a:solidFill>
                <a:latin typeface="MTMI"/>
              </a:rPr>
              <a:t>, </a:t>
            </a:r>
            <a:r>
              <a:rPr lang="en-US" sz="3200" dirty="0">
                <a:solidFill>
                  <a:srgbClr val="000000"/>
                </a:solidFill>
                <a:latin typeface="Times-Roman"/>
              </a:rPr>
              <a:t>4</a:t>
            </a:r>
            <a:r>
              <a:rPr lang="en-US" sz="3200" i="1" dirty="0">
                <a:solidFill>
                  <a:srgbClr val="000000"/>
                </a:solidFill>
                <a:latin typeface="MTMI"/>
              </a:rPr>
              <a:t>, </a:t>
            </a:r>
            <a:r>
              <a:rPr lang="en-US" sz="3200" dirty="0">
                <a:solidFill>
                  <a:srgbClr val="000000"/>
                </a:solidFill>
                <a:latin typeface="Times-Roman"/>
              </a:rPr>
              <a:t>5</a:t>
            </a:r>
            <a:r>
              <a:rPr lang="en-US" sz="3200" i="1" dirty="0">
                <a:solidFill>
                  <a:srgbClr val="000000"/>
                </a:solidFill>
                <a:latin typeface="MTMI"/>
              </a:rPr>
              <a:t>, </a:t>
            </a:r>
            <a:r>
              <a:rPr lang="en-US" sz="3200" dirty="0">
                <a:solidFill>
                  <a:srgbClr val="000000"/>
                </a:solidFill>
                <a:latin typeface="Times-Roman"/>
              </a:rPr>
              <a:t>7</a:t>
            </a:r>
            <a:r>
              <a:rPr lang="en-US" sz="3200" i="1" dirty="0">
                <a:solidFill>
                  <a:srgbClr val="000000"/>
                </a:solidFill>
                <a:latin typeface="MTMI"/>
              </a:rPr>
              <a:t>) </a:t>
            </a:r>
            <a:r>
              <a:rPr lang="en-US" sz="3200" dirty="0">
                <a:solidFill>
                  <a:srgbClr val="000000"/>
                </a:solidFill>
                <a:latin typeface="Times-Roman"/>
              </a:rPr>
              <a:t>can be implemented using a 3-to-8 binary decoder and an OR gate.</a:t>
            </a:r>
          </a:p>
          <a:p>
            <a:pPr algn="just"/>
            <a:r>
              <a:rPr lang="en-US" sz="3200" dirty="0">
                <a:solidFill>
                  <a:srgbClr val="000000"/>
                </a:solidFill>
                <a:latin typeface="Times-Roman"/>
              </a:rPr>
              <a:t>2. Show how the function </a:t>
            </a:r>
            <a:r>
              <a:rPr lang="en-US" sz="3200" i="1" dirty="0">
                <a:solidFill>
                  <a:srgbClr val="000000"/>
                </a:solidFill>
                <a:latin typeface="Times-Italic"/>
              </a:rPr>
              <a:t>f </a:t>
            </a:r>
            <a:r>
              <a:rPr lang="en-US" sz="3200" i="1" dirty="0">
                <a:solidFill>
                  <a:srgbClr val="000000"/>
                </a:solidFill>
                <a:latin typeface="MTMI"/>
              </a:rPr>
              <a:t>(</a:t>
            </a:r>
            <a:r>
              <a:rPr lang="en-US" sz="3200" i="1" dirty="0">
                <a:solidFill>
                  <a:srgbClr val="000000"/>
                </a:solidFill>
                <a:latin typeface="Times-Italic"/>
              </a:rPr>
              <a:t>w</a:t>
            </a:r>
            <a:r>
              <a:rPr lang="en-US" sz="3200" dirty="0">
                <a:solidFill>
                  <a:srgbClr val="000000"/>
                </a:solidFill>
                <a:latin typeface="Times-Roman"/>
              </a:rPr>
              <a:t>1</a:t>
            </a:r>
            <a:r>
              <a:rPr lang="en-US" sz="3200" i="1" dirty="0">
                <a:solidFill>
                  <a:srgbClr val="000000"/>
                </a:solidFill>
                <a:latin typeface="MTMI"/>
              </a:rPr>
              <a:t>, </a:t>
            </a:r>
            <a:r>
              <a:rPr lang="en-US" sz="3200" i="1" dirty="0">
                <a:solidFill>
                  <a:srgbClr val="000000"/>
                </a:solidFill>
                <a:latin typeface="Times-Italic"/>
              </a:rPr>
              <a:t>w</a:t>
            </a:r>
            <a:r>
              <a:rPr lang="en-US" sz="3200" dirty="0">
                <a:solidFill>
                  <a:srgbClr val="000000"/>
                </a:solidFill>
                <a:latin typeface="Times-Roman"/>
              </a:rPr>
              <a:t>2</a:t>
            </a:r>
            <a:r>
              <a:rPr lang="en-US" sz="3200" i="1" dirty="0">
                <a:solidFill>
                  <a:srgbClr val="000000"/>
                </a:solidFill>
                <a:latin typeface="MTMI"/>
              </a:rPr>
              <a:t>, </a:t>
            </a:r>
            <a:r>
              <a:rPr lang="en-US" sz="3200" i="1" dirty="0">
                <a:solidFill>
                  <a:srgbClr val="000000"/>
                </a:solidFill>
                <a:latin typeface="Times-Italic"/>
              </a:rPr>
              <a:t>w</a:t>
            </a:r>
            <a:r>
              <a:rPr lang="en-US" sz="3200" dirty="0">
                <a:solidFill>
                  <a:srgbClr val="000000"/>
                </a:solidFill>
                <a:latin typeface="Times-Roman"/>
              </a:rPr>
              <a:t>3</a:t>
            </a:r>
            <a:r>
              <a:rPr lang="en-US" sz="3200" i="1" dirty="0">
                <a:solidFill>
                  <a:srgbClr val="000000"/>
                </a:solidFill>
                <a:latin typeface="MTMI"/>
              </a:rPr>
              <a:t>) </a:t>
            </a:r>
            <a:r>
              <a:rPr lang="en-US" sz="3200" dirty="0">
                <a:solidFill>
                  <a:srgbClr val="000000"/>
                </a:solidFill>
                <a:latin typeface="MTSYN"/>
              </a:rPr>
              <a:t>= </a:t>
            </a:r>
            <a:r>
              <a:rPr lang="en-US" sz="3200" dirty="0">
                <a:solidFill>
                  <a:srgbClr val="000000"/>
                </a:solidFill>
                <a:latin typeface="Calibri" panose="020F0502020204030204" pitchFamily="34" charset="0"/>
                <a:cs typeface="Calibri" panose="020F0502020204030204" pitchFamily="34" charset="0"/>
              </a:rPr>
              <a:t>∑</a:t>
            </a:r>
            <a:r>
              <a:rPr lang="en-US" sz="3200" i="1" dirty="0">
                <a:solidFill>
                  <a:srgbClr val="000000"/>
                </a:solidFill>
                <a:latin typeface="Times-Italic"/>
              </a:rPr>
              <a:t>m</a:t>
            </a:r>
            <a:r>
              <a:rPr lang="en-US" sz="3200" i="1" dirty="0">
                <a:solidFill>
                  <a:srgbClr val="000000"/>
                </a:solidFill>
                <a:latin typeface="MTMI"/>
              </a:rPr>
              <a:t>(</a:t>
            </a:r>
            <a:r>
              <a:rPr lang="en-US" sz="3200" dirty="0">
                <a:solidFill>
                  <a:srgbClr val="000000"/>
                </a:solidFill>
                <a:latin typeface="Times-Roman"/>
              </a:rPr>
              <a:t>1</a:t>
            </a:r>
            <a:r>
              <a:rPr lang="en-US" sz="3200" i="1" dirty="0">
                <a:solidFill>
                  <a:srgbClr val="000000"/>
                </a:solidFill>
                <a:latin typeface="MTMI"/>
              </a:rPr>
              <a:t>, </a:t>
            </a:r>
            <a:r>
              <a:rPr lang="en-US" sz="3200" dirty="0">
                <a:solidFill>
                  <a:srgbClr val="000000"/>
                </a:solidFill>
                <a:latin typeface="Times-Roman"/>
              </a:rPr>
              <a:t>2</a:t>
            </a:r>
            <a:r>
              <a:rPr lang="en-US" sz="3200" i="1" dirty="0">
                <a:solidFill>
                  <a:srgbClr val="000000"/>
                </a:solidFill>
                <a:latin typeface="MTMI"/>
              </a:rPr>
              <a:t>, </a:t>
            </a:r>
            <a:r>
              <a:rPr lang="en-US" sz="3200" dirty="0">
                <a:solidFill>
                  <a:srgbClr val="000000"/>
                </a:solidFill>
                <a:latin typeface="Times-Roman"/>
              </a:rPr>
              <a:t>3</a:t>
            </a:r>
            <a:r>
              <a:rPr lang="en-US" sz="3200" i="1" dirty="0">
                <a:solidFill>
                  <a:srgbClr val="000000"/>
                </a:solidFill>
                <a:latin typeface="MTMI"/>
              </a:rPr>
              <a:t>, </a:t>
            </a:r>
            <a:r>
              <a:rPr lang="en-US" sz="3200" dirty="0">
                <a:solidFill>
                  <a:srgbClr val="000000"/>
                </a:solidFill>
                <a:latin typeface="Times-Roman"/>
              </a:rPr>
              <a:t>5</a:t>
            </a:r>
            <a:r>
              <a:rPr lang="en-US" sz="3200" i="1" dirty="0">
                <a:solidFill>
                  <a:srgbClr val="000000"/>
                </a:solidFill>
                <a:latin typeface="MTMI"/>
              </a:rPr>
              <a:t>, </a:t>
            </a:r>
            <a:r>
              <a:rPr lang="en-US" sz="3200" dirty="0">
                <a:solidFill>
                  <a:srgbClr val="000000"/>
                </a:solidFill>
                <a:latin typeface="Times-Roman"/>
              </a:rPr>
              <a:t>6</a:t>
            </a:r>
            <a:r>
              <a:rPr lang="en-US" sz="3200" i="1" dirty="0">
                <a:solidFill>
                  <a:srgbClr val="000000"/>
                </a:solidFill>
                <a:latin typeface="MTMI"/>
              </a:rPr>
              <a:t>) </a:t>
            </a:r>
            <a:r>
              <a:rPr lang="en-US" sz="3200" dirty="0">
                <a:solidFill>
                  <a:srgbClr val="000000"/>
                </a:solidFill>
                <a:latin typeface="Times-Roman"/>
              </a:rPr>
              <a:t>can be implemented using a 3-to-8 binary decoder and an OR gate.</a:t>
            </a:r>
            <a:endParaRPr lang="en-US" sz="3200" dirty="0"/>
          </a:p>
        </p:txBody>
      </p:sp>
    </p:spTree>
    <p:extLst>
      <p:ext uri="{BB962C8B-B14F-4D97-AF65-F5344CB8AC3E}">
        <p14:creationId xmlns:p14="http://schemas.microsoft.com/office/powerpoint/2010/main" val="920852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5713" y="1119116"/>
            <a:ext cx="1760562" cy="21836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3 to 8 decoder</a:t>
            </a:r>
          </a:p>
        </p:txBody>
      </p:sp>
      <p:cxnSp>
        <p:nvCxnSpPr>
          <p:cNvPr id="4" name="Straight Arrow Connector 3"/>
          <p:cNvCxnSpPr/>
          <p:nvPr/>
        </p:nvCxnSpPr>
        <p:spPr>
          <a:xfrm>
            <a:off x="2429301" y="1487606"/>
            <a:ext cx="1119117" cy="136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p:cNvCxnSpPr/>
          <p:nvPr/>
        </p:nvCxnSpPr>
        <p:spPr>
          <a:xfrm>
            <a:off x="2429300" y="2090382"/>
            <a:ext cx="1119117" cy="136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p:cNvCxnSpPr/>
          <p:nvPr/>
        </p:nvCxnSpPr>
        <p:spPr>
          <a:xfrm>
            <a:off x="2442948" y="2693158"/>
            <a:ext cx="1119117" cy="136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1742894" y="2400770"/>
            <a:ext cx="686406" cy="584775"/>
          </a:xfrm>
          <a:prstGeom prst="rect">
            <a:avLst/>
          </a:prstGeom>
          <a:noFill/>
        </p:spPr>
        <p:txBody>
          <a:bodyPr wrap="none" rtlCol="0">
            <a:spAutoFit/>
          </a:bodyPr>
          <a:lstStyle/>
          <a:p>
            <a:r>
              <a:rPr lang="en-US" sz="3200" dirty="0"/>
              <a:t>w1</a:t>
            </a:r>
          </a:p>
        </p:txBody>
      </p:sp>
      <p:sp>
        <p:nvSpPr>
          <p:cNvPr id="8" name="TextBox 7"/>
          <p:cNvSpPr txBox="1"/>
          <p:nvPr/>
        </p:nvSpPr>
        <p:spPr>
          <a:xfrm>
            <a:off x="1715598" y="1797994"/>
            <a:ext cx="686406" cy="584775"/>
          </a:xfrm>
          <a:prstGeom prst="rect">
            <a:avLst/>
          </a:prstGeom>
          <a:noFill/>
        </p:spPr>
        <p:txBody>
          <a:bodyPr wrap="none" rtlCol="0">
            <a:spAutoFit/>
          </a:bodyPr>
          <a:lstStyle/>
          <a:p>
            <a:r>
              <a:rPr lang="en-US" sz="3200" dirty="0"/>
              <a:t>w2</a:t>
            </a:r>
          </a:p>
        </p:txBody>
      </p:sp>
      <p:sp>
        <p:nvSpPr>
          <p:cNvPr id="9" name="TextBox 8"/>
          <p:cNvSpPr txBox="1"/>
          <p:nvPr/>
        </p:nvSpPr>
        <p:spPr>
          <a:xfrm>
            <a:off x="1715598" y="1213219"/>
            <a:ext cx="686406" cy="584775"/>
          </a:xfrm>
          <a:prstGeom prst="rect">
            <a:avLst/>
          </a:prstGeom>
          <a:noFill/>
        </p:spPr>
        <p:txBody>
          <a:bodyPr wrap="none" rtlCol="0">
            <a:spAutoFit/>
          </a:bodyPr>
          <a:lstStyle/>
          <a:p>
            <a:r>
              <a:rPr lang="en-US" sz="3200" dirty="0"/>
              <a:t>w3</a:t>
            </a:r>
          </a:p>
        </p:txBody>
      </p:sp>
      <p:cxnSp>
        <p:nvCxnSpPr>
          <p:cNvPr id="11" name="Straight Arrow Connector 10"/>
          <p:cNvCxnSpPr/>
          <p:nvPr/>
        </p:nvCxnSpPr>
        <p:spPr>
          <a:xfrm>
            <a:off x="5336275" y="1285860"/>
            <a:ext cx="1064525" cy="7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5308979" y="1501254"/>
            <a:ext cx="1064525" cy="7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a:off x="5308978" y="1778126"/>
            <a:ext cx="1064525" cy="7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5308977" y="2028308"/>
            <a:ext cx="1064525" cy="7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5308976" y="2270784"/>
            <a:ext cx="1064525" cy="7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a:off x="5308975" y="2504541"/>
            <a:ext cx="1064525" cy="7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a:off x="5336275" y="2797838"/>
            <a:ext cx="1064525" cy="7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a:off x="5308975" y="3091135"/>
            <a:ext cx="1064525" cy="7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868537" y="978935"/>
            <a:ext cx="405880" cy="369332"/>
          </a:xfrm>
          <a:prstGeom prst="rect">
            <a:avLst/>
          </a:prstGeom>
          <a:noFill/>
        </p:spPr>
        <p:txBody>
          <a:bodyPr wrap="none" rtlCol="0">
            <a:spAutoFit/>
          </a:bodyPr>
          <a:lstStyle/>
          <a:p>
            <a:r>
              <a:rPr lang="en-US" dirty="0"/>
              <a:t>y0</a:t>
            </a:r>
          </a:p>
        </p:txBody>
      </p:sp>
      <p:sp>
        <p:nvSpPr>
          <p:cNvPr id="20" name="TextBox 19"/>
          <p:cNvSpPr txBox="1"/>
          <p:nvPr/>
        </p:nvSpPr>
        <p:spPr>
          <a:xfrm>
            <a:off x="5841237" y="3031595"/>
            <a:ext cx="405880" cy="369332"/>
          </a:xfrm>
          <a:prstGeom prst="rect">
            <a:avLst/>
          </a:prstGeom>
          <a:noFill/>
        </p:spPr>
        <p:txBody>
          <a:bodyPr wrap="none" rtlCol="0">
            <a:spAutoFit/>
          </a:bodyPr>
          <a:lstStyle/>
          <a:p>
            <a:r>
              <a:rPr lang="en-US" dirty="0"/>
              <a:t>y7</a:t>
            </a:r>
          </a:p>
        </p:txBody>
      </p:sp>
      <p:sp>
        <p:nvSpPr>
          <p:cNvPr id="21" name="Rectangle 20"/>
          <p:cNvSpPr/>
          <p:nvPr/>
        </p:nvSpPr>
        <p:spPr>
          <a:xfrm>
            <a:off x="7192362" y="1640006"/>
            <a:ext cx="914400" cy="11655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OR Gate</a:t>
            </a:r>
          </a:p>
        </p:txBody>
      </p:sp>
      <p:cxnSp>
        <p:nvCxnSpPr>
          <p:cNvPr id="23" name="Straight Connector 22"/>
          <p:cNvCxnSpPr/>
          <p:nvPr/>
        </p:nvCxnSpPr>
        <p:spPr>
          <a:xfrm>
            <a:off x="6373500" y="1285860"/>
            <a:ext cx="395790" cy="7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06679" y="1352572"/>
            <a:ext cx="0" cy="32120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323960" y="3091135"/>
            <a:ext cx="482719" cy="77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6806679" y="2754723"/>
            <a:ext cx="0" cy="34411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6806679" y="1655182"/>
            <a:ext cx="385683" cy="18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6323960" y="1778126"/>
            <a:ext cx="868402" cy="19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6348730" y="2039556"/>
            <a:ext cx="868402" cy="19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6352512" y="2230816"/>
            <a:ext cx="868402" cy="19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6336345" y="2505612"/>
            <a:ext cx="868402" cy="19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6806679" y="2706806"/>
            <a:ext cx="3856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21" idx="3"/>
          </p:cNvCxnSpPr>
          <p:nvPr/>
        </p:nvCxnSpPr>
        <p:spPr>
          <a:xfrm>
            <a:off x="8106762" y="2222775"/>
            <a:ext cx="764283" cy="17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8992610" y="1918549"/>
            <a:ext cx="309700" cy="584775"/>
          </a:xfrm>
          <a:prstGeom prst="rect">
            <a:avLst/>
          </a:prstGeom>
          <a:noFill/>
        </p:spPr>
        <p:txBody>
          <a:bodyPr wrap="none" rtlCol="0">
            <a:spAutoFit/>
          </a:bodyPr>
          <a:lstStyle/>
          <a:p>
            <a:r>
              <a:rPr lang="en-US" sz="3200" dirty="0"/>
              <a:t>f</a:t>
            </a:r>
          </a:p>
        </p:txBody>
      </p:sp>
    </p:spTree>
    <p:extLst>
      <p:ext uri="{BB962C8B-B14F-4D97-AF65-F5344CB8AC3E}">
        <p14:creationId xmlns:p14="http://schemas.microsoft.com/office/powerpoint/2010/main" val="787186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73958" y="972810"/>
            <a:ext cx="9034818" cy="3046988"/>
          </a:xfrm>
          <a:prstGeom prst="rect">
            <a:avLst/>
          </a:prstGeom>
        </p:spPr>
        <p:txBody>
          <a:bodyPr wrap="square">
            <a:spAutoFit/>
          </a:bodyPr>
          <a:lstStyle/>
          <a:p>
            <a:pPr algn="just"/>
            <a:r>
              <a:rPr lang="en-US" sz="3200" dirty="0">
                <a:latin typeface="Times-Roman"/>
              </a:rPr>
              <a:t>Let </a:t>
            </a:r>
            <a:r>
              <a:rPr lang="en-US" sz="3200" i="1" dirty="0">
                <a:latin typeface="Times-Italic"/>
              </a:rPr>
              <a:t>A </a:t>
            </a:r>
            <a:r>
              <a:rPr lang="en-US" sz="3200" dirty="0">
                <a:latin typeface="MTSYN"/>
              </a:rPr>
              <a:t>= </a:t>
            </a:r>
            <a:r>
              <a:rPr lang="en-US" sz="3200" i="1" dirty="0">
                <a:latin typeface="Times-Italic"/>
              </a:rPr>
              <a:t>a</a:t>
            </a:r>
            <a:r>
              <a:rPr lang="en-US" sz="3200" dirty="0">
                <a:latin typeface="Times-Roman"/>
              </a:rPr>
              <a:t>3</a:t>
            </a:r>
            <a:r>
              <a:rPr lang="en-US" sz="3200" i="1" dirty="0">
                <a:latin typeface="Times-Italic"/>
              </a:rPr>
              <a:t>a</a:t>
            </a:r>
            <a:r>
              <a:rPr lang="en-US" sz="3200" dirty="0">
                <a:latin typeface="Times-Roman"/>
              </a:rPr>
              <a:t>2</a:t>
            </a:r>
            <a:r>
              <a:rPr lang="en-US" sz="3200" i="1" dirty="0">
                <a:latin typeface="Times-Italic"/>
              </a:rPr>
              <a:t>a</a:t>
            </a:r>
            <a:r>
              <a:rPr lang="en-US" sz="3200" dirty="0">
                <a:latin typeface="Times-Roman"/>
              </a:rPr>
              <a:t>1</a:t>
            </a:r>
            <a:r>
              <a:rPr lang="en-US" sz="3200" i="1" dirty="0">
                <a:latin typeface="Times-Italic"/>
              </a:rPr>
              <a:t>a</a:t>
            </a:r>
            <a:r>
              <a:rPr lang="en-US" sz="3200" dirty="0">
                <a:latin typeface="Times-Roman"/>
              </a:rPr>
              <a:t>0 and </a:t>
            </a:r>
            <a:r>
              <a:rPr lang="en-US" sz="3200" i="1" dirty="0">
                <a:latin typeface="Times-Italic"/>
              </a:rPr>
              <a:t>B </a:t>
            </a:r>
            <a:r>
              <a:rPr lang="en-US" sz="3200" dirty="0">
                <a:latin typeface="MTSYN"/>
              </a:rPr>
              <a:t>= </a:t>
            </a:r>
            <a:r>
              <a:rPr lang="en-US" sz="3200" i="1" dirty="0">
                <a:latin typeface="Times-Italic"/>
              </a:rPr>
              <a:t>b</a:t>
            </a:r>
            <a:r>
              <a:rPr lang="en-US" sz="3200" dirty="0">
                <a:latin typeface="Times-Roman"/>
              </a:rPr>
              <a:t>3</a:t>
            </a:r>
            <a:r>
              <a:rPr lang="en-US" sz="3200" i="1" dirty="0">
                <a:latin typeface="Times-Italic"/>
              </a:rPr>
              <a:t>b</a:t>
            </a:r>
            <a:r>
              <a:rPr lang="en-US" sz="3200" dirty="0">
                <a:latin typeface="Times-Roman"/>
              </a:rPr>
              <a:t>2</a:t>
            </a:r>
            <a:r>
              <a:rPr lang="en-US" sz="3200" i="1" dirty="0">
                <a:latin typeface="Times-Italic"/>
              </a:rPr>
              <a:t>b</a:t>
            </a:r>
            <a:r>
              <a:rPr lang="en-US" sz="3200" dirty="0">
                <a:latin typeface="Times-Roman"/>
              </a:rPr>
              <a:t>1</a:t>
            </a:r>
            <a:r>
              <a:rPr lang="en-US" sz="3200" i="1" dirty="0">
                <a:latin typeface="Times-Italic"/>
              </a:rPr>
              <a:t>b</a:t>
            </a:r>
            <a:r>
              <a:rPr lang="en-US" sz="3200" dirty="0">
                <a:latin typeface="Times-Roman"/>
              </a:rPr>
              <a:t>0. Define a set of intermediate signals called </a:t>
            </a:r>
            <a:r>
              <a:rPr lang="en-US" sz="3200" i="1" dirty="0">
                <a:latin typeface="Times-Italic"/>
              </a:rPr>
              <a:t>i</a:t>
            </a:r>
            <a:r>
              <a:rPr lang="en-US" sz="3200" dirty="0">
                <a:latin typeface="Times-Roman"/>
              </a:rPr>
              <a:t>3</a:t>
            </a:r>
            <a:r>
              <a:rPr lang="en-US" sz="3200" i="1" dirty="0">
                <a:latin typeface="MTMI"/>
              </a:rPr>
              <a:t>, </a:t>
            </a:r>
            <a:r>
              <a:rPr lang="en-US" sz="3200" i="1" dirty="0">
                <a:latin typeface="Times-Italic"/>
              </a:rPr>
              <a:t>i</a:t>
            </a:r>
            <a:r>
              <a:rPr lang="en-US" sz="3200" dirty="0">
                <a:latin typeface="Times-Roman"/>
              </a:rPr>
              <a:t>2</a:t>
            </a:r>
            <a:r>
              <a:rPr lang="en-US" sz="3200" i="1" dirty="0">
                <a:latin typeface="MTMI"/>
              </a:rPr>
              <a:t>, </a:t>
            </a:r>
            <a:r>
              <a:rPr lang="en-US" sz="3200" i="1" dirty="0">
                <a:latin typeface="Times-Italic"/>
              </a:rPr>
              <a:t>i</a:t>
            </a:r>
            <a:r>
              <a:rPr lang="en-US" sz="3200" dirty="0">
                <a:latin typeface="Times-Roman"/>
              </a:rPr>
              <a:t>1, and </a:t>
            </a:r>
            <a:r>
              <a:rPr lang="en-US" sz="3200" i="1" dirty="0">
                <a:latin typeface="Times-Italic"/>
              </a:rPr>
              <a:t>i</a:t>
            </a:r>
            <a:r>
              <a:rPr lang="en-US" sz="3200" dirty="0">
                <a:latin typeface="Times-Roman"/>
              </a:rPr>
              <a:t>0. Each signal, </a:t>
            </a:r>
            <a:r>
              <a:rPr lang="en-US" sz="3200" i="1" dirty="0" err="1">
                <a:latin typeface="Times-Italic"/>
              </a:rPr>
              <a:t>ik</a:t>
            </a:r>
            <a:r>
              <a:rPr lang="en-US" sz="3200" i="1" dirty="0">
                <a:latin typeface="Times-Italic"/>
              </a:rPr>
              <a:t> </a:t>
            </a:r>
            <a:r>
              <a:rPr lang="en-US" sz="3200" dirty="0">
                <a:latin typeface="Times-Roman"/>
              </a:rPr>
              <a:t>, is 1 if the bits of </a:t>
            </a:r>
            <a:r>
              <a:rPr lang="en-US" sz="3200" i="1" dirty="0">
                <a:latin typeface="Times-Italic"/>
              </a:rPr>
              <a:t>A </a:t>
            </a:r>
            <a:r>
              <a:rPr lang="en-US" sz="3200" dirty="0">
                <a:latin typeface="Times-Roman"/>
              </a:rPr>
              <a:t>and </a:t>
            </a:r>
            <a:r>
              <a:rPr lang="en-US" sz="3200" i="1" dirty="0">
                <a:latin typeface="Times-Italic"/>
              </a:rPr>
              <a:t>B </a:t>
            </a:r>
            <a:r>
              <a:rPr lang="en-US" sz="3200" dirty="0">
                <a:latin typeface="Times-Roman"/>
              </a:rPr>
              <a:t>with the same index are equal.</a:t>
            </a:r>
          </a:p>
          <a:p>
            <a:pPr algn="just"/>
            <a:r>
              <a:rPr lang="en-US" sz="3200" dirty="0">
                <a:latin typeface="Times-Roman"/>
              </a:rPr>
              <a:t>That is, </a:t>
            </a:r>
            <a:r>
              <a:rPr lang="en-US" sz="3200" i="1" dirty="0" err="1">
                <a:latin typeface="Times-Italic"/>
              </a:rPr>
              <a:t>ik</a:t>
            </a:r>
            <a:r>
              <a:rPr lang="en-US" sz="3200" i="1" dirty="0">
                <a:latin typeface="Times-Italic"/>
              </a:rPr>
              <a:t> </a:t>
            </a:r>
            <a:r>
              <a:rPr lang="en-US" sz="3200" dirty="0">
                <a:latin typeface="MTSYN"/>
              </a:rPr>
              <a:t>= (</a:t>
            </a:r>
            <a:r>
              <a:rPr lang="en-US" sz="3200" i="1" dirty="0" err="1">
                <a:latin typeface="Times-Italic"/>
              </a:rPr>
              <a:t>ak</a:t>
            </a:r>
            <a:r>
              <a:rPr lang="en-US" sz="3200" i="1" dirty="0">
                <a:latin typeface="Times-Italic"/>
              </a:rPr>
              <a:t> </a:t>
            </a:r>
            <a:r>
              <a:rPr lang="en-US" sz="3200" dirty="0">
                <a:latin typeface="MTSYN"/>
              </a:rPr>
              <a:t>⊕ </a:t>
            </a:r>
            <a:r>
              <a:rPr lang="en-US" sz="3200" i="1" dirty="0" err="1">
                <a:latin typeface="Times-Italic"/>
              </a:rPr>
              <a:t>bk</a:t>
            </a:r>
            <a:r>
              <a:rPr lang="en-US" sz="3200" i="1" dirty="0">
                <a:latin typeface="Times-Italic"/>
              </a:rPr>
              <a:t>)’ </a:t>
            </a:r>
            <a:r>
              <a:rPr lang="en-US" sz="3200" dirty="0">
                <a:latin typeface="Times-Roman"/>
              </a:rPr>
              <a:t>. The comparator’s </a:t>
            </a:r>
            <a:r>
              <a:rPr lang="en-US" sz="3200" i="1" dirty="0" err="1">
                <a:latin typeface="Times-Italic"/>
              </a:rPr>
              <a:t>AeqB</a:t>
            </a:r>
            <a:r>
              <a:rPr lang="en-US" sz="3200" i="1" dirty="0">
                <a:latin typeface="Times-Italic"/>
              </a:rPr>
              <a:t> </a:t>
            </a:r>
            <a:r>
              <a:rPr lang="en-US" sz="3200" dirty="0">
                <a:latin typeface="Times-Roman"/>
              </a:rPr>
              <a:t>output is then given by </a:t>
            </a:r>
            <a:r>
              <a:rPr lang="en-US" sz="3200" i="1" dirty="0" err="1">
                <a:latin typeface="Times-Italic"/>
              </a:rPr>
              <a:t>AeqB</a:t>
            </a:r>
            <a:r>
              <a:rPr lang="en-US" sz="3200" i="1" dirty="0">
                <a:latin typeface="Times-Italic"/>
              </a:rPr>
              <a:t> </a:t>
            </a:r>
            <a:r>
              <a:rPr lang="en-US" sz="3200" dirty="0">
                <a:latin typeface="MTSYN"/>
              </a:rPr>
              <a:t>= </a:t>
            </a:r>
            <a:r>
              <a:rPr lang="en-US" sz="3200" i="1" dirty="0">
                <a:latin typeface="Times-Italic"/>
              </a:rPr>
              <a:t>i</a:t>
            </a:r>
            <a:r>
              <a:rPr lang="en-US" sz="3200" dirty="0">
                <a:latin typeface="Times-Roman"/>
              </a:rPr>
              <a:t>3</a:t>
            </a:r>
            <a:r>
              <a:rPr lang="en-US" sz="3200" i="1" dirty="0">
                <a:latin typeface="Times-Italic"/>
              </a:rPr>
              <a:t>i</a:t>
            </a:r>
            <a:r>
              <a:rPr lang="en-US" sz="3200" dirty="0">
                <a:latin typeface="Times-Roman"/>
              </a:rPr>
              <a:t>2</a:t>
            </a:r>
            <a:r>
              <a:rPr lang="en-US" sz="3200" i="1" dirty="0">
                <a:latin typeface="Times-Italic"/>
              </a:rPr>
              <a:t>i</a:t>
            </a:r>
            <a:r>
              <a:rPr lang="en-US" sz="3200" dirty="0">
                <a:latin typeface="Times-Roman"/>
              </a:rPr>
              <a:t>1</a:t>
            </a:r>
            <a:r>
              <a:rPr lang="en-US" sz="3200" i="1" dirty="0">
                <a:latin typeface="Times-Italic"/>
              </a:rPr>
              <a:t>i</a:t>
            </a:r>
            <a:r>
              <a:rPr lang="en-US" sz="3200" dirty="0">
                <a:latin typeface="Times-Roman"/>
              </a:rPr>
              <a:t>0</a:t>
            </a:r>
            <a:endParaRPr lang="en-US" sz="3200" dirty="0"/>
          </a:p>
        </p:txBody>
      </p:sp>
      <p:pic>
        <p:nvPicPr>
          <p:cNvPr id="3" name="Picture 2"/>
          <p:cNvPicPr>
            <a:picLocks noChangeAspect="1"/>
          </p:cNvPicPr>
          <p:nvPr/>
        </p:nvPicPr>
        <p:blipFill>
          <a:blip r:embed="rId2"/>
          <a:stretch>
            <a:fillRect/>
          </a:stretch>
        </p:blipFill>
        <p:spPr>
          <a:xfrm>
            <a:off x="1806369" y="4457826"/>
            <a:ext cx="9563497" cy="933040"/>
          </a:xfrm>
          <a:prstGeom prst="rect">
            <a:avLst/>
          </a:prstGeom>
        </p:spPr>
      </p:pic>
      <p:pic>
        <p:nvPicPr>
          <p:cNvPr id="4" name="Picture 3"/>
          <p:cNvPicPr>
            <a:picLocks noChangeAspect="1"/>
          </p:cNvPicPr>
          <p:nvPr/>
        </p:nvPicPr>
        <p:blipFill>
          <a:blip r:embed="rId3"/>
          <a:stretch>
            <a:fillRect/>
          </a:stretch>
        </p:blipFill>
        <p:spPr>
          <a:xfrm>
            <a:off x="1806368" y="5695717"/>
            <a:ext cx="4021225" cy="834245"/>
          </a:xfrm>
          <a:prstGeom prst="rect">
            <a:avLst/>
          </a:prstGeom>
        </p:spPr>
      </p:pic>
      <p:sp>
        <p:nvSpPr>
          <p:cNvPr id="5" name="Rectangle 4"/>
          <p:cNvSpPr/>
          <p:nvPr/>
        </p:nvSpPr>
        <p:spPr>
          <a:xfrm>
            <a:off x="220994" y="225091"/>
            <a:ext cx="8145083" cy="523220"/>
          </a:xfrm>
          <a:prstGeom prst="rect">
            <a:avLst/>
          </a:prstGeom>
        </p:spPr>
        <p:txBody>
          <a:bodyPr wrap="square">
            <a:spAutoFit/>
          </a:bodyPr>
          <a:lstStyle/>
          <a:p>
            <a:r>
              <a:rPr lang="en-US" sz="2800" b="1" dirty="0">
                <a:latin typeface="Times-BoldSC"/>
              </a:rPr>
              <a:t>Arithmetic Comparison Circuits (Unsigned)</a:t>
            </a:r>
            <a:endParaRPr lang="en-US" sz="2800" dirty="0"/>
          </a:p>
        </p:txBody>
      </p:sp>
    </p:spTree>
    <p:extLst>
      <p:ext uri="{BB962C8B-B14F-4D97-AF65-F5344CB8AC3E}">
        <p14:creationId xmlns:p14="http://schemas.microsoft.com/office/powerpoint/2010/main" val="9403948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90153" y="388028"/>
            <a:ext cx="7146419" cy="6344661"/>
          </a:xfrm>
          <a:prstGeom prst="rect">
            <a:avLst/>
          </a:prstGeom>
        </p:spPr>
      </p:pic>
    </p:spTree>
    <p:extLst>
      <p:ext uri="{BB962C8B-B14F-4D97-AF65-F5344CB8AC3E}">
        <p14:creationId xmlns:p14="http://schemas.microsoft.com/office/powerpoint/2010/main" val="3284762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243" y="258508"/>
            <a:ext cx="10449637" cy="6001643"/>
          </a:xfrm>
          <a:prstGeom prst="rect">
            <a:avLst/>
          </a:prstGeom>
        </p:spPr>
        <p:txBody>
          <a:bodyPr wrap="square">
            <a:spAutoFit/>
          </a:bodyPr>
          <a:lstStyle/>
          <a:p>
            <a:pPr algn="just"/>
            <a:endParaRPr lang="en-US" sz="3200" b="1" dirty="0">
              <a:latin typeface="Futura-Bold"/>
            </a:endParaRPr>
          </a:p>
          <a:p>
            <a:pPr algn="just"/>
            <a:r>
              <a:rPr lang="en-US" sz="3200" b="1" dirty="0">
                <a:latin typeface="Futura-Bold"/>
              </a:rPr>
              <a:t>Example   </a:t>
            </a:r>
          </a:p>
          <a:p>
            <a:pPr algn="just"/>
            <a:r>
              <a:rPr lang="en-US" sz="3200" b="1" dirty="0">
                <a:solidFill>
                  <a:srgbClr val="000000"/>
                </a:solidFill>
                <a:latin typeface="Times-Bold"/>
              </a:rPr>
              <a:t>Problem: </a:t>
            </a:r>
            <a:r>
              <a:rPr lang="en-US" sz="3200" dirty="0">
                <a:solidFill>
                  <a:srgbClr val="000000"/>
                </a:solidFill>
                <a:latin typeface="Times-Roman"/>
              </a:rPr>
              <a:t>In computer computations it is often necessary to compare numbers. Two four-bit signed numbers, </a:t>
            </a:r>
            <a:r>
              <a:rPr lang="en-US" sz="3200" i="1" dirty="0">
                <a:solidFill>
                  <a:srgbClr val="000000"/>
                </a:solidFill>
                <a:latin typeface="Times-Italic"/>
              </a:rPr>
              <a:t>X </a:t>
            </a:r>
            <a:r>
              <a:rPr lang="en-US" sz="3200" dirty="0">
                <a:solidFill>
                  <a:srgbClr val="000000"/>
                </a:solidFill>
                <a:latin typeface="MTSYN"/>
              </a:rPr>
              <a:t>= </a:t>
            </a:r>
            <a:r>
              <a:rPr lang="en-US" sz="3200" i="1" dirty="0">
                <a:solidFill>
                  <a:srgbClr val="000000"/>
                </a:solidFill>
                <a:latin typeface="Times-Italic"/>
              </a:rPr>
              <a:t>x</a:t>
            </a:r>
            <a:r>
              <a:rPr lang="en-US" sz="3200" dirty="0">
                <a:solidFill>
                  <a:srgbClr val="000000"/>
                </a:solidFill>
                <a:latin typeface="Times-Roman"/>
              </a:rPr>
              <a:t>3</a:t>
            </a:r>
            <a:r>
              <a:rPr lang="en-US" sz="3200" i="1" dirty="0">
                <a:solidFill>
                  <a:srgbClr val="000000"/>
                </a:solidFill>
                <a:latin typeface="Times-Italic"/>
              </a:rPr>
              <a:t>x</a:t>
            </a:r>
            <a:r>
              <a:rPr lang="en-US" sz="3200" dirty="0">
                <a:solidFill>
                  <a:srgbClr val="000000"/>
                </a:solidFill>
                <a:latin typeface="Times-Roman"/>
              </a:rPr>
              <a:t>2</a:t>
            </a:r>
            <a:r>
              <a:rPr lang="en-US" sz="3200" i="1" dirty="0">
                <a:solidFill>
                  <a:srgbClr val="000000"/>
                </a:solidFill>
                <a:latin typeface="Times-Italic"/>
              </a:rPr>
              <a:t>x</a:t>
            </a:r>
            <a:r>
              <a:rPr lang="en-US" sz="3200" dirty="0">
                <a:solidFill>
                  <a:srgbClr val="000000"/>
                </a:solidFill>
                <a:latin typeface="Times-Roman"/>
              </a:rPr>
              <a:t>1</a:t>
            </a:r>
            <a:r>
              <a:rPr lang="en-US" sz="3200" i="1" dirty="0">
                <a:solidFill>
                  <a:srgbClr val="000000"/>
                </a:solidFill>
                <a:latin typeface="Times-Italic"/>
              </a:rPr>
              <a:t>x</a:t>
            </a:r>
            <a:r>
              <a:rPr lang="en-US" sz="3200" dirty="0">
                <a:solidFill>
                  <a:srgbClr val="000000"/>
                </a:solidFill>
                <a:latin typeface="Times-Roman"/>
              </a:rPr>
              <a:t>0 and </a:t>
            </a:r>
            <a:r>
              <a:rPr lang="en-US" sz="3200" i="1" dirty="0">
                <a:solidFill>
                  <a:srgbClr val="000000"/>
                </a:solidFill>
                <a:latin typeface="Times-Italic"/>
              </a:rPr>
              <a:t>Y </a:t>
            </a:r>
            <a:r>
              <a:rPr lang="en-US" sz="3200" dirty="0">
                <a:solidFill>
                  <a:srgbClr val="000000"/>
                </a:solidFill>
                <a:latin typeface="MTSYN"/>
              </a:rPr>
              <a:t>= </a:t>
            </a:r>
            <a:r>
              <a:rPr lang="en-US" sz="3200" i="1" dirty="0">
                <a:solidFill>
                  <a:srgbClr val="000000"/>
                </a:solidFill>
                <a:latin typeface="Times-Italic"/>
              </a:rPr>
              <a:t>y</a:t>
            </a:r>
            <a:r>
              <a:rPr lang="en-US" sz="3200" dirty="0">
                <a:solidFill>
                  <a:srgbClr val="000000"/>
                </a:solidFill>
                <a:latin typeface="Times-Roman"/>
              </a:rPr>
              <a:t>3</a:t>
            </a:r>
            <a:r>
              <a:rPr lang="en-US" sz="3200" i="1" dirty="0">
                <a:solidFill>
                  <a:srgbClr val="000000"/>
                </a:solidFill>
                <a:latin typeface="Times-Italic"/>
              </a:rPr>
              <a:t>y</a:t>
            </a:r>
            <a:r>
              <a:rPr lang="en-US" sz="3200" dirty="0">
                <a:solidFill>
                  <a:srgbClr val="000000"/>
                </a:solidFill>
                <a:latin typeface="Times-Roman"/>
              </a:rPr>
              <a:t>2</a:t>
            </a:r>
            <a:r>
              <a:rPr lang="en-US" sz="3200" i="1" dirty="0">
                <a:solidFill>
                  <a:srgbClr val="000000"/>
                </a:solidFill>
                <a:latin typeface="Times-Italic"/>
              </a:rPr>
              <a:t>y</a:t>
            </a:r>
            <a:r>
              <a:rPr lang="en-US" sz="3200" dirty="0">
                <a:solidFill>
                  <a:srgbClr val="000000"/>
                </a:solidFill>
                <a:latin typeface="Times-Roman"/>
              </a:rPr>
              <a:t>1</a:t>
            </a:r>
            <a:r>
              <a:rPr lang="en-US" sz="3200" i="1" dirty="0">
                <a:solidFill>
                  <a:srgbClr val="000000"/>
                </a:solidFill>
                <a:latin typeface="Times-Italic"/>
              </a:rPr>
              <a:t>y</a:t>
            </a:r>
            <a:r>
              <a:rPr lang="en-US" sz="3200" dirty="0">
                <a:solidFill>
                  <a:srgbClr val="000000"/>
                </a:solidFill>
                <a:latin typeface="Times-Roman"/>
              </a:rPr>
              <a:t>0, can be compared by using the </a:t>
            </a:r>
            <a:r>
              <a:rPr lang="en-US" sz="3200" dirty="0" err="1">
                <a:solidFill>
                  <a:srgbClr val="000000"/>
                </a:solidFill>
                <a:latin typeface="Times-Roman"/>
              </a:rPr>
              <a:t>subtractor</a:t>
            </a:r>
            <a:r>
              <a:rPr lang="en-US" sz="3200" dirty="0">
                <a:solidFill>
                  <a:srgbClr val="000000"/>
                </a:solidFill>
                <a:latin typeface="Times-Roman"/>
              </a:rPr>
              <a:t> circuit.  The three outputs denote the</a:t>
            </a:r>
          </a:p>
          <a:p>
            <a:pPr algn="just"/>
            <a:r>
              <a:rPr lang="en-US" sz="3200" dirty="0">
                <a:solidFill>
                  <a:srgbClr val="000000"/>
                </a:solidFill>
                <a:latin typeface="Times-Roman"/>
              </a:rPr>
              <a:t>following:</a:t>
            </a:r>
          </a:p>
          <a:p>
            <a:pPr algn="just"/>
            <a:r>
              <a:rPr lang="en-US" sz="3200" dirty="0">
                <a:solidFill>
                  <a:srgbClr val="000000"/>
                </a:solidFill>
                <a:latin typeface="MTSYN"/>
              </a:rPr>
              <a:t>• </a:t>
            </a:r>
            <a:r>
              <a:rPr lang="en-US" sz="3200" i="1" dirty="0">
                <a:solidFill>
                  <a:srgbClr val="000000"/>
                </a:solidFill>
                <a:latin typeface="Times-Italic"/>
              </a:rPr>
              <a:t>Z </a:t>
            </a:r>
            <a:r>
              <a:rPr lang="en-US" sz="3200" dirty="0">
                <a:solidFill>
                  <a:srgbClr val="000000"/>
                </a:solidFill>
                <a:latin typeface="MTSYN"/>
              </a:rPr>
              <a:t>= </a:t>
            </a:r>
            <a:r>
              <a:rPr lang="en-US" sz="3200" dirty="0">
                <a:solidFill>
                  <a:srgbClr val="000000"/>
                </a:solidFill>
                <a:latin typeface="Times-Roman"/>
              </a:rPr>
              <a:t>1 if the result is 0; otherwise </a:t>
            </a:r>
            <a:r>
              <a:rPr lang="en-US" sz="3200" i="1" dirty="0">
                <a:solidFill>
                  <a:srgbClr val="000000"/>
                </a:solidFill>
                <a:latin typeface="Times-Italic"/>
              </a:rPr>
              <a:t>Z </a:t>
            </a:r>
            <a:r>
              <a:rPr lang="en-US" sz="3200" dirty="0">
                <a:solidFill>
                  <a:srgbClr val="000000"/>
                </a:solidFill>
                <a:latin typeface="MTSYN"/>
              </a:rPr>
              <a:t>= </a:t>
            </a:r>
            <a:r>
              <a:rPr lang="en-US" sz="3200" dirty="0">
                <a:solidFill>
                  <a:srgbClr val="000000"/>
                </a:solidFill>
                <a:latin typeface="Times-Roman"/>
              </a:rPr>
              <a:t>0</a:t>
            </a:r>
          </a:p>
          <a:p>
            <a:pPr algn="just"/>
            <a:r>
              <a:rPr lang="en-US" sz="3200" dirty="0">
                <a:solidFill>
                  <a:srgbClr val="000000"/>
                </a:solidFill>
                <a:latin typeface="MTSYN"/>
              </a:rPr>
              <a:t>• </a:t>
            </a:r>
            <a:r>
              <a:rPr lang="en-US" sz="3200" i="1" dirty="0">
                <a:solidFill>
                  <a:srgbClr val="000000"/>
                </a:solidFill>
                <a:latin typeface="Times-Italic"/>
              </a:rPr>
              <a:t>N </a:t>
            </a:r>
            <a:r>
              <a:rPr lang="en-US" sz="3200" dirty="0">
                <a:solidFill>
                  <a:srgbClr val="000000"/>
                </a:solidFill>
                <a:latin typeface="MTSYN"/>
              </a:rPr>
              <a:t>= </a:t>
            </a:r>
            <a:r>
              <a:rPr lang="en-US" sz="3200" dirty="0">
                <a:solidFill>
                  <a:srgbClr val="000000"/>
                </a:solidFill>
                <a:latin typeface="Times-Roman"/>
              </a:rPr>
              <a:t>1 if the result is negative; otherwise </a:t>
            </a:r>
            <a:r>
              <a:rPr lang="en-US" sz="3200" i="1" dirty="0">
                <a:solidFill>
                  <a:srgbClr val="000000"/>
                </a:solidFill>
                <a:latin typeface="Times-Italic"/>
              </a:rPr>
              <a:t>N </a:t>
            </a:r>
            <a:r>
              <a:rPr lang="en-US" sz="3200" dirty="0">
                <a:solidFill>
                  <a:srgbClr val="000000"/>
                </a:solidFill>
                <a:latin typeface="MTSYN"/>
              </a:rPr>
              <a:t>= </a:t>
            </a:r>
            <a:r>
              <a:rPr lang="en-US" sz="3200" dirty="0">
                <a:solidFill>
                  <a:srgbClr val="000000"/>
                </a:solidFill>
                <a:latin typeface="Times-Roman"/>
              </a:rPr>
              <a:t>0</a:t>
            </a:r>
          </a:p>
          <a:p>
            <a:pPr algn="just"/>
            <a:r>
              <a:rPr lang="en-US" sz="3200" dirty="0">
                <a:solidFill>
                  <a:srgbClr val="000000"/>
                </a:solidFill>
                <a:latin typeface="MTSYN"/>
              </a:rPr>
              <a:t>• </a:t>
            </a:r>
            <a:r>
              <a:rPr lang="en-US" sz="3200" i="1" dirty="0">
                <a:solidFill>
                  <a:srgbClr val="000000"/>
                </a:solidFill>
                <a:latin typeface="Times-Italic"/>
              </a:rPr>
              <a:t>V </a:t>
            </a:r>
            <a:r>
              <a:rPr lang="en-US" sz="3200" dirty="0">
                <a:solidFill>
                  <a:srgbClr val="000000"/>
                </a:solidFill>
                <a:latin typeface="MTSYN"/>
              </a:rPr>
              <a:t>= </a:t>
            </a:r>
            <a:r>
              <a:rPr lang="en-US" sz="3200" dirty="0">
                <a:solidFill>
                  <a:srgbClr val="000000"/>
                </a:solidFill>
                <a:latin typeface="Times-Roman"/>
              </a:rPr>
              <a:t>1 if arithmetic overflow occurs; otherwise </a:t>
            </a:r>
            <a:r>
              <a:rPr lang="en-US" sz="3200" i="1" dirty="0">
                <a:solidFill>
                  <a:srgbClr val="000000"/>
                </a:solidFill>
                <a:latin typeface="Times-Italic"/>
              </a:rPr>
              <a:t>V </a:t>
            </a:r>
            <a:r>
              <a:rPr lang="en-US" sz="3200" dirty="0">
                <a:solidFill>
                  <a:srgbClr val="000000"/>
                </a:solidFill>
                <a:latin typeface="MTSYN"/>
              </a:rPr>
              <a:t>= </a:t>
            </a:r>
            <a:r>
              <a:rPr lang="en-US" sz="3200" dirty="0">
                <a:solidFill>
                  <a:srgbClr val="000000"/>
                </a:solidFill>
                <a:latin typeface="Times-Roman"/>
              </a:rPr>
              <a:t>0</a:t>
            </a:r>
          </a:p>
          <a:p>
            <a:pPr algn="just"/>
            <a:r>
              <a:rPr lang="en-US" sz="3200" dirty="0">
                <a:solidFill>
                  <a:srgbClr val="000000"/>
                </a:solidFill>
                <a:latin typeface="Times-Roman"/>
              </a:rPr>
              <a:t>Show how </a:t>
            </a:r>
            <a:r>
              <a:rPr lang="en-US" sz="3200" i="1" dirty="0">
                <a:solidFill>
                  <a:srgbClr val="000000"/>
                </a:solidFill>
                <a:latin typeface="Times-Italic"/>
              </a:rPr>
              <a:t>Z</a:t>
            </a:r>
            <a:r>
              <a:rPr lang="en-US" sz="3200" dirty="0">
                <a:solidFill>
                  <a:srgbClr val="000000"/>
                </a:solidFill>
                <a:latin typeface="Times-Roman"/>
              </a:rPr>
              <a:t>, </a:t>
            </a:r>
            <a:r>
              <a:rPr lang="en-US" sz="3200" i="1" dirty="0">
                <a:solidFill>
                  <a:srgbClr val="000000"/>
                </a:solidFill>
                <a:latin typeface="Times-Italic"/>
              </a:rPr>
              <a:t>N</a:t>
            </a:r>
            <a:r>
              <a:rPr lang="en-US" sz="3200" dirty="0">
                <a:solidFill>
                  <a:srgbClr val="000000"/>
                </a:solidFill>
                <a:latin typeface="Times-Roman"/>
              </a:rPr>
              <a:t>, and </a:t>
            </a:r>
            <a:r>
              <a:rPr lang="en-US" sz="3200" i="1" dirty="0">
                <a:solidFill>
                  <a:srgbClr val="000000"/>
                </a:solidFill>
                <a:latin typeface="Times-Italic"/>
              </a:rPr>
              <a:t>V </a:t>
            </a:r>
            <a:r>
              <a:rPr lang="en-US" sz="3200" dirty="0">
                <a:solidFill>
                  <a:srgbClr val="000000"/>
                </a:solidFill>
                <a:latin typeface="Times-Roman"/>
              </a:rPr>
              <a:t>can be used to determine the cases </a:t>
            </a:r>
            <a:r>
              <a:rPr lang="en-US" sz="3200" i="1" dirty="0">
                <a:solidFill>
                  <a:srgbClr val="000000"/>
                </a:solidFill>
                <a:latin typeface="Times-Italic"/>
              </a:rPr>
              <a:t>X </a:t>
            </a:r>
            <a:r>
              <a:rPr lang="en-US" sz="3200" dirty="0">
                <a:solidFill>
                  <a:srgbClr val="000000"/>
                </a:solidFill>
                <a:latin typeface="MTSYN"/>
              </a:rPr>
              <a:t>= </a:t>
            </a:r>
            <a:r>
              <a:rPr lang="en-US" sz="3200" i="1" dirty="0">
                <a:solidFill>
                  <a:srgbClr val="000000"/>
                </a:solidFill>
                <a:latin typeface="Times-Italic"/>
              </a:rPr>
              <a:t>Y </a:t>
            </a:r>
            <a:r>
              <a:rPr lang="en-US" sz="3200" dirty="0">
                <a:solidFill>
                  <a:srgbClr val="000000"/>
                </a:solidFill>
                <a:latin typeface="Times-Roman"/>
              </a:rPr>
              <a:t>, </a:t>
            </a:r>
            <a:r>
              <a:rPr lang="en-US" sz="3200" i="1" dirty="0">
                <a:solidFill>
                  <a:srgbClr val="000000"/>
                </a:solidFill>
                <a:latin typeface="Times-Italic"/>
              </a:rPr>
              <a:t>X </a:t>
            </a:r>
            <a:r>
              <a:rPr lang="en-US" sz="3200" i="1" dirty="0">
                <a:solidFill>
                  <a:srgbClr val="000000"/>
                </a:solidFill>
                <a:latin typeface="MTMI"/>
              </a:rPr>
              <a:t>&lt; </a:t>
            </a:r>
            <a:r>
              <a:rPr lang="en-US" sz="3200" i="1" dirty="0">
                <a:solidFill>
                  <a:srgbClr val="000000"/>
                </a:solidFill>
                <a:latin typeface="Times-Italic"/>
              </a:rPr>
              <a:t>Y </a:t>
            </a:r>
            <a:r>
              <a:rPr lang="en-US" sz="3200" dirty="0">
                <a:solidFill>
                  <a:srgbClr val="000000"/>
                </a:solidFill>
                <a:latin typeface="Times-Roman"/>
              </a:rPr>
              <a:t>, </a:t>
            </a:r>
            <a:r>
              <a:rPr lang="en-US" sz="3200" i="1" dirty="0">
                <a:solidFill>
                  <a:srgbClr val="000000"/>
                </a:solidFill>
                <a:latin typeface="Times-Italic"/>
              </a:rPr>
              <a:t>X </a:t>
            </a:r>
            <a:r>
              <a:rPr lang="en-US" sz="3200" dirty="0">
                <a:solidFill>
                  <a:srgbClr val="000000"/>
                </a:solidFill>
                <a:latin typeface="MTSYN"/>
              </a:rPr>
              <a:t>≤ </a:t>
            </a:r>
            <a:r>
              <a:rPr lang="en-US" sz="3200" i="1" dirty="0">
                <a:solidFill>
                  <a:srgbClr val="000000"/>
                </a:solidFill>
                <a:latin typeface="Times-Italic"/>
              </a:rPr>
              <a:t>Y </a:t>
            </a:r>
            <a:r>
              <a:rPr lang="en-US" sz="3200" dirty="0">
                <a:solidFill>
                  <a:srgbClr val="000000"/>
                </a:solidFill>
                <a:latin typeface="Times-Roman"/>
              </a:rPr>
              <a:t>, </a:t>
            </a:r>
            <a:r>
              <a:rPr lang="en-US" sz="3200" i="1" dirty="0">
                <a:solidFill>
                  <a:srgbClr val="000000"/>
                </a:solidFill>
                <a:latin typeface="Times-Italic"/>
              </a:rPr>
              <a:t>X </a:t>
            </a:r>
            <a:r>
              <a:rPr lang="en-US" sz="3200" i="1" dirty="0">
                <a:solidFill>
                  <a:srgbClr val="000000"/>
                </a:solidFill>
                <a:latin typeface="MTMI"/>
              </a:rPr>
              <a:t>&gt; </a:t>
            </a:r>
            <a:r>
              <a:rPr lang="en-US" sz="3200" i="1" dirty="0">
                <a:solidFill>
                  <a:srgbClr val="000000"/>
                </a:solidFill>
                <a:latin typeface="Times-Italic"/>
              </a:rPr>
              <a:t>Y </a:t>
            </a:r>
            <a:r>
              <a:rPr lang="en-US" sz="3200" dirty="0">
                <a:solidFill>
                  <a:srgbClr val="000000"/>
                </a:solidFill>
                <a:latin typeface="Times-Roman"/>
              </a:rPr>
              <a:t>, and </a:t>
            </a:r>
            <a:r>
              <a:rPr lang="en-US" sz="3200" i="1" dirty="0">
                <a:solidFill>
                  <a:srgbClr val="000000"/>
                </a:solidFill>
                <a:latin typeface="Times-Italic"/>
              </a:rPr>
              <a:t>X </a:t>
            </a:r>
            <a:r>
              <a:rPr lang="en-US" sz="3200" dirty="0">
                <a:solidFill>
                  <a:srgbClr val="000000"/>
                </a:solidFill>
                <a:latin typeface="MTSYN"/>
              </a:rPr>
              <a:t>≥ </a:t>
            </a:r>
            <a:r>
              <a:rPr lang="en-US" sz="3200" i="1" dirty="0">
                <a:solidFill>
                  <a:srgbClr val="000000"/>
                </a:solidFill>
                <a:latin typeface="Times-Italic"/>
              </a:rPr>
              <a:t>Y</a:t>
            </a:r>
            <a:r>
              <a:rPr lang="en-US" sz="3200" dirty="0">
                <a:solidFill>
                  <a:srgbClr val="000000"/>
                </a:solidFill>
                <a:latin typeface="Times-Roman"/>
              </a:rPr>
              <a:t>.</a:t>
            </a:r>
            <a:endParaRPr lang="en-US" sz="3200" dirty="0"/>
          </a:p>
        </p:txBody>
      </p:sp>
      <p:sp>
        <p:nvSpPr>
          <p:cNvPr id="3" name="Rectangle 2">
            <a:extLst>
              <a:ext uri="{FF2B5EF4-FFF2-40B4-BE49-F238E27FC236}">
                <a16:creationId xmlns:a16="http://schemas.microsoft.com/office/drawing/2014/main" id="{1D1BB2B9-B2C6-F2DE-C96F-D1DD5B78C752}"/>
              </a:ext>
            </a:extLst>
          </p:cNvPr>
          <p:cNvSpPr/>
          <p:nvPr/>
        </p:nvSpPr>
        <p:spPr>
          <a:xfrm>
            <a:off x="220994" y="225091"/>
            <a:ext cx="8145083" cy="523220"/>
          </a:xfrm>
          <a:prstGeom prst="rect">
            <a:avLst/>
          </a:prstGeom>
        </p:spPr>
        <p:txBody>
          <a:bodyPr wrap="square">
            <a:spAutoFit/>
          </a:bodyPr>
          <a:lstStyle/>
          <a:p>
            <a:r>
              <a:rPr lang="en-US" sz="2800" b="1" dirty="0">
                <a:latin typeface="Times-BoldSC"/>
              </a:rPr>
              <a:t>Arithmetic Comparison Circuits (signed)</a:t>
            </a:r>
            <a:endParaRPr lang="en-US" sz="2800" dirty="0"/>
          </a:p>
        </p:txBody>
      </p:sp>
    </p:spTree>
    <p:extLst>
      <p:ext uri="{BB962C8B-B14F-4D97-AF65-F5344CB8AC3E}">
        <p14:creationId xmlns:p14="http://schemas.microsoft.com/office/powerpoint/2010/main" val="2137721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55845" y="832514"/>
            <a:ext cx="8791220" cy="5369544"/>
          </a:xfrm>
          <a:prstGeom prst="rect">
            <a:avLst/>
          </a:prstGeom>
        </p:spPr>
      </p:pic>
    </p:spTree>
    <p:extLst>
      <p:ext uri="{BB962C8B-B14F-4D97-AF65-F5344CB8AC3E}">
        <p14:creationId xmlns:p14="http://schemas.microsoft.com/office/powerpoint/2010/main" val="3441805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696" y="498103"/>
            <a:ext cx="10017457" cy="5693866"/>
          </a:xfrm>
          <a:prstGeom prst="rect">
            <a:avLst/>
          </a:prstGeom>
        </p:spPr>
        <p:txBody>
          <a:bodyPr wrap="square">
            <a:spAutoFit/>
          </a:bodyPr>
          <a:lstStyle/>
          <a:p>
            <a:pPr algn="just"/>
            <a:r>
              <a:rPr lang="en-US" sz="2800" dirty="0">
                <a:latin typeface="Times-Roman"/>
              </a:rPr>
              <a:t>Consider first the case </a:t>
            </a:r>
            <a:r>
              <a:rPr lang="en-US" sz="2800" i="1" dirty="0">
                <a:latin typeface="Times-Italic"/>
              </a:rPr>
              <a:t>X </a:t>
            </a:r>
            <a:r>
              <a:rPr lang="en-US" sz="2800" i="1" dirty="0">
                <a:latin typeface="MTMI"/>
              </a:rPr>
              <a:t>&lt; </a:t>
            </a:r>
            <a:r>
              <a:rPr lang="en-US" sz="2800" i="1" dirty="0">
                <a:latin typeface="Times-Italic"/>
              </a:rPr>
              <a:t>Y </a:t>
            </a:r>
            <a:r>
              <a:rPr lang="en-US" sz="2800" dirty="0">
                <a:latin typeface="Times-Roman"/>
              </a:rPr>
              <a:t>, where the following possibilities may arise:</a:t>
            </a:r>
          </a:p>
          <a:p>
            <a:pPr algn="just"/>
            <a:r>
              <a:rPr lang="en-US" sz="2800" dirty="0">
                <a:latin typeface="MTSYN"/>
              </a:rPr>
              <a:t>• </a:t>
            </a:r>
            <a:r>
              <a:rPr lang="en-US" sz="2800" dirty="0">
                <a:latin typeface="Times-Roman"/>
              </a:rPr>
              <a:t>If </a:t>
            </a:r>
            <a:r>
              <a:rPr lang="en-US" sz="2800" i="1" dirty="0">
                <a:latin typeface="Times-Italic"/>
              </a:rPr>
              <a:t>X </a:t>
            </a:r>
            <a:r>
              <a:rPr lang="en-US" sz="2800" dirty="0">
                <a:latin typeface="Times-Roman"/>
              </a:rPr>
              <a:t>and </a:t>
            </a:r>
            <a:r>
              <a:rPr lang="en-US" sz="2800" i="1" dirty="0">
                <a:latin typeface="Times-Italic"/>
              </a:rPr>
              <a:t>Y </a:t>
            </a:r>
            <a:r>
              <a:rPr lang="en-US" sz="2800" dirty="0">
                <a:latin typeface="Times-Roman"/>
              </a:rPr>
              <a:t>have the same sign there will be no overflow, hence </a:t>
            </a:r>
            <a:r>
              <a:rPr lang="en-US" sz="2800" i="1" dirty="0">
                <a:latin typeface="Times-Italic"/>
              </a:rPr>
              <a:t>V </a:t>
            </a:r>
            <a:r>
              <a:rPr lang="en-US" sz="2800" dirty="0">
                <a:latin typeface="MTSYN"/>
              </a:rPr>
              <a:t>= </a:t>
            </a:r>
            <a:r>
              <a:rPr lang="en-US" sz="2800" dirty="0">
                <a:latin typeface="Times-Roman"/>
              </a:rPr>
              <a:t>0. Then for both positive and negative </a:t>
            </a:r>
            <a:r>
              <a:rPr lang="en-US" sz="2800" i="1" dirty="0">
                <a:latin typeface="Times-Italic"/>
              </a:rPr>
              <a:t>X </a:t>
            </a:r>
            <a:r>
              <a:rPr lang="en-US" sz="2800" dirty="0">
                <a:latin typeface="Times-Roman"/>
              </a:rPr>
              <a:t>and </a:t>
            </a:r>
            <a:r>
              <a:rPr lang="en-US" sz="2800" i="1" dirty="0">
                <a:latin typeface="Times-Italic"/>
              </a:rPr>
              <a:t>Y </a:t>
            </a:r>
            <a:r>
              <a:rPr lang="en-US" sz="2800" dirty="0">
                <a:latin typeface="Times-Roman"/>
              </a:rPr>
              <a:t>the difference will be negative (</a:t>
            </a:r>
            <a:r>
              <a:rPr lang="en-US" sz="2800" i="1" dirty="0">
                <a:latin typeface="Times-Italic"/>
              </a:rPr>
              <a:t>N </a:t>
            </a:r>
            <a:r>
              <a:rPr lang="en-US" sz="2800" dirty="0">
                <a:latin typeface="MTSYN"/>
              </a:rPr>
              <a:t>= </a:t>
            </a:r>
            <a:r>
              <a:rPr lang="en-US" sz="2800" dirty="0">
                <a:latin typeface="Times-Roman"/>
              </a:rPr>
              <a:t>1).</a:t>
            </a:r>
          </a:p>
          <a:p>
            <a:pPr algn="just"/>
            <a:r>
              <a:rPr lang="en-US" sz="2800" dirty="0">
                <a:latin typeface="MTSYN"/>
              </a:rPr>
              <a:t>• </a:t>
            </a:r>
            <a:r>
              <a:rPr lang="en-US" sz="2800" dirty="0">
                <a:latin typeface="Times-Roman"/>
              </a:rPr>
              <a:t>If </a:t>
            </a:r>
            <a:r>
              <a:rPr lang="en-US" sz="2800" i="1" dirty="0">
                <a:latin typeface="Times-Italic"/>
              </a:rPr>
              <a:t>X </a:t>
            </a:r>
            <a:r>
              <a:rPr lang="en-US" sz="2800" dirty="0">
                <a:latin typeface="Times-Roman"/>
              </a:rPr>
              <a:t>is negative and </a:t>
            </a:r>
            <a:r>
              <a:rPr lang="en-US" sz="2800" i="1" dirty="0">
                <a:latin typeface="Times-Italic"/>
              </a:rPr>
              <a:t>Y </a:t>
            </a:r>
            <a:r>
              <a:rPr lang="en-US" sz="2800" dirty="0">
                <a:latin typeface="Times-Roman"/>
              </a:rPr>
              <a:t>is positive, the difference will be negative (</a:t>
            </a:r>
            <a:r>
              <a:rPr lang="en-US" sz="2800" i="1" dirty="0">
                <a:latin typeface="Times-Italic"/>
              </a:rPr>
              <a:t>N </a:t>
            </a:r>
            <a:r>
              <a:rPr lang="en-US" sz="2800" dirty="0">
                <a:latin typeface="MTSYN"/>
              </a:rPr>
              <a:t>= </a:t>
            </a:r>
            <a:r>
              <a:rPr lang="en-US" sz="2800" dirty="0">
                <a:latin typeface="Times-Roman"/>
              </a:rPr>
              <a:t>1) if there is no overflow (</a:t>
            </a:r>
            <a:r>
              <a:rPr lang="en-US" sz="2800" i="1" dirty="0">
                <a:latin typeface="Times-Italic"/>
              </a:rPr>
              <a:t>V </a:t>
            </a:r>
            <a:r>
              <a:rPr lang="en-US" sz="2800" dirty="0">
                <a:latin typeface="MTSYN"/>
              </a:rPr>
              <a:t>= </a:t>
            </a:r>
            <a:r>
              <a:rPr lang="en-US" sz="2800" dirty="0">
                <a:latin typeface="Times-Roman"/>
              </a:rPr>
              <a:t>0); but the result will be positive (</a:t>
            </a:r>
            <a:r>
              <a:rPr lang="en-US" sz="2800" i="1" dirty="0">
                <a:latin typeface="Times-Italic"/>
              </a:rPr>
              <a:t>N </a:t>
            </a:r>
            <a:r>
              <a:rPr lang="en-US" sz="2800" dirty="0">
                <a:latin typeface="MTSYN"/>
              </a:rPr>
              <a:t>= </a:t>
            </a:r>
            <a:r>
              <a:rPr lang="en-US" sz="2800" dirty="0">
                <a:latin typeface="Times-Roman"/>
              </a:rPr>
              <a:t>0) if there is overflow (</a:t>
            </a:r>
            <a:r>
              <a:rPr lang="en-US" sz="2800" i="1" dirty="0">
                <a:latin typeface="Times-Italic"/>
              </a:rPr>
              <a:t>V </a:t>
            </a:r>
            <a:r>
              <a:rPr lang="en-US" sz="2800" dirty="0">
                <a:latin typeface="MTSYN"/>
              </a:rPr>
              <a:t>= </a:t>
            </a:r>
            <a:r>
              <a:rPr lang="en-US" sz="2800" dirty="0">
                <a:latin typeface="Times-Roman"/>
              </a:rPr>
              <a:t>1).</a:t>
            </a:r>
          </a:p>
          <a:p>
            <a:pPr algn="just"/>
            <a:r>
              <a:rPr lang="en-US" sz="2800" dirty="0">
                <a:latin typeface="Times-Roman"/>
              </a:rPr>
              <a:t>Therefore, if </a:t>
            </a:r>
            <a:r>
              <a:rPr lang="en-US" sz="2800" i="1" dirty="0">
                <a:latin typeface="Times-Italic"/>
              </a:rPr>
              <a:t>X </a:t>
            </a:r>
            <a:r>
              <a:rPr lang="en-US" sz="2800" i="1" dirty="0">
                <a:latin typeface="MTMI"/>
              </a:rPr>
              <a:t>&lt; </a:t>
            </a:r>
            <a:r>
              <a:rPr lang="en-US" sz="2800" i="1" dirty="0">
                <a:latin typeface="Times-Italic"/>
              </a:rPr>
              <a:t>Y </a:t>
            </a:r>
            <a:r>
              <a:rPr lang="en-US" sz="2800" dirty="0">
                <a:latin typeface="Times-Roman"/>
              </a:rPr>
              <a:t>then </a:t>
            </a:r>
            <a:r>
              <a:rPr lang="en-US" sz="2800" i="1" dirty="0">
                <a:latin typeface="Times-Italic"/>
              </a:rPr>
              <a:t>N </a:t>
            </a:r>
            <a:r>
              <a:rPr lang="en-US" sz="2800" dirty="0">
                <a:latin typeface="MTSYN"/>
              </a:rPr>
              <a:t>⊕ </a:t>
            </a:r>
            <a:r>
              <a:rPr lang="en-US" sz="2800" i="1" dirty="0">
                <a:latin typeface="Times-Italic"/>
              </a:rPr>
              <a:t>V </a:t>
            </a:r>
            <a:r>
              <a:rPr lang="en-US" sz="2800" dirty="0">
                <a:latin typeface="MTSYN"/>
              </a:rPr>
              <a:t>= </a:t>
            </a:r>
            <a:r>
              <a:rPr lang="en-US" sz="2800" dirty="0">
                <a:latin typeface="Times-Roman"/>
              </a:rPr>
              <a:t>1.</a:t>
            </a:r>
          </a:p>
          <a:p>
            <a:pPr algn="just"/>
            <a:r>
              <a:rPr lang="en-US" sz="2800" dirty="0">
                <a:latin typeface="Times-Roman"/>
              </a:rPr>
              <a:t>The case </a:t>
            </a:r>
            <a:r>
              <a:rPr lang="en-US" sz="2800" i="1" dirty="0">
                <a:latin typeface="Times-Italic"/>
              </a:rPr>
              <a:t>X </a:t>
            </a:r>
            <a:r>
              <a:rPr lang="en-US" sz="2800" dirty="0">
                <a:latin typeface="MTSYN"/>
              </a:rPr>
              <a:t>= </a:t>
            </a:r>
            <a:r>
              <a:rPr lang="en-US" sz="2800" i="1" dirty="0">
                <a:latin typeface="Times-Italic"/>
              </a:rPr>
              <a:t>Y </a:t>
            </a:r>
            <a:r>
              <a:rPr lang="en-US" sz="2800" dirty="0">
                <a:latin typeface="Times-Roman"/>
              </a:rPr>
              <a:t>is detected by </a:t>
            </a:r>
            <a:r>
              <a:rPr lang="en-US" sz="2800" i="1" dirty="0">
                <a:latin typeface="Times-Italic"/>
              </a:rPr>
              <a:t>Z </a:t>
            </a:r>
            <a:r>
              <a:rPr lang="en-US" sz="2800" dirty="0">
                <a:latin typeface="MTSYN"/>
              </a:rPr>
              <a:t>= </a:t>
            </a:r>
            <a:r>
              <a:rPr lang="en-US" sz="2800" dirty="0">
                <a:latin typeface="Times-Roman"/>
              </a:rPr>
              <a:t>1. Then, </a:t>
            </a:r>
            <a:r>
              <a:rPr lang="en-US" sz="2800" i="1" dirty="0">
                <a:latin typeface="Times-Italic"/>
              </a:rPr>
              <a:t>X </a:t>
            </a:r>
            <a:r>
              <a:rPr lang="en-US" sz="2800" dirty="0">
                <a:latin typeface="MTSYN"/>
              </a:rPr>
              <a:t>≤ </a:t>
            </a:r>
            <a:r>
              <a:rPr lang="en-US" sz="2800" i="1" dirty="0">
                <a:latin typeface="Times-Italic"/>
              </a:rPr>
              <a:t>Y </a:t>
            </a:r>
            <a:r>
              <a:rPr lang="en-US" sz="2800" dirty="0">
                <a:latin typeface="Times-Roman"/>
              </a:rPr>
              <a:t>is detected by </a:t>
            </a:r>
            <a:r>
              <a:rPr lang="en-US" sz="2800" i="1" dirty="0">
                <a:latin typeface="Times-Italic"/>
              </a:rPr>
              <a:t>Z </a:t>
            </a:r>
            <a:r>
              <a:rPr lang="en-US" sz="2800" dirty="0">
                <a:latin typeface="MTSYN"/>
              </a:rPr>
              <a:t>+ </a:t>
            </a:r>
            <a:r>
              <a:rPr lang="en-US" sz="2800" i="1" dirty="0">
                <a:latin typeface="MTMI"/>
              </a:rPr>
              <a:t>(</a:t>
            </a:r>
            <a:r>
              <a:rPr lang="en-US" sz="2800" i="1" dirty="0">
                <a:latin typeface="Times-Italic"/>
              </a:rPr>
              <a:t>N </a:t>
            </a:r>
            <a:r>
              <a:rPr lang="en-US" sz="2800" dirty="0">
                <a:latin typeface="MTSYN"/>
              </a:rPr>
              <a:t>⊕ </a:t>
            </a:r>
            <a:r>
              <a:rPr lang="en-US" sz="2800" i="1" dirty="0">
                <a:latin typeface="Times-Italic"/>
              </a:rPr>
              <a:t>V</a:t>
            </a:r>
            <a:r>
              <a:rPr lang="en-US" sz="2800" i="1" dirty="0">
                <a:latin typeface="MTMI"/>
              </a:rPr>
              <a:t>) </a:t>
            </a:r>
            <a:r>
              <a:rPr lang="en-US" sz="2800" dirty="0">
                <a:latin typeface="MTSYN"/>
              </a:rPr>
              <a:t>= </a:t>
            </a:r>
            <a:r>
              <a:rPr lang="en-US" sz="2800" dirty="0">
                <a:latin typeface="Times-Roman"/>
              </a:rPr>
              <a:t>1.</a:t>
            </a:r>
          </a:p>
          <a:p>
            <a:pPr algn="just"/>
            <a:r>
              <a:rPr lang="en-US" sz="2800" i="1" dirty="0">
                <a:latin typeface="Times-Italic"/>
              </a:rPr>
              <a:t>X </a:t>
            </a:r>
            <a:r>
              <a:rPr lang="en-US" sz="2800" i="1" dirty="0">
                <a:latin typeface="MTMI"/>
              </a:rPr>
              <a:t>&gt; </a:t>
            </a:r>
            <a:r>
              <a:rPr lang="en-US" sz="2800" i="1" dirty="0">
                <a:latin typeface="Times-Italic"/>
              </a:rPr>
              <a:t>Y </a:t>
            </a:r>
            <a:r>
              <a:rPr lang="en-US" sz="2800" dirty="0">
                <a:latin typeface="Times-Roman"/>
              </a:rPr>
              <a:t>if (</a:t>
            </a:r>
            <a:r>
              <a:rPr lang="en-US" sz="2800" i="1" dirty="0">
                <a:latin typeface="Times-Italic"/>
              </a:rPr>
              <a:t>Z </a:t>
            </a:r>
            <a:r>
              <a:rPr lang="en-US" sz="2800" dirty="0">
                <a:latin typeface="MTSYN"/>
              </a:rPr>
              <a:t>+ </a:t>
            </a:r>
            <a:r>
              <a:rPr lang="en-US" sz="2800" i="1" dirty="0">
                <a:latin typeface="MTMI"/>
              </a:rPr>
              <a:t>(</a:t>
            </a:r>
            <a:r>
              <a:rPr lang="en-US" sz="2800" i="1" dirty="0">
                <a:latin typeface="Times-Italic"/>
              </a:rPr>
              <a:t>N </a:t>
            </a:r>
            <a:r>
              <a:rPr lang="en-US" sz="2800" dirty="0">
                <a:latin typeface="MTSYN"/>
              </a:rPr>
              <a:t>⊕ </a:t>
            </a:r>
            <a:r>
              <a:rPr lang="en-US" sz="2800" i="1" dirty="0">
                <a:latin typeface="Times-Italic"/>
              </a:rPr>
              <a:t>V</a:t>
            </a:r>
            <a:r>
              <a:rPr lang="en-US" sz="2800" i="1" dirty="0">
                <a:latin typeface="MTMI"/>
              </a:rPr>
              <a:t>))’ </a:t>
            </a:r>
            <a:r>
              <a:rPr lang="en-US" sz="2800" dirty="0">
                <a:latin typeface="MTSYN"/>
              </a:rPr>
              <a:t>= </a:t>
            </a:r>
            <a:r>
              <a:rPr lang="en-US" sz="2800" dirty="0">
                <a:latin typeface="Times-Roman"/>
              </a:rPr>
              <a:t>1 </a:t>
            </a:r>
          </a:p>
          <a:p>
            <a:pPr algn="just"/>
            <a:r>
              <a:rPr lang="en-US" sz="2800" i="1" dirty="0">
                <a:latin typeface="Times-Italic"/>
              </a:rPr>
              <a:t>X </a:t>
            </a:r>
            <a:r>
              <a:rPr lang="en-US" sz="2800" dirty="0">
                <a:latin typeface="MTSYN"/>
              </a:rPr>
              <a:t>≥ </a:t>
            </a:r>
            <a:r>
              <a:rPr lang="en-US" sz="2800" i="1" dirty="0">
                <a:latin typeface="Times-Italic"/>
              </a:rPr>
              <a:t>Y </a:t>
            </a:r>
            <a:r>
              <a:rPr lang="en-US" sz="2800" dirty="0">
                <a:latin typeface="Times-Roman"/>
              </a:rPr>
              <a:t>if (</a:t>
            </a:r>
            <a:r>
              <a:rPr lang="en-US" sz="2800" i="1" dirty="0">
                <a:latin typeface="Times-Italic"/>
              </a:rPr>
              <a:t>N </a:t>
            </a:r>
            <a:r>
              <a:rPr lang="en-US" sz="2800" dirty="0">
                <a:latin typeface="MTSYN"/>
              </a:rPr>
              <a:t>⊕ </a:t>
            </a:r>
            <a:r>
              <a:rPr lang="en-US" sz="2800" i="1" dirty="0">
                <a:latin typeface="Times-Italic"/>
              </a:rPr>
              <a:t>V)’ </a:t>
            </a:r>
            <a:r>
              <a:rPr lang="en-US" sz="2800" dirty="0">
                <a:latin typeface="MTSYN"/>
              </a:rPr>
              <a:t>= </a:t>
            </a:r>
            <a:r>
              <a:rPr lang="en-US" sz="2800" dirty="0">
                <a:latin typeface="Times-Roman"/>
              </a:rPr>
              <a:t>1.</a:t>
            </a:r>
            <a:endParaRPr lang="en-US" sz="2800" dirty="0"/>
          </a:p>
        </p:txBody>
      </p:sp>
    </p:spTree>
    <p:extLst>
      <p:ext uri="{BB962C8B-B14F-4D97-AF65-F5344CB8AC3E}">
        <p14:creationId xmlns:p14="http://schemas.microsoft.com/office/powerpoint/2010/main" val="247749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A2A597-AEDA-7F50-A305-B0EFD7881F22}"/>
              </a:ext>
            </a:extLst>
          </p:cNvPr>
          <p:cNvSpPr txBox="1"/>
          <p:nvPr/>
        </p:nvSpPr>
        <p:spPr>
          <a:xfrm>
            <a:off x="965200" y="355600"/>
            <a:ext cx="8178800" cy="1754326"/>
          </a:xfrm>
          <a:prstGeom prst="rect">
            <a:avLst/>
          </a:prstGeom>
          <a:noFill/>
        </p:spPr>
        <p:txBody>
          <a:bodyPr wrap="square">
            <a:spAutoFit/>
          </a:bodyPr>
          <a:lstStyle/>
          <a:p>
            <a:r>
              <a:rPr lang="en-US" dirty="0"/>
              <a:t>In 2’s complement representation, the most significant bit (MSB) is used as the sign bit:0 = positive1 = </a:t>
            </a:r>
            <a:r>
              <a:rPr lang="en-US" dirty="0" err="1"/>
              <a:t>negativeFor</a:t>
            </a:r>
            <a:r>
              <a:rPr lang="en-US" dirty="0"/>
              <a:t> 4-bit numbers, we have 2⁴ = 16 possible binary combinations (from 0000 to 1111).</a:t>
            </a:r>
          </a:p>
          <a:p>
            <a:endParaRPr lang="en-US" dirty="0"/>
          </a:p>
          <a:p>
            <a:endParaRPr lang="en-US" dirty="0"/>
          </a:p>
          <a:p>
            <a:endParaRPr lang="en-IN" dirty="0"/>
          </a:p>
        </p:txBody>
      </p:sp>
      <p:pic>
        <p:nvPicPr>
          <p:cNvPr id="5" name="Picture 4">
            <a:extLst>
              <a:ext uri="{FF2B5EF4-FFF2-40B4-BE49-F238E27FC236}">
                <a16:creationId xmlns:a16="http://schemas.microsoft.com/office/drawing/2014/main" id="{586FFDED-3C73-DD34-4967-7C0257248E3B}"/>
              </a:ext>
            </a:extLst>
          </p:cNvPr>
          <p:cNvPicPr>
            <a:picLocks noChangeAspect="1"/>
          </p:cNvPicPr>
          <p:nvPr/>
        </p:nvPicPr>
        <p:blipFill>
          <a:blip r:embed="rId2"/>
          <a:stretch>
            <a:fillRect/>
          </a:stretch>
        </p:blipFill>
        <p:spPr>
          <a:xfrm>
            <a:off x="378841" y="1569073"/>
            <a:ext cx="8183117" cy="4715533"/>
          </a:xfrm>
          <a:prstGeom prst="rect">
            <a:avLst/>
          </a:prstGeom>
        </p:spPr>
      </p:pic>
    </p:spTree>
    <p:extLst>
      <p:ext uri="{BB962C8B-B14F-4D97-AF65-F5344CB8AC3E}">
        <p14:creationId xmlns:p14="http://schemas.microsoft.com/office/powerpoint/2010/main" val="158183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6EAF94-6E77-32AB-2054-816C4B923BEF}"/>
              </a:ext>
            </a:extLst>
          </p:cNvPr>
          <p:cNvPicPr>
            <a:picLocks noChangeAspect="1"/>
          </p:cNvPicPr>
          <p:nvPr/>
        </p:nvPicPr>
        <p:blipFill>
          <a:blip r:embed="rId2"/>
          <a:stretch>
            <a:fillRect/>
          </a:stretch>
        </p:blipFill>
        <p:spPr>
          <a:xfrm>
            <a:off x="2214021" y="1071233"/>
            <a:ext cx="7763958" cy="4715533"/>
          </a:xfrm>
          <a:prstGeom prst="rect">
            <a:avLst/>
          </a:prstGeom>
        </p:spPr>
      </p:pic>
    </p:spTree>
    <p:extLst>
      <p:ext uri="{BB962C8B-B14F-4D97-AF65-F5344CB8AC3E}">
        <p14:creationId xmlns:p14="http://schemas.microsoft.com/office/powerpoint/2010/main" val="1705304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7D7302-8602-7757-9CD7-26796836D1FE}"/>
              </a:ext>
            </a:extLst>
          </p:cNvPr>
          <p:cNvSpPr txBox="1"/>
          <p:nvPr/>
        </p:nvSpPr>
        <p:spPr>
          <a:xfrm>
            <a:off x="1611018" y="182881"/>
            <a:ext cx="7843520" cy="4801314"/>
          </a:xfrm>
          <a:prstGeom prst="rect">
            <a:avLst/>
          </a:prstGeom>
          <a:noFill/>
        </p:spPr>
        <p:txBody>
          <a:bodyPr wrap="square">
            <a:spAutoFit/>
          </a:bodyPr>
          <a:lstStyle/>
          <a:p>
            <a:pPr>
              <a:buNone/>
            </a:pPr>
            <a:r>
              <a:rPr lang="en-US" b="1" dirty="0"/>
              <a:t>Signed 4-bit range</a:t>
            </a:r>
            <a:r>
              <a:rPr lang="en-US" dirty="0"/>
              <a:t> (2's complement):</a:t>
            </a:r>
          </a:p>
          <a:p>
            <a:pPr>
              <a:buNone/>
            </a:pPr>
            <a:r>
              <a:rPr lang="en-US" dirty="0"/>
              <a:t>−8 to +7</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IN" dirty="0"/>
          </a:p>
        </p:txBody>
      </p:sp>
      <p:pic>
        <p:nvPicPr>
          <p:cNvPr id="9" name="Picture 8">
            <a:extLst>
              <a:ext uri="{FF2B5EF4-FFF2-40B4-BE49-F238E27FC236}">
                <a16:creationId xmlns:a16="http://schemas.microsoft.com/office/drawing/2014/main" id="{21B626A8-E50B-70DF-7AE0-01A1B5929F35}"/>
              </a:ext>
            </a:extLst>
          </p:cNvPr>
          <p:cNvPicPr>
            <a:picLocks noChangeAspect="1"/>
          </p:cNvPicPr>
          <p:nvPr/>
        </p:nvPicPr>
        <p:blipFill>
          <a:blip r:embed="rId2"/>
          <a:stretch>
            <a:fillRect/>
          </a:stretch>
        </p:blipFill>
        <p:spPr>
          <a:xfrm>
            <a:off x="4598447" y="182881"/>
            <a:ext cx="5982535" cy="3886742"/>
          </a:xfrm>
          <a:prstGeom prst="rect">
            <a:avLst/>
          </a:prstGeom>
        </p:spPr>
      </p:pic>
      <p:pic>
        <p:nvPicPr>
          <p:cNvPr id="11" name="Picture 10">
            <a:extLst>
              <a:ext uri="{FF2B5EF4-FFF2-40B4-BE49-F238E27FC236}">
                <a16:creationId xmlns:a16="http://schemas.microsoft.com/office/drawing/2014/main" id="{1868EE1E-0A66-628A-13FC-7A380974AEE3}"/>
              </a:ext>
            </a:extLst>
          </p:cNvPr>
          <p:cNvPicPr>
            <a:picLocks noChangeAspect="1"/>
          </p:cNvPicPr>
          <p:nvPr/>
        </p:nvPicPr>
        <p:blipFill>
          <a:blip r:embed="rId3"/>
          <a:stretch>
            <a:fillRect/>
          </a:stretch>
        </p:blipFill>
        <p:spPr>
          <a:xfrm>
            <a:off x="1000103" y="3810125"/>
            <a:ext cx="4867954" cy="2753109"/>
          </a:xfrm>
          <a:prstGeom prst="rect">
            <a:avLst/>
          </a:prstGeom>
        </p:spPr>
      </p:pic>
    </p:spTree>
    <p:extLst>
      <p:ext uri="{BB962C8B-B14F-4D97-AF65-F5344CB8AC3E}">
        <p14:creationId xmlns:p14="http://schemas.microsoft.com/office/powerpoint/2010/main" val="710943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6F2376-1297-1008-17B1-642EACA0A4EA}"/>
              </a:ext>
            </a:extLst>
          </p:cNvPr>
          <p:cNvPicPr>
            <a:picLocks noChangeAspect="1"/>
          </p:cNvPicPr>
          <p:nvPr/>
        </p:nvPicPr>
        <p:blipFill>
          <a:blip r:embed="rId2"/>
          <a:stretch>
            <a:fillRect/>
          </a:stretch>
        </p:blipFill>
        <p:spPr>
          <a:xfrm>
            <a:off x="989479" y="527043"/>
            <a:ext cx="6315956" cy="3343742"/>
          </a:xfrm>
          <a:prstGeom prst="rect">
            <a:avLst/>
          </a:prstGeom>
        </p:spPr>
      </p:pic>
      <p:pic>
        <p:nvPicPr>
          <p:cNvPr id="5" name="Picture 4">
            <a:extLst>
              <a:ext uri="{FF2B5EF4-FFF2-40B4-BE49-F238E27FC236}">
                <a16:creationId xmlns:a16="http://schemas.microsoft.com/office/drawing/2014/main" id="{557071A4-3549-2FEE-F121-FBD06CC5C4BE}"/>
              </a:ext>
            </a:extLst>
          </p:cNvPr>
          <p:cNvPicPr>
            <a:picLocks noChangeAspect="1"/>
          </p:cNvPicPr>
          <p:nvPr/>
        </p:nvPicPr>
        <p:blipFill>
          <a:blip r:embed="rId3"/>
          <a:stretch>
            <a:fillRect/>
          </a:stretch>
        </p:blipFill>
        <p:spPr>
          <a:xfrm>
            <a:off x="6452865" y="3994202"/>
            <a:ext cx="4620270" cy="2505425"/>
          </a:xfrm>
          <a:prstGeom prst="rect">
            <a:avLst/>
          </a:prstGeom>
        </p:spPr>
      </p:pic>
    </p:spTree>
    <p:extLst>
      <p:ext uri="{BB962C8B-B14F-4D97-AF65-F5344CB8AC3E}">
        <p14:creationId xmlns:p14="http://schemas.microsoft.com/office/powerpoint/2010/main" val="14844846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C58540-F8AF-4354-97D0-C0636CEAD803}"/>
              </a:ext>
            </a:extLst>
          </p:cNvPr>
          <p:cNvPicPr>
            <a:picLocks noChangeAspect="1"/>
          </p:cNvPicPr>
          <p:nvPr/>
        </p:nvPicPr>
        <p:blipFill>
          <a:blip r:embed="rId2"/>
          <a:stretch>
            <a:fillRect/>
          </a:stretch>
        </p:blipFill>
        <p:spPr>
          <a:xfrm>
            <a:off x="1433727" y="354864"/>
            <a:ext cx="6668431" cy="4058216"/>
          </a:xfrm>
          <a:prstGeom prst="rect">
            <a:avLst/>
          </a:prstGeom>
        </p:spPr>
      </p:pic>
      <p:pic>
        <p:nvPicPr>
          <p:cNvPr id="5" name="Picture 4">
            <a:extLst>
              <a:ext uri="{FF2B5EF4-FFF2-40B4-BE49-F238E27FC236}">
                <a16:creationId xmlns:a16="http://schemas.microsoft.com/office/drawing/2014/main" id="{304C670F-CAF8-F0DD-ED13-461D74206E37}"/>
              </a:ext>
            </a:extLst>
          </p:cNvPr>
          <p:cNvPicPr>
            <a:picLocks noChangeAspect="1"/>
          </p:cNvPicPr>
          <p:nvPr/>
        </p:nvPicPr>
        <p:blipFill>
          <a:blip r:embed="rId3"/>
          <a:stretch>
            <a:fillRect/>
          </a:stretch>
        </p:blipFill>
        <p:spPr>
          <a:xfrm>
            <a:off x="4972880" y="4119361"/>
            <a:ext cx="7602011" cy="2886478"/>
          </a:xfrm>
          <a:prstGeom prst="rect">
            <a:avLst/>
          </a:prstGeom>
        </p:spPr>
      </p:pic>
    </p:spTree>
    <p:extLst>
      <p:ext uri="{BB962C8B-B14F-4D97-AF65-F5344CB8AC3E}">
        <p14:creationId xmlns:p14="http://schemas.microsoft.com/office/powerpoint/2010/main" val="4188450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12953</TotalTime>
  <Words>1068</Words>
  <Application>Microsoft Office PowerPoint</Application>
  <PresentationFormat>Widescreen</PresentationFormat>
  <Paragraphs>100</Paragraphs>
  <Slides>36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36</vt:i4>
      </vt:variant>
    </vt:vector>
  </HeadingPairs>
  <TitlesOfParts>
    <vt:vector size="48" baseType="lpstr">
      <vt:lpstr>Arial</vt:lpstr>
      <vt:lpstr>Calibri</vt:lpstr>
      <vt:lpstr>Calibri Light</vt:lpstr>
      <vt:lpstr>Futura</vt:lpstr>
      <vt:lpstr>Futura-Bold</vt:lpstr>
      <vt:lpstr>MTMI</vt:lpstr>
      <vt:lpstr>MTSYN</vt:lpstr>
      <vt:lpstr>Times-Bold</vt:lpstr>
      <vt:lpstr>Times-BoldSC</vt:lpstr>
      <vt:lpstr>Times-Italic</vt:lpstr>
      <vt:lpstr>Times-Roman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dc:creator>
  <cp:lastModifiedBy>Vinayak G Pai [MAHE-MIT]</cp:lastModifiedBy>
  <cp:revision>96</cp:revision>
  <dcterms:created xsi:type="dcterms:W3CDTF">2020-09-15T17:29:23Z</dcterms:created>
  <dcterms:modified xsi:type="dcterms:W3CDTF">2025-08-07T14:28:33Z</dcterms:modified>
</cp:coreProperties>
</file>