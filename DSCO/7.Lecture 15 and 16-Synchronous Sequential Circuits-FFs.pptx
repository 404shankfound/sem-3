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96" r:id="rId3"/>
    <p:sldId id="397" r:id="rId4"/>
    <p:sldId id="398" r:id="rId5"/>
    <p:sldId id="257" r:id="rId6"/>
    <p:sldId id="258" r:id="rId7"/>
    <p:sldId id="390" r:id="rId8"/>
    <p:sldId id="259" r:id="rId9"/>
    <p:sldId id="391" r:id="rId10"/>
    <p:sldId id="307" r:id="rId11"/>
    <p:sldId id="297" r:id="rId12"/>
    <p:sldId id="393" r:id="rId13"/>
    <p:sldId id="385" r:id="rId14"/>
    <p:sldId id="386" r:id="rId15"/>
    <p:sldId id="387" r:id="rId16"/>
    <p:sldId id="388" r:id="rId17"/>
    <p:sldId id="280" r:id="rId18"/>
    <p:sldId id="281" r:id="rId19"/>
    <p:sldId id="282" r:id="rId20"/>
    <p:sldId id="283" r:id="rId21"/>
    <p:sldId id="284" r:id="rId22"/>
    <p:sldId id="266" r:id="rId23"/>
    <p:sldId id="268" r:id="rId24"/>
    <p:sldId id="298" r:id="rId25"/>
    <p:sldId id="299" r:id="rId26"/>
    <p:sldId id="260" r:id="rId27"/>
    <p:sldId id="300" r:id="rId28"/>
    <p:sldId id="301" r:id="rId29"/>
    <p:sldId id="392" r:id="rId30"/>
    <p:sldId id="302" r:id="rId31"/>
    <p:sldId id="304" r:id="rId32"/>
    <p:sldId id="303" r:id="rId33"/>
    <p:sldId id="296" r:id="rId34"/>
    <p:sldId id="394" r:id="rId35"/>
    <p:sldId id="395" r:id="rId36"/>
    <p:sldId id="306" r:id="rId37"/>
    <p:sldId id="375" r:id="rId38"/>
    <p:sldId id="270" r:id="rId39"/>
    <p:sldId id="373" r:id="rId40"/>
    <p:sldId id="267" r:id="rId41"/>
    <p:sldId id="389" r:id="rId42"/>
    <p:sldId id="374" r:id="rId43"/>
    <p:sldId id="272" r:id="rId44"/>
    <p:sldId id="273" r:id="rId45"/>
    <p:sldId id="376" r:id="rId46"/>
    <p:sldId id="274" r:id="rId47"/>
    <p:sldId id="275" r:id="rId48"/>
    <p:sldId id="383" r:id="rId49"/>
    <p:sldId id="384"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3T15:33:08.965"/>
    </inkml:context>
    <inkml:brush xml:id="br0">
      <inkml:brushProperty name="width" value="0.035" units="cm"/>
      <inkml:brushProperty name="height" value="0.035" units="cm"/>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3T15:33:10.806"/>
    </inkml:context>
    <inkml:brush xml:id="br0">
      <inkml:brushProperty name="width" value="0.035" units="cm"/>
      <inkml:brushProperty name="height" value="0.035" units="cm"/>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3T15:33:24.850"/>
    </inkml:context>
    <inkml:brush xml:id="br0">
      <inkml:brushProperty name="width" value="0.035" units="cm"/>
      <inkml:brushProperty name="height" value="0.035" units="cm"/>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3T15:33:25.868"/>
    </inkml:context>
    <inkml:brush xml:id="br0">
      <inkml:brushProperty name="width" value="0.035" units="cm"/>
      <inkml:brushProperty name="height" value="0.035" units="cm"/>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2:55.4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27,'9'0,"8"0,13 0,8 0,5 0,0 0,7 0,-2 0,-3-5,-10-5,-11-2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2:57.064"/>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267 28,'-4'-9,"-11"-3,-8 6,-3 7,-7 18,2 9,2 15,-3 7,4 2,6 3,8 17,5-1,10-3,8-8,3-15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2:59.09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2 2652,'-2'-151,"19"-375,-13 487,25-158,-23 172,1 0,1 1,2-1,0 2,23-40,154-258,77-118,-188 328,196-310,-157 226,-74 128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2:59.780"/>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1577 33,'0'-1,"-1"0,1 0,0 0,0 0,-1 0,1 0,0 0,-1 0,1 0,-1 0,0 0,1 1,-1-1,0 0,1 0,-1 1,0-1,0 0,1 1,-1-1,0 1,0-1,0 1,0-1,0 1,0 0,0-1,0 1,-1 0,-37-6,30 6,-122-6,-215 19,-133 44,349-38,-214 58,333-74,0 1,1 0,-1 0,-17 11,28-15,-1 1,1-1,0 0,-1 1,1-1,-1 0,1 1,0-1,-1 0,1 1,0-1,-1 1,1-1,0 1,0-1,-1 1,1-1,0 1,0-1,0 1,0-1,0 1,-1-1,1 1,0-1,0 1,0-1,1 1,-1-1,0 1,0-1,0 1,0-1,0 1,1-1,-1 1,0-1,0 1,1-1,-1 1,0-1,1 0,-1 1,0-1,1 1,-1-1,1 0,-1 1,1-1,-1 0,1 0,-1 0,1 1,-1-1,1 0,-1 0,1 0,-1 0,2 0,19 7,0-2,1-1,0 0,0-2,42 0,-32 0,931 3,-623-9,-11 3,-220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3:00.157"/>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813 0,'-14'0,"-17"5,-31 1,-19 9,-26 11,0 5,9-3,8-6,15-6,16-7,8-4,13-3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3:00.460"/>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3:02.26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29,'27'-6,"1"0,0 1,0 2,0 1,30 2,-19-1,1117-4,-681 7,1258-2,-1745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3:02.95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193 0,'-9'18,"-12"20,-7 34,-8 23,3 0,6-2,8-13,8-11,5-13,4-16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3:05.63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3:05.89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3:06.134"/>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26,'4'-5,"7"-1,5 0,10 1,-1 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3:06.35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3:06.580"/>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3:07.011"/>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0,'5'0,"1"0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3:07.460"/>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21 0,'-8'0,"-4"0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3:08.81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11 0,'-4'0,"-2"0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3:08.991"/>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0:33:10.417"/>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1 321,'21'-18,"1"1,1 1,0 1,1 1,1 1,35-13,53-29,-10-14,-9 6,-92 61,0 1,0-1,0 1,0-1,1 1,-1 0,0 0,1 0,-1 0,1 1,-1-1,1 1,0-1,-1 1,1 0,-1 0,1 0,0 0,-1 1,1-1,-1 1,1 0,2 0,-2 2,0 0,-1 0,1 0,-1 0,0 0,0 0,0 1,0-1,-1 1,1-1,-1 1,0 0,0-1,0 1,1 7,8 63,-3 0,-5 127,-2-110,-25 1445,24-1500,-9 194,4-171,-24 105,6-82</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9T10:33:20.840"/>
    </inkml:context>
    <inkml:brush xml:id="br0">
      <inkml:brushProperty name="width" value="0.35" units="cm"/>
      <inkml:brushProperty name="height" value="0.35" units="cm"/>
      <inkml:brushProperty name="color" value="#FFFFFF"/>
    </inkml:brush>
  </inkml:definitions>
  <inkml:trace contextRef="#ctx0" brushRef="#br0">172 1 24575,'0'9'0,"0"16"0,0 9 0,-8 11 0,-9 4 0,0 1 0,2-2 0,-5-6 0,1 14 0,3 0 0,5 1 0,3-6 0,0-6 0,-4-2 0,1 5 0,1 8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9T10:33:25.540"/>
    </inkml:context>
    <inkml:brush xml:id="br0">
      <inkml:brushProperty name="width" value="0.35" units="cm"/>
      <inkml:brushProperty name="height" value="0.35" units="cm"/>
      <inkml:brushProperty name="color" value="#FFFFFF"/>
    </inkml:brush>
  </inkml:definitions>
  <inkml:trace contextRef="#ctx0" brushRef="#br0">0 1 24575,'3'4'0,"0"1"0,0 0 0,-1 0 0,0 0 0,0 0 0,0 0 0,-1 0 0,1 1 0,-1-1 0,-1 0 0,1 9 0,2 7 0,10 68 0,0 164 0,-10-126 0,-2-119 0,-1 0 0,1 0 0,1 0 0,-1 0 0,1-1 0,1 1 0,-1-1 0,1 1 0,1-1 0,6 11 0,-4-9 0,1 0 0,1-1 0,-1 0 0,1 0 0,1-1 0,16 12 0,-18-14 0,-2-2 0,-1 0 0,0 0 0,0 0 0,0 0 0,-1 1 0,5 5 0,-8-9 8,0 1 0,0-1 0,0 1 0,0-1 0,0 1 0,0-1 0,0 1 0,0-1 0,0 1 0,0 0 0,-1-1 0,1 1 0,0-1 0,0 1 0,-1-1 0,1 0 0,0 1 0,-1-1 0,1 1 0,0-1 0,-1 0 0,1 1 0,0-1 0,-1 1 0,1-1 0,-1 0 0,1 0 0,-1 1 0,1-1 0,-1 0 0,1 0 0,-1 0 0,1 1 0,-1-1 0,1 0 0,-1 0 0,0 0 0,1 0 0,-1 0 0,0 0 0,-31 6-884</inkml:trace>
</inkml:ink>
</file>

<file path=ppt/ink/ink2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0-09-15T08:38:21.18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FFC000"/>
    </inkml:brush>
    <inkml:brush xml:id="br2">
      <inkml:brushProperty name="width" value="0.05292" units="cm"/>
      <inkml:brushProperty name="height" value="0.05292" units="cm"/>
      <inkml:brushProperty name="color" value="#002060"/>
    </inkml:brush>
  </inkml:definitions>
  <inkml:trace contextRef="#ctx0" brushRef="#br0">8582 5606 0,'25'0'265,"0"0"-249,0 0 0,0 0-1,-1 0 1,1 0 15,0 0-31,0 0 16,0 0-1,-1 0 1,1 0-16,0 0 16,0 0-1,0 0 1,-1 0-16,1 0 15,0 0 1,0 0 0,0 0-1,0 0 1,-1 0 0,1 0-1,0 0-15,0 0 16,0 0-1,-1 0-15,1 0 16,0 0 0,0 0-1,0 0 1,-1 0-16,1 0 16,0 0-16,0 0 15,0 0 1,-1 0-16,1 0 0,25 0 15,-25 0-15,-1 0 16,1 0-16,0 0 16,0 0-16,0 0 15,-1 0-15,1 0 16,0 0 0,0 0-16,0 0 15,-1 0 1,1 0-1,0 0 1,0 0-16,0 0 16,-1 0-1,1 0 1,0 0 0,0 0-1,0 0-15,0 0 16,-1 0-16,1 0 15,0 0 1,0 0-16,0 0 16,-1 0-1,1 0 1,0 0 0,0 0-1,0 0-15,-1 0 16,1 0-16,0 0 15,0 0-15,0 0 16,-1 0-16,1 0 16,0 0-1,0 0 1,0 0 0,-1 0-16,1 0 15,0 0-15,0 0 16,0 0-16,-1 0 15,1 0-15,0 0 16,0 0 0,0 0-1,-1 0 1,1 0 0,0 0-1,0 0 1,0 0-1,-1 0 1,1 0-16,0 0 16,0 0-1,0 0-15,-1 0 16,1 0 0,0 0-16,0 0 15,0 0 1,0 0-16,-1 0 15,1 0 1,0 0-16,0 0 16,0 0-1,-1 0-15,1 0 16,0 0 15,0 0-15,0 0-1,-25-25 1,24 25-16,1 0 16,0 0-1,0 0-15,0 0 16,-1 0-16,1 0 16,0 0-16,0 0 15,0 0 16,-50 0 735,0 0-703,0 0-48,0 0 1</inkml:trace>
  <inkml:trace contextRef="#ctx0" brushRef="#br0" timeOffset="5332.85">8682 7813 0,'24'0'188,"1"0"-157,0 0-16,0 0 1,0 0 0,-1 0-16,1 0 15,0 0 1,0 0 0,0 0-1,-1 0 1,1 0 15,0 0-15,0 0-16,0 0 15,0 0 1,-1 0 0,1 0-1,0 0 1,0 0-16,0 0 15,-1 0 1,1 0 0,0 0-1,0 0-15,0 0 16,-1 0 0,1 0-1,0 0-15,0 0 16,0 0-1,-1 0-15,1 0 16,0 0-16,0-24 16,0 24-1,-1 0-15,1 0 16,0 0 0,0 0-1,0 0-15,-1 0 16,1 0-1,0 0-15,0 0 16,0 0 0,-1 0-16,1 0 31,0 0-31,0 0 16,0 0-1,-1 0 1,1 0-16,0 0 15,0 0 1,0 0-16,-25 24 16,25-24-16,-1 0 15,1 0 1,0 0 0,0 0-16,0 0 15,-1 0 1,1 0-16,0 0 0,0 0 15,0 0-15,-1 0 16,1 0-16,0 0 16,-25 25-1,25-25-15,0 0 32,-1 0-17,1 0 1,0 0-16,0 0 15,0 0-15,-1 0 16,1 0-16,0 0 16,25 0-16,-26 0 15,1 0-15,0 25 16,0-25-16,0 0 16,-1 0-1,1 0 1,0 0-1,0 0 1,0 0-16,-1 0 16,1 0-16,0 0 15,0 0-15,0 0 16,-1 0-16,1 0 16,25 0-16,-25 0 15,0 0-15,-1 0 16,1 0-1,0 0 1,0 0 0,0 0-16,-1 0 15,1 0 1,0 0-16,0 0 16,0 0-16,-1 0 15,1 0 1,0 0 15,0 0-15,-25-25-1,25 25 1,-1 0 0,1 0-16,0 0 15,0 0 16,0 0-15,-1 0 15,1 0 16,-50 0 422,1 0-453,-1 0-16</inkml:trace>
  <inkml:trace contextRef="#ctx0" brushRef="#br0" timeOffset="24090.62">3249 5655 0,'0'0'0,"0"-24"63,25 24 93,0 0-141,0 0 1,0 0-16,-1 0 16,1 0-1,0 0-15,0 0 16,0 0 0,-1 0-16,1 0 15,0 0-15,0 0 0,0 0 16,-1 0-1,1 0 1,0 0-16,0 0 16,0 0-16,0 0 15,-1 0 1,1 0-16,0 0 16,0 0-1,0 0 1,-25 24-16,24-24 15,1 0 1,0 0-16,0 0 16,0 0-1,-1 0-15,1 0 0,25 0 16,-25 0-16,-1 0 16,1 0-16,0 0 15,0 0 1,0 0-1,-1 0-15,1 0 16,0 0 0,0 0-16,0 0 15,-1 0-15,1 0 16,0 0-16,0 0 16,0 0-16,-1 0 15,1 0 1,0 0-16,0 0 15,0 0 1,-1 0 0,1 0-16,0 0 15,0 0-15,0 0 16,-1 0 0,1 0-16,0 0 15,0 0-15,0 0 16,0 0-16,-1 0 15,1 0-15,0 0 16,0 0-16,0 0 16,-1 0-16,1 0 15,0 0-15,0 0 16,0 0-16,-1 0 16,1 0-16,0 0 15,0 0-15,0 0 16,-1 0-16,1 0 15,0 0 1,0 0-16,0 0 16,-1 0-16,1 0 15,0 0-15,0 0 16,0 0-16,-1 0 16,1 0-16,0 0 15,0 0 16,0 0-31,-1 0 16,1 0 0,25 0-16,-25 0 15,-1 0-15,26 0 16,-25 0-16,0 0 16,0 0-16,-1 0 15,1 0 1,0 0-16,0 0 15,0 0 1,-1 0 0,1 0-16,0 0 15,0 0-15,0 0 0,24 0 16,-24 0-16,0 0 16,0 0-16,24 0 15,-24 0-15,0 0 16,0 0-16,-1 0 15,1 0-15,0 0 16,0 0-16,0 0 16,-1 0-16,26 0 15,-25 0-15,0 0 16,-1 0-16,1 0 16,0 0-16,0 0 0,0 0 15,-1 0 1,1 0-16,0 0 15,0 0-15,0 0 16,24 0-16,-24 0 16,0 0-16,0 0 15,0 0-15,-1 0 16,1 0-16,0 0 16,0 0-16,0 0 15,-1 0-15,1 0 16,0 0-1,0 0 1,-25-24-16,25 24 16,-1 0-16,1 0 0,0 0 15,0 0 1,0 0-16,-1 0 0,1 0 16,0 0-16,0 0 15,0 0-15,-1 0 16,1 0-1,0 0 1,0 0 0,0 0-1,-1 0 17,1 0-17,0 0-15,0 0 16,0 0-1,-1 0-15,1 0 16,0 0 0,0 0-1,0 0 1,-1 0 0,1 0-16,0 0 15,0 0-15,0 0 16,0 0-1,-1 0 1,1 0-16,0 0 31,0 0-31,0 0 16,-1 0 0,1 0-1,0 0 1,0 0-1,0 0 1,-1 0 0,1 0 31,0 0-32,0 0-15,0 0 16,-1 0-16,1 0 15,0 0-15,0 0 16,0 0-16,-1 0 16,1 0-1,0 0 1,0 0 15,0 0 0,-1 0 48</inkml:trace>
  <inkml:trace contextRef="#ctx0" brushRef="#br0" timeOffset="27925.05">3299 7813 0,'-25'0'47,"0"0"-16,50 0 156,0 0-155,0 0-32,0 0 15,-1 0-15,1 0 16,0 0 0,0 0-16,0 0 15,-1 0-15,1 0 16,0 0 15,0 0 0,0 0-15,-1 0 0,1 0-1,0 0-15,0 0 16,0 0-1,0 0 1,-1 25-16,1-25 16,0 0-1,0 0 1,0 0 0,-1 0-1,1 0-15,0 0 16,0 0-1,0 0-15,-1 0 16,1 0-16,0 0 16,0 0-16,0 0 15,-1 0 1,1 0-16,0 0 16,0 0-16,0 0 15,-1 0-15,1 25 16,0-25-16,0 0 15,0 0-15,-1 0 16,1 0-16,0 0 16,0 0-1,0 0-15,-1 0 16,1 0-16,0 0 16,0 0-16,0 0 0,-1 0 15,1 0-15,0 0 16,0 0-16,0 0 15,-1 0-15,1 0 16,0 0-16,0 0 16,0 0-16,0 0 15,-1 0-15,1 0 16,0 0-16,0 0 16,0 0-1,-1 0-15,1 0 16,0 0-1,0 0-15,0 0 16,-1 0-16,1 0 16,0 0-16,0 0 15,0 0-15,-1 0 16,1 0-16,0 0 16,0 0-16,0 0 15,-1 0 1,1 0-16,0 0 15,0 0 1,0 0-16,-1 0 16,1 0-1,0 0-15,0 0 16,0 0-16,-1 0 16,1 0-16,25 0 15,-25 0-15,-1 0 0,1 0 16,0 0-16,0 0 15,0 0 1,0 0-16,-1 0 16,1 0-1,0 0 1,0 0 0,0 0-16,-1 0 15,1 0-15,0 0 16,0 0-16,0 0 0,-1 0 15,1 0 1,0 0-16,0 0 0,0 0 16,-1 0-1,1 0-15,0 0 0,0 0 16,0 0-16,-1 0 16,1 0-1,0 0-15,0 0 16,24 0-16,-24 0 15,0 0-15,0 0 16,0 0-16,-1 0 16,1 0-16,0 0 15,0 0 1,0 0 0,-1 0-16,1 0 15,0-25-15,0 25 16,0 0-16,0 0 0,-1 0 15,1 0-15,0 0 16,0 0-16,0 0 16,-1 0-16,1 0 15,0 0-15,0 0 16,0-25 0,-1 25-16,1 0 15,0 0 1,0 0-16,0 0 15,-1 0-15,1 0 16,0 0-16,0 0 16,0 0-16,-1 0 0,1 0 15,0 0 1,0 0-16,0 0 0,-1 0 16,1 0-1,0 0 1,0 0-16,0 0 15,-1-24-15,1 24 16,0 0 0,0 0-1,0 0 1,-1 0 0,1 0-1,25 0-15,-25 0 0,-1 0 16,26 0-1,-25 0-15,0 0 0,24 0 16,-24 24 0,0-24-1,0 0 32,0 0-16,-1 0-15,1 0-16,0 0 16,0 0 15,0 0 0,-1 0-15,1 0-16,0 0 15,0 0 1,0 0-16,-1 0 16,1 0-1,0 0-15,0 0 16,0 25-16,-1-25 16,1 0-16,0 0 31,0 0-31,0 0 62,-1 0-46,1 0 0,0 0-1,0 0 1,0 0 31,-50 0 93</inkml:trace>
  <inkml:trace contextRef="#ctx0" brushRef="#br1" timeOffset="73543.03">8210 9971 0,'25'0'172,"0"0"-156,0 0-16,0 0 15,-1 0 1,1 0-16,0 0 16,0 0-16,0 0 15,-1 0 1,1 0-16,0 0 16,0 0-1,0 0 1,-1 0-16,1 0 15,0 0 1,0 0-16,0 0 0,-1 0 16,1 0-1,0 0-15,0 0 16,0 0-16,-1 0 16,1 0-16,0 0 15,0 0-15,0 0 16,-1 0-16,1 0 15,0 0-15,0 0 16,0 0 0,0 0-16,-1 0 15,1 0-15,0 0 16,0 0-16,0 0 0,24 0 31,-24 0-31,0 0 0,0 0 16,-1 0-16,26 0 15,-25 0-15,0 0 16,-1 0-16,1 0 16,0 0-16,0 0 15,0 0-15,-1 0 16,26 0-16,-25 0 16,0 0-16,-1 0 15,26 0-15,-25 0 16,0 0-16,-1 0 15,26 0-15,-25 0 16,0 0-16,-1 0 0,1 0 16,0 0-16,0 0 15,0 0-15,0 0 16,-1 0-16,1 0 31,0 0-31,0 0 0,0 0 16,-1 0-16,1 0 15,0 0-15,25 0 16,-26 0 0,1 0-16,0 0 15,0 0 17,0 0-32,-1 0 15,26 0 1,-25 0-16,24 0 15,-24 0-15,25 0 16,-1 0-16,-24 0 16,0 0-16,0 0 15,0 0-15,-1 0 32,1 0-17,25 0-15,-25 0 16,-1 0-1,26 0-15,-25 0 16,0 0-16,-1 25 0,1-25 16,0 0-16,0 0 47,0 0-32,0 0 1,24 0-1,-24 0-15,25 0 16,-1 0-16,1 0 16,-25 0-16,24 0 15,-24 0-15,0 0 32,0 0-17,-1 0 1,1 0-1,0 0 1,0 0 0,-25-25-1,-25 25 95,-49 0-110</inkml:trace>
  <inkml:trace contextRef="#ctx0" brushRef="#br1" timeOffset="77276.33">3324 9996 0,'0'0'0,"25"0"125,-1 0-125,1 0 15,0 0-15,0 0 16,0 0-16,-1 0 16,1 0-16,0 0 15,0 0-15,0 0 16,24 0-16,-24 0 16,25 0-16,-25 0 15,-1 0-15,26 0 0,-25 0 16,0 0-1,24 0-15,-24 0 0,0 0 16,24 0-16,-24 0 16,25 0-16,-25 0 15,-1 0-15,26 0 16,-25 0-16,0 0 16,-1 0-16,1 0 15,0 0 1,0 0-16,0 0 15,-1 0 1,1 0-16,0 0 16,0 0-16,0 0 15,-1 0-15,1 0 16,25 0-16,-25 0 0,-1 0 16,1 0-16,0 0 15,0 0-15,24 0 16,-24 0-16,0 0 15,0 0-15,0 0 16,0 0-16,-1 0 16,1 0-16,0 0 15,0 0-15,24 0 16,-24 0-16,0 0 16,25 0-16,-26 0 15,1 0-15,25 0 16,-25 0-16,24 0 15,-24 0-15,0 0 0,0 0 16,-1 0 0,1 0-16,0 0 15,0 0 1,0 0-16,-1 0 16,1 0-16,0 0 15,0 0-15,0 0 16,-1 0-1,1 0-15,0 0 16,0 0-16,0 0 16,-1 0-1,1 0 1,0 0-16,0 0 16,0 0-16,0 0 15,-1 0 1,1 0-16,0 0 15,0 0-15,0 0 16,-1 0 0,1 0-16,0 0 15,0 0 1,0 0-16,-1 0 16,1 0-16,0 0 15,0 0-15,0 0 16,-1-25-1,1 25-15,0 0 16,0 0-16,0 0 16,-1 0-16,1 0 15,25 0-15,-25 0 16,24 0-16,-24 0 16,0 0-16,24 0 15,-24 0-15,0 0 16,0 0-16,0 0 15,-1 0-15,1 0 16,0 0-16,0 0 16,0 0-16,24 0 15,-24 0-15,0 0 16,0-24-16,0 24 0,-1 0 16,1 0-1,0 0-15,0 0 0,0 0 31,-1 0-15,1 0 0,0 0-1,0 0-15,24 0 16,-24 0-16,25 0 16,-25 0-16,-1 0 15,26 0-15,-25 0 16,0 0-1,-1 0-15,1 0 16,0 0 15,0 0-31,0 0 16,-1 0 0,26 0-16,-25 0 15,0 0-15,-1 0 16,1 0 15,0 0 0,0 0-31,0 0 16,-1 0 0,1 0-16,0 0 0,0 0 15,0 0 1,0 0-1,-1 0 17,1 0 15,0 0-16,0 0 0,0 0-15,-1 0-1,1 0 1,0 0-16,0 24 16,0-24-16,-1 0 15,1 0 126,0 0-79,-50 0 32,0 0-94</inkml:trace>
  <inkml:trace contextRef="#ctx0" brushRef="#br1" timeOffset="81333.57">8434 12229 0,'24'0'296,"1"0"-280,0 0 0,0 0-1,0 0 1,-1 0-16,1 0 16,0-25-1,0 25-15,0 0 16,-1 0-1,1 0 1,0 0-16,0 0 16,0 0-1,-1 0-15,1 0 16,0 0-16,0 0 16,-25 25-16,25-25 15,-1 0-15,1 0 31,0 0 1,0 0-17,0 0 1,0 0-16,-1 0 16,1 0-1,0 0 1,0 0-1,0 0-15,-1 0 16,1 0 0,0 0-16,0 0 15,0 0-15,-1 0 16,1 0-16,0 0 16,0 0-16,0 0 15,-1 0-15,1 0 16,0 0-16,0 0 15,0 0-15,-1 0 16,1 0-16,0 0 16,25 0-1,-26 0-15,1 0 16,0 0-16,0 0 16,0 0-16,-1 0 15,1 0 1,0 0-1,0 0 1,0 0 0,-1 0-16,1 0 15,0 0-15,25 0 0,-25 25 16,-1-25 0,1 0-16,0 0 15,0 0 1,0 0-1,-1 0 1,1 0-16,25 0 16,-25 0-1,-1 0-15,1 0 16,25 0-16,-25 0 16,-1 0-16,1 0 15,25 24-15,-25-24 16,-1 0-16,1 0 15,0 0-15,0 0 16,0 0-16,-1 0 16,1 0-16,0 0 15,0 0-15,0 0 16,-1 0-16,1 0 16,0 0-16,0 0 15,0 0-15,-1 0 16,1 0-16,0 0 15,0 0-15,0 0 16,-1 0-16,1 0 16,0 0-16,0 0 15,0 0-15,0 0 16,-1 0-16,1 0 16,0 0-1,0 0-15,0 0 16,-1 0-1,1 0-15,0 0 16,0 0 0,0 0-1,-1 0 1,1 0 0,0 0-16,0 0 15,0 0-15,-1 0 16,1 0-16,0 0 15,0 0-15,0 0 16,-1 0 0,1 0-1,0 0-15,0 0 16,0 0 0,-1 0-1,1 0 1,0 0-1,0 0 1,-50-24 172,-25 24-188</inkml:trace>
  <inkml:trace contextRef="#ctx0" brushRef="#br1" timeOffset="84871.39">2828 12204 0,'25'0'109,"-1"0"-93,1 0-16,0 0 0,0 0 15,0 0-15,24 0 16,-24 0-16,0 0 16,24 0-16,-24 0 15,0 0-15,0 0 16,0 0-16,-1 0 15,1 0-15,0 0 16,0 0-16,0 0 16,-1 0-16,26 0 15,-25 0-15,0 0 16,24 0-16,-24 0 0,25 0 16,-26 0-1,1 0-15,0 0 16,25 0-16,-25 0 0,-1 0 15,1 0-15,0 0 16,0 0-16,24 0 16,-24 0-16,0 0 15,0 0-15,0 0 16,-1 0-16,1 0 16,0 0-16,0 0 15,24 0-15,-24 0 16,0 0-16,25 0 15,-26 25-15,1-25 0,25 0 16,-25 0-16,-1 0 16,1 0-16,0 0 15,0 0-15,0 0 16,24 0-16,-24 0 16,0 0-16,0 0 15,24 0-15,-24 0 16,0 0-16,0 0 15,24 0-15,-24 0 16,25 0-16,-25 0 16,-1 0-16,26 0 15,-25 0-15,0 0 0,-1 0 16,26 0 0,-25 0-16,0 0 0,-1 0 15,1 0 1,0 0-16,0 0 15,0 0-15,24 0 0,-24 0 16,0 0-16,0 0 16,-1 0-16,1 0 15,0 0-15,0 0 16,0 0-16,-1 0 16,1 0-16,0 0 15,0 0-15,0 0 16,-1 0-1,1 0-15,0 0 16,0 0-16,0 0 0,-1 0 16,1 0-1,0 0-15,0 0 16,25 0-16,-1 0 16,1 0-1,-25 0-15,24 0 16,-24 0-16,25 0 15,-26 0 1,1 0-16,0 0 16,25 0-16,-26 0 15,1 0-15,0 0 16,25 0-16,-26 0 0,1 0 16,0 0-1,0 0-15,0 25 0,-1-25 16,1 0-16,0 0 15,0 0-15,24 0 16,-24 0-16,25 0 16,-25 0-1,24 0 1,-24 0-16,0 0 16,25 0-16,-26 0 15,1 0-15,0 0 16,0 0-16,0-25 15,-1 25-15,1 0 16,0 0-16,0 0 0,0 0 16,-1 0-16,26 0 15,-25 0-15,0 0 16,-1 0-16,1 0 16,25 0-16,-25 0 15,-1 0-15,26 0 16,-25 0-1,0 0-15,-1 0 0,1 0 16,0 0 0,0 0-16,0 0 15,-1 0 1,1 0 0,0 0-16,0 0 0,0 0 15,-1 0-15,1 0 16,0 0-1,0 0-15,0 0 32,-1 0-1,1 0-15,0 0-1,0 0-15,0 0 0,24 0 16,-24 0-16,0 0 15,0 0 1,0 0-16,-1 0 16,1 0-16,0 0 15,0 0 17,0 0-17,-1 0 1,1 0-16,25 0 15,-25 0-15,24 0 16,-24 0-16,0 25 16,0-25-16,-1 0 15,1 0-15,0 0 32,0 0-1,0 0-16,-1 0 1,1 0 0,0 0-1,0 0 1,-50 0 156,0 0-157</inkml:trace>
  <inkml:trace contextRef="#ctx0" brushRef="#br2" timeOffset="119268.36">8334 8954 0,'25'0'172,"-25"-24"-157,25 24 1,0 0-16,0 0 15,-1 0 1,1 0 0,0 0-16,0 0 15,0 0 1,-1 0-16,1 0 16,0 0-16,0 0 15,0 0-15,-1 0 16,1 0-16,0 0 15,0 0-15,0 0 16,-1 0-16,1 0 16,0 0-1,0 0 1,0 0 0,-1 0-16,1 24 15,0-24-15,0 0 16,0 0-1,0 0-15,-1 0 16,1 0 0,0 0-1,0 0-15,0 0 16,-1 0-16,1 0 16,0 0-1,0 0-15,24 0 16,-24 0-16,0 0 15,0 0-15,0 0 16,24 0-16,-24 0 16,0 0-16,0 0 15,-1 0 1,1 0-16,0 0 16,0 0-16,0 0 15,-1 0 1,26 0-16,-25 0 0,0 0 15,-1 0 1,1 0-16,25 0 0,-25 0 16,-1 0-16,26 0 15,-25 25-15,0-25 16,0 0-16,-1 0 16,1 0-16,0 0 31,0 0-16,0 0 1,-1 0 0,26 0-16,-25 0 15,24 0-15,1 0 0,-25 0 16,24 0-16,-24 0 16,25 0-16,-25 0 15,-1 0-15,1 0 16,0 0-1,0 0 1,0 0 0,-1 0-1,1 0-15,25 0 16,-25 0-16,24 0 16,1 0-16,-25 0 15,24 0-15,-24 0 16,0 25-16,0-25 0,-1 0 15,1 0 17,0 0-17,0-25 1,0 25 0,0 0-1,-1 0-15,1 0 16,0 0-16,0 0 15,0 0-15,-1 0 16,1 0 0,0 0-1,0 0-15,0 0 16,-1 0 0,26 0-16,-25 0 15,24 0-15,-24 0 16,25 0-16,-25 0 15,24 0-15,-24 0 16,-50 0 93,-24 0-93</inkml:trace>
  <inkml:trace contextRef="#ctx0" brushRef="#br2" timeOffset="122454.58">3398 8930 0,'25'0'156,"0"0"-156,0 0 16,-1 0 0,1 0-1,0 0-15,0 0 0,0 0 16,-1 0-16,1 0 15,0 0-15,0 0 16,0 0-16,0 0 16,-1 0-16,1 0 15,0 0-15,0 0 16,24 0-16,-24 0 16,0 0-16,0 0 15,24 0-15,-24 0 16,0 0-16,0 0 15,0 0-15,-1 0 0,1 0 16,0 0-16,25 0 16,-26 24-16,1-24 15,0 0-15,0 0 16,0 0 0,-1 0-16,1 0 15,0 0-15,0 0 0,24 0 31,-24 0-31,0 0 0,25 0 16,-1 0-16,1 0 16,-1 0-16,1 0 15,0 0-15,-1 0 16,1 0-16,-25 0 16,24 0-16,-24 0 15,0 0-15,0 0 16,0 0-16,-1 0 15,1 0 1,0 0 0,0 0-1,0 0-15,24 0 16,-24 0-16,25 0 16,-26 25-16,26-25 15,0 0-15,-1 0 16,1 0-16,-25 0 15,-1 0-15,1 0 16,0 0-16,0 0 16,0 0-16,-1 0 15,1 0 1,0 0-16,0 0 16,0 0-16,0 0 15,-1 0-15,26 0 16,-25 0-16,24 0 0,-24 0 15,25 0 1,-25 0-16,24 25 0,-24-25 16,0 0-16,0 0 15,-1 0-15,1 0 16,0 0 0,0 0-1,0 0 1,-1 0-16,26 0 15,0 0-15,-1 0 16,-24 0-16,25 0 16,-1 0-16,-24 0 15,25 0-15,-26 0 16,1 0-16,0 0 0,0 0 16,0 0-1,0 0-15,-1 0 16,1 0-1,0 0-15,0 0 16,0 0-16,-1 0 16,1 0-16,0 0 15,0 0-15,0 0 16,-1 0-16,1 0 16,0 0-16,0 0 15,0 0-15,-1 0 16,1 0-1,0 0-15,0 0 16,0 0-16,-1 0 16,1 0-16,0 0 15,0 0-15,0 0 16,-1-25-16,1 25 16,0 0-16,0 0 15,0 0 1,-1 0-1,1 0 1,25 0 0,-25 0-16,-1 0 15,1 0-15,25 0 0,-25 0 16,-1 0-16,1 0 16,0 0-1,0 0 32,0 0-31,0 0-1,-1 0-15,26 0 16,-25 0-16,0 0 16,-1 0-16,1 0 15,0 0 1,0 0-1,0 0 1,-1 0 0,1 0-1,0 0 1,0 0-16,0 0 16,-1 0-16,1 0 15,0 0 1,-50 0 78</inkml:trace>
  <inkml:trace contextRef="#ctx0" brushRef="#br2" timeOffset="125865.33">8235 13295 0,'25'0'109,"0"0"-93,0 0 0,-1 0-1,1 0-15,0 0 16,0 0-16,0 0 16,49 0-1,-49 0-15,0 0 16,-1 0-16,1 0 15,0 0-15,0 0 16,0 0-16,-1 0 16,1 0-1,0 0-15,0 0 16,0 0-16,-1 0 16,1 0-16,25 0 15,-25 0-15,-1 0 16,1 0-16,0 0 15,25 0-15,-25 0 16,-1 0-16,26 0 16,-25 0-1,0 0-15,-1 0 0,1 0 16,0 0-16,0 0 16,24 0-16,-24 0 15,0 0 1,0 0-16,24 0 0,-24 0 15,0 0-15,25 0 16,-26 0-16,1 0 16,25 0-16,-25 0 15,-1 0-15,1 0 16,25 25-16,-25-25 0,-1 0 16,1 0-1,25 0-15,-25 0 16,-1 0-16,26 0 0,-25 0 15,0 0-15,0 0 16,-1 0-16,26 0 16,-25 0-16,24 0 15,-24 0-15,0 0 16,0 25-16,24-25 16,-24 0-16,0 0 15,25 0-15,-26 0 16,1 0-16,25 0 15,-25 0-15,-1 0 16,1 0-16,0 0 16,0 0-16,0 0 0,24 0 15,-24 0 1,25 0-16,-26 0 16,26 0-16,0 0 15,-26 0-15,26 0 0,-25 0 16,0 0-1,49 25-15,-49-25 16,0 0-16,0 0 16,-1 0-16,26 0 15,-25 0-15,24 0 16,-24 0-16,25 0 16,-25 0-16,-1 0 0,1 0 15,0 0 1,0 0-16,0 0 15,-1 0 1,1 0 0,0 0-16,0 0 15,0 0-15,-1 0 16,1 0 0,0 0-1,0 0 16,-50 0 63,0 0-78,-24 0-16</inkml:trace>
  <inkml:trace contextRef="#ctx0" brushRef="#br2" timeOffset="129593.73">2977 13370 0,'24'0'141,"1"0"-125,0 0-16,0 0 15,24 0-15,-24 0 16,0 0-16,0 0 15,0 0-15,-1 0 16,1 0 0,0 0-16,0 0 15,0 0-15,-1 0 16,1 0-16,0 0 16,0 0-16,0 0 15,-1 0-15,1 0 16,0 0-16,0 0 15,0 0 1,-1 25-16,1-25 16,0 0-16,0 0 15,0 0-15,0 0 0,-1 0 16,1 0-16,0 0 16,0 0-1,0 0-15,-1 0 16,1 0-16,0 0 15,0 0-15,0 0 16,-1 0-16,1 0 16,0 0-16,0 0 15,0 0-15,-1 0 16,1 0-16,0 0 16,0 0-16,0 0 15,-1 0-15,1 0 16,0 0-16,0 0 15,0 0-15,-1 0 16,1 0-16,25 0 16,-25 0-16,-1 0 15,1 0-15,0 0 16,0 0-16,0 0 16,-1 0-16,26 0 15,-25 0-15,24 0 16,-24 0-16,25 0 15,0 0-15,-26 0 16,26 0-16,0 0 0,-26 0 16,26 0-1,-25 0-15,0 0 0,-1 0 16,26 0-16,-25 0 16,0 0-16,-1 0 15,1 0-15,0 0 16,0 0-16,0 0 15,-1 0-15,1 0 16,25 0-16,-25 0 16,-1 0-16,1 0 15,25 0-15,-25 0 16,-1 0-16,1 0 16,0 0-16,0 0 0,0 0 15,-1 0-15,1 0 16,0 0-1,0 0-15,0 0 0,0 0 16,-1 0-16,1 0 16,0 0-16,0 0 15,0 0-15,-1 0 16,1 0-16,25 0 16,-25 0-16,-1 0 15,1 0 1,0 0-16,0 0 15,0 0-15,-1 0 16,1 0-16,0 0 16,0 0-16,0 0 0,24 0 15,-24 0-15,0 0 16,0 0-16,-1 0 16,1 0-16,0 0 15,0 0 1,0 0-1,-25-25-15,24 25 16,1 0-16,0 0 16,25 0-16,-26 0 15,26 0-15,-25 0 16,25 0-16,-26 0 16,1 0-16,0 0 15,0 0-15,0 0 16,-1 0-1,1 0 1,0-25-16,0 25 16,0 0-16,-1 0 15,1 0-15,0 0 16,0 0-16,0 0 16,-1 0-1,1 0 1,0 0-1,0 0 1,0 0-16,-1-25 0,1 25 16,0 0-1,0 0-15,0 0 0,-1 0 16,1 0 0,0 0 30,0 0-30,0 0-16,-1 0 16,1 0-1,0 0-15,0 0 16,24 0-16,-24 0 16,0 0-16,0 0 15,0 0-15,-1 0 16,1 0-1,0 0 17,0 0-17,0 0 1,0 0 0,-1 0-16,1 0 15,0 0-15,0 0 16,0 0-16,-1 0 15,1 0 17,0 0-1,0 0-15,0 0-1,-1 0-15,1 0 16,0 0-16,0 25 15,0-25-15,-1 0 47,1 0-15,0 0-1,0 0 16,-50 0 125,0 0-172,-24 0 15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E6BE457-725F-4974-8C3A-531F726306CE}"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1497A6-3F8E-47B8-8E4F-FEF5316C0B13}" type="slidenum">
              <a:rPr lang="en-IN" smtClean="0"/>
              <a:t>‹#›</a:t>
            </a:fld>
            <a:endParaRPr lang="en-IN"/>
          </a:p>
        </p:txBody>
      </p:sp>
    </p:spTree>
    <p:extLst>
      <p:ext uri="{BB962C8B-B14F-4D97-AF65-F5344CB8AC3E}">
        <p14:creationId xmlns:p14="http://schemas.microsoft.com/office/powerpoint/2010/main" val="2795437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E6BE457-725F-4974-8C3A-531F726306CE}"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1497A6-3F8E-47B8-8E4F-FEF5316C0B13}" type="slidenum">
              <a:rPr lang="en-IN" smtClean="0"/>
              <a:t>‹#›</a:t>
            </a:fld>
            <a:endParaRPr lang="en-IN"/>
          </a:p>
        </p:txBody>
      </p:sp>
    </p:spTree>
    <p:extLst>
      <p:ext uri="{BB962C8B-B14F-4D97-AF65-F5344CB8AC3E}">
        <p14:creationId xmlns:p14="http://schemas.microsoft.com/office/powerpoint/2010/main" val="2995327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E6BE457-725F-4974-8C3A-531F726306CE}"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1497A6-3F8E-47B8-8E4F-FEF5316C0B13}" type="slidenum">
              <a:rPr lang="en-IN" smtClean="0"/>
              <a:t>‹#›</a:t>
            </a:fld>
            <a:endParaRPr lang="en-IN"/>
          </a:p>
        </p:txBody>
      </p:sp>
    </p:spTree>
    <p:extLst>
      <p:ext uri="{BB962C8B-B14F-4D97-AF65-F5344CB8AC3E}">
        <p14:creationId xmlns:p14="http://schemas.microsoft.com/office/powerpoint/2010/main" val="3006239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E6BE457-725F-4974-8C3A-531F726306CE}"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1497A6-3F8E-47B8-8E4F-FEF5316C0B13}" type="slidenum">
              <a:rPr lang="en-IN" smtClean="0"/>
              <a:t>‹#›</a:t>
            </a:fld>
            <a:endParaRPr lang="en-IN"/>
          </a:p>
        </p:txBody>
      </p:sp>
    </p:spTree>
    <p:extLst>
      <p:ext uri="{BB962C8B-B14F-4D97-AF65-F5344CB8AC3E}">
        <p14:creationId xmlns:p14="http://schemas.microsoft.com/office/powerpoint/2010/main" val="3398895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E6BE457-725F-4974-8C3A-531F726306CE}" type="datetimeFigureOut">
              <a:rPr lang="en-IN" smtClean="0"/>
              <a:t>06-11-2025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B1497A6-3F8E-47B8-8E4F-FEF5316C0B13}" type="slidenum">
              <a:rPr lang="en-IN" smtClean="0"/>
              <a:t>‹#›</a:t>
            </a:fld>
            <a:endParaRPr lang="en-IN"/>
          </a:p>
        </p:txBody>
      </p:sp>
    </p:spTree>
    <p:extLst>
      <p:ext uri="{BB962C8B-B14F-4D97-AF65-F5344CB8AC3E}">
        <p14:creationId xmlns:p14="http://schemas.microsoft.com/office/powerpoint/2010/main" val="595410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E6BE457-725F-4974-8C3A-531F726306CE}" type="datetimeFigureOut">
              <a:rPr lang="en-IN" smtClean="0"/>
              <a:t>06-11-2025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B1497A6-3F8E-47B8-8E4F-FEF5316C0B13}" type="slidenum">
              <a:rPr lang="en-IN" smtClean="0"/>
              <a:t>‹#›</a:t>
            </a:fld>
            <a:endParaRPr lang="en-IN"/>
          </a:p>
        </p:txBody>
      </p:sp>
    </p:spTree>
    <p:extLst>
      <p:ext uri="{BB962C8B-B14F-4D97-AF65-F5344CB8AC3E}">
        <p14:creationId xmlns:p14="http://schemas.microsoft.com/office/powerpoint/2010/main" val="895547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6BE457-725F-4974-8C3A-531F726306CE}" type="datetimeFigureOut">
              <a:rPr lang="en-IN" smtClean="0"/>
              <a:t>06-11-2025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B1497A6-3F8E-47B8-8E4F-FEF5316C0B13}" type="slidenum">
              <a:rPr lang="en-IN" smtClean="0"/>
              <a:t>‹#›</a:t>
            </a:fld>
            <a:endParaRPr lang="en-IN"/>
          </a:p>
        </p:txBody>
      </p:sp>
    </p:spTree>
    <p:extLst>
      <p:ext uri="{BB962C8B-B14F-4D97-AF65-F5344CB8AC3E}">
        <p14:creationId xmlns:p14="http://schemas.microsoft.com/office/powerpoint/2010/main" val="2745943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E6BE457-725F-4974-8C3A-531F726306CE}"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1497A6-3F8E-47B8-8E4F-FEF5316C0B13}" type="slidenum">
              <a:rPr lang="en-IN" smtClean="0"/>
              <a:t>‹#›</a:t>
            </a:fld>
            <a:endParaRPr lang="en-IN"/>
          </a:p>
        </p:txBody>
      </p:sp>
    </p:spTree>
    <p:extLst>
      <p:ext uri="{BB962C8B-B14F-4D97-AF65-F5344CB8AC3E}">
        <p14:creationId xmlns:p14="http://schemas.microsoft.com/office/powerpoint/2010/main" val="756546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E6BE457-725F-4974-8C3A-531F726306CE}"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1497A6-3F8E-47B8-8E4F-FEF5316C0B13}" type="slidenum">
              <a:rPr lang="en-IN" smtClean="0"/>
              <a:t>‹#›</a:t>
            </a:fld>
            <a:endParaRPr lang="en-IN"/>
          </a:p>
        </p:txBody>
      </p:sp>
    </p:spTree>
    <p:extLst>
      <p:ext uri="{BB962C8B-B14F-4D97-AF65-F5344CB8AC3E}">
        <p14:creationId xmlns:p14="http://schemas.microsoft.com/office/powerpoint/2010/main" val="2567695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E6BE457-725F-4974-8C3A-531F726306CE}"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1497A6-3F8E-47B8-8E4F-FEF5316C0B13}" type="slidenum">
              <a:rPr lang="en-IN" smtClean="0"/>
              <a:t>‹#›</a:t>
            </a:fld>
            <a:endParaRPr lang="en-IN"/>
          </a:p>
        </p:txBody>
      </p:sp>
    </p:spTree>
    <p:extLst>
      <p:ext uri="{BB962C8B-B14F-4D97-AF65-F5344CB8AC3E}">
        <p14:creationId xmlns:p14="http://schemas.microsoft.com/office/powerpoint/2010/main" val="2398409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E6BE457-725F-4974-8C3A-531F726306CE}"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1497A6-3F8E-47B8-8E4F-FEF5316C0B13}" type="slidenum">
              <a:rPr lang="en-IN" smtClean="0"/>
              <a:t>‹#›</a:t>
            </a:fld>
            <a:endParaRPr lang="en-IN"/>
          </a:p>
        </p:txBody>
      </p:sp>
    </p:spTree>
    <p:extLst>
      <p:ext uri="{BB962C8B-B14F-4D97-AF65-F5344CB8AC3E}">
        <p14:creationId xmlns:p14="http://schemas.microsoft.com/office/powerpoint/2010/main" val="2394832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6BE457-725F-4974-8C3A-531F726306CE}" type="datetimeFigureOut">
              <a:rPr lang="en-IN" smtClean="0"/>
              <a:t>06-11-2025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1497A6-3F8E-47B8-8E4F-FEF5316C0B13}" type="slidenum">
              <a:rPr lang="en-IN" smtClean="0"/>
              <a:t>‹#›</a:t>
            </a:fld>
            <a:endParaRPr lang="en-IN"/>
          </a:p>
        </p:txBody>
      </p:sp>
    </p:spTree>
    <p:extLst>
      <p:ext uri="{BB962C8B-B14F-4D97-AF65-F5344CB8AC3E}">
        <p14:creationId xmlns:p14="http://schemas.microsoft.com/office/powerpoint/2010/main" val="20756434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250.png"/><Relationship Id="rId26" Type="http://schemas.openxmlformats.org/officeDocument/2006/relationships/image" Target="../media/image29.png"/><Relationship Id="rId39" Type="http://schemas.openxmlformats.org/officeDocument/2006/relationships/image" Target="../media/image32.png"/><Relationship Id="rId21" Type="http://schemas.openxmlformats.org/officeDocument/2006/relationships/customXml" Target="../ink/ink10.xml"/><Relationship Id="rId34" Type="http://schemas.openxmlformats.org/officeDocument/2006/relationships/customXml" Target="../ink/ink19.xml"/><Relationship Id="rId42" Type="http://schemas.openxmlformats.org/officeDocument/2006/relationships/customXml" Target="../ink/ink24.xml"/><Relationship Id="rId7" Type="http://schemas.openxmlformats.org/officeDocument/2006/relationships/image" Target="../media/image210.png"/><Relationship Id="rId2" Type="http://schemas.openxmlformats.org/officeDocument/2006/relationships/image" Target="../media/image24.png"/><Relationship Id="rId16" Type="http://schemas.openxmlformats.org/officeDocument/2006/relationships/image" Target="../media/image240.png"/><Relationship Id="rId20" Type="http://schemas.openxmlformats.org/officeDocument/2006/relationships/image" Target="../media/image26.png"/><Relationship Id="rId29" Type="http://schemas.openxmlformats.org/officeDocument/2006/relationships/customXml" Target="../ink/ink15.xml"/><Relationship Id="rId41" Type="http://schemas.openxmlformats.org/officeDocument/2006/relationships/image" Target="../media/image33.png"/><Relationship Id="rId1" Type="http://schemas.openxmlformats.org/officeDocument/2006/relationships/slideLayout" Target="../slideLayouts/slideLayout2.xml"/><Relationship Id="rId11" Type="http://schemas.openxmlformats.org/officeDocument/2006/relationships/customXml" Target="../ink/ink5.xml"/><Relationship Id="rId24" Type="http://schemas.openxmlformats.org/officeDocument/2006/relationships/image" Target="../media/image28.png"/><Relationship Id="rId32" Type="http://schemas.openxmlformats.org/officeDocument/2006/relationships/customXml" Target="../ink/ink17.xml"/><Relationship Id="rId37" Type="http://schemas.openxmlformats.org/officeDocument/2006/relationships/customXml" Target="../ink/ink21.xml"/><Relationship Id="rId40" Type="http://schemas.openxmlformats.org/officeDocument/2006/relationships/customXml" Target="../ink/ink23.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customXml" Target="../ink/ink14.xml"/><Relationship Id="rId36" Type="http://schemas.openxmlformats.org/officeDocument/2006/relationships/customXml" Target="../ink/ink20.xml"/><Relationship Id="rId10" Type="http://schemas.openxmlformats.org/officeDocument/2006/relationships/customXml" Target="../ink/ink4.xml"/><Relationship Id="rId19" Type="http://schemas.openxmlformats.org/officeDocument/2006/relationships/customXml" Target="../ink/ink9.xml"/><Relationship Id="rId31" Type="http://schemas.openxmlformats.org/officeDocument/2006/relationships/customXml" Target="../ink/ink16.xml"/><Relationship Id="rId4" Type="http://schemas.openxmlformats.org/officeDocument/2006/relationships/customXml" Target="../ink/ink1.xml"/><Relationship Id="rId9" Type="http://schemas.openxmlformats.org/officeDocument/2006/relationships/customXml" Target="../ink/ink3.xml"/><Relationship Id="rId14" Type="http://schemas.openxmlformats.org/officeDocument/2006/relationships/image" Target="../media/image230.png"/><Relationship Id="rId22" Type="http://schemas.openxmlformats.org/officeDocument/2006/relationships/image" Target="../media/image27.png"/><Relationship Id="rId27" Type="http://schemas.openxmlformats.org/officeDocument/2006/relationships/customXml" Target="../ink/ink13.xml"/><Relationship Id="rId30" Type="http://schemas.openxmlformats.org/officeDocument/2006/relationships/image" Target="../media/image30.png"/><Relationship Id="rId35" Type="http://schemas.openxmlformats.org/officeDocument/2006/relationships/image" Target="../media/image31.png"/><Relationship Id="rId43" Type="http://schemas.openxmlformats.org/officeDocument/2006/relationships/image" Target="../media/image34.png"/><Relationship Id="rId8" Type="http://schemas.openxmlformats.org/officeDocument/2006/relationships/customXml" Target="../ink/ink2.xml"/><Relationship Id="rId3" Type="http://schemas.openxmlformats.org/officeDocument/2006/relationships/image" Target="../media/image25.png"/><Relationship Id="rId12" Type="http://schemas.openxmlformats.org/officeDocument/2006/relationships/image" Target="../media/image220.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8.xml"/><Relationship Id="rId38" Type="http://schemas.openxmlformats.org/officeDocument/2006/relationships/customXml" Target="../ink/ink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6.wmf"/></Relationships>
</file>

<file path=ppt/slides/_rels/slide43.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46.wmf"/></Relationships>
</file>

<file path=ppt/slides/_rels/slide46.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customXml" Target="../ink/ink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l"/>
            <a:r>
              <a:rPr lang="en-IN" dirty="0"/>
              <a:t>Synchronous Sequential Circuits</a:t>
            </a:r>
            <a:br>
              <a:rPr lang="en-IN" dirty="0"/>
            </a:br>
            <a:endParaRPr lang="en-IN" dirty="0"/>
          </a:p>
        </p:txBody>
      </p:sp>
      <p:sp>
        <p:nvSpPr>
          <p:cNvPr id="3" name="Rectangle 2"/>
          <p:cNvSpPr/>
          <p:nvPr/>
        </p:nvSpPr>
        <p:spPr>
          <a:xfrm>
            <a:off x="1369325" y="3248353"/>
            <a:ext cx="9985611" cy="2677656"/>
          </a:xfrm>
          <a:prstGeom prst="rect">
            <a:avLst/>
          </a:prstGeom>
        </p:spPr>
        <p:txBody>
          <a:bodyPr wrap="square">
            <a:spAutoFit/>
          </a:bodyPr>
          <a:lstStyle/>
          <a:p>
            <a:r>
              <a:rPr lang="en-IN" sz="2800" dirty="0"/>
              <a:t>Text book: </a:t>
            </a:r>
          </a:p>
          <a:p>
            <a:endParaRPr lang="en-IN" sz="2800" dirty="0"/>
          </a:p>
          <a:p>
            <a:r>
              <a:rPr lang="en-IN" sz="2800" dirty="0"/>
              <a:t> Morris Mano M. and Michael D. Ciletti., Digital Design: With an introduction to the Verilog HDL (5e), PHI Learning 2007.</a:t>
            </a:r>
          </a:p>
          <a:p>
            <a:r>
              <a:rPr lang="en-IN" sz="2800" dirty="0"/>
              <a:t>Chapter 5 and 6</a:t>
            </a:r>
          </a:p>
          <a:p>
            <a:endParaRPr lang="en-US" sz="2800" dirty="0"/>
          </a:p>
        </p:txBody>
      </p:sp>
    </p:spTree>
    <p:extLst>
      <p:ext uri="{BB962C8B-B14F-4D97-AF65-F5344CB8AC3E}">
        <p14:creationId xmlns:p14="http://schemas.microsoft.com/office/powerpoint/2010/main" val="2779510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42382-DDEC-D7F6-F038-8090C19C1A3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38F28AE-71E0-914C-0B73-5082CAFACF0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05D8C80-487A-0C85-AF8E-892DCF9F8040}"/>
              </a:ext>
            </a:extLst>
          </p:cNvPr>
          <p:cNvPicPr>
            <a:picLocks noChangeAspect="1"/>
          </p:cNvPicPr>
          <p:nvPr/>
        </p:nvPicPr>
        <p:blipFill>
          <a:blip r:embed="rId2"/>
          <a:stretch>
            <a:fillRect/>
          </a:stretch>
        </p:blipFill>
        <p:spPr>
          <a:xfrm>
            <a:off x="1275677" y="775917"/>
            <a:ext cx="9640645" cy="5306165"/>
          </a:xfrm>
          <a:prstGeom prst="rect">
            <a:avLst/>
          </a:prstGeom>
        </p:spPr>
      </p:pic>
    </p:spTree>
    <p:extLst>
      <p:ext uri="{BB962C8B-B14F-4D97-AF65-F5344CB8AC3E}">
        <p14:creationId xmlns:p14="http://schemas.microsoft.com/office/powerpoint/2010/main" val="1961537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BE6EC-DC9A-E7B8-E24C-68C65E87BFF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31D337E-C8DD-AAF4-482E-450A31D35A0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A185A53-0D44-C42F-079C-DB77E41963CD}"/>
              </a:ext>
            </a:extLst>
          </p:cNvPr>
          <p:cNvPicPr>
            <a:picLocks noChangeAspect="1"/>
          </p:cNvPicPr>
          <p:nvPr/>
        </p:nvPicPr>
        <p:blipFill>
          <a:blip r:embed="rId2"/>
          <a:stretch>
            <a:fillRect/>
          </a:stretch>
        </p:blipFill>
        <p:spPr>
          <a:xfrm>
            <a:off x="1242335" y="1314155"/>
            <a:ext cx="9707330" cy="4229690"/>
          </a:xfrm>
          <a:prstGeom prst="rect">
            <a:avLst/>
          </a:prstGeom>
        </p:spPr>
      </p:pic>
    </p:spTree>
    <p:extLst>
      <p:ext uri="{BB962C8B-B14F-4D97-AF65-F5344CB8AC3E}">
        <p14:creationId xmlns:p14="http://schemas.microsoft.com/office/powerpoint/2010/main" val="4023226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474D7-0C91-1207-C94C-9438AE8B8A8A}"/>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id="{2A72F9C5-BD62-5AC3-6414-4D1BFE492CD1}"/>
              </a:ext>
            </a:extLst>
          </p:cNvPr>
          <p:cNvPicPr>
            <a:picLocks noGrp="1" noChangeAspect="1"/>
          </p:cNvPicPr>
          <p:nvPr>
            <p:ph idx="1"/>
          </p:nvPr>
        </p:nvPicPr>
        <p:blipFill>
          <a:blip r:embed="rId2"/>
          <a:stretch>
            <a:fillRect/>
          </a:stretch>
        </p:blipFill>
        <p:spPr>
          <a:xfrm>
            <a:off x="419683" y="201693"/>
            <a:ext cx="5822074" cy="4043736"/>
          </a:xfrm>
          <a:prstGeom prst="rect">
            <a:avLst/>
          </a:prstGeom>
        </p:spPr>
      </p:pic>
      <p:pic>
        <p:nvPicPr>
          <p:cNvPr id="5" name="Picture 4">
            <a:extLst>
              <a:ext uri="{FF2B5EF4-FFF2-40B4-BE49-F238E27FC236}">
                <a16:creationId xmlns:a16="http://schemas.microsoft.com/office/drawing/2014/main" id="{014EFDF4-E450-EC08-2A3F-02607628B30A}"/>
              </a:ext>
            </a:extLst>
          </p:cNvPr>
          <p:cNvPicPr>
            <a:picLocks noChangeAspect="1"/>
          </p:cNvPicPr>
          <p:nvPr/>
        </p:nvPicPr>
        <p:blipFill>
          <a:blip r:embed="rId3"/>
          <a:stretch>
            <a:fillRect/>
          </a:stretch>
        </p:blipFill>
        <p:spPr>
          <a:xfrm>
            <a:off x="6310603" y="2526879"/>
            <a:ext cx="5461714" cy="4225060"/>
          </a:xfrm>
          <a:prstGeom prst="rect">
            <a:avLst/>
          </a:prstGeom>
        </p:spPr>
      </p:pic>
    </p:spTree>
    <p:extLst>
      <p:ext uri="{BB962C8B-B14F-4D97-AF65-F5344CB8AC3E}">
        <p14:creationId xmlns:p14="http://schemas.microsoft.com/office/powerpoint/2010/main" val="3507188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22513" y="777802"/>
            <a:ext cx="11142617" cy="1754326"/>
          </a:xfrm>
          <a:prstGeom prst="rect">
            <a:avLst/>
          </a:prstGeom>
        </p:spPr>
        <p:txBody>
          <a:bodyPr wrap="square">
            <a:spAutoFit/>
          </a:bodyPr>
          <a:lstStyle/>
          <a:p>
            <a:pPr marL="285750" indent="-285750" algn="just">
              <a:buFont typeface="Arial" panose="020B0604020202020204" pitchFamily="34" charset="0"/>
              <a:buChar char="•"/>
            </a:pPr>
            <a:r>
              <a:rPr lang="en-IN" dirty="0">
                <a:solidFill>
                  <a:srgbClr val="000000"/>
                </a:solidFill>
                <a:latin typeface="Arial" panose="020B0604020202020204" pitchFamily="34" charset="0"/>
              </a:rPr>
              <a:t>The digital circuits considered thus far have been combinational, i.e., the outputs at any</a:t>
            </a:r>
            <a:br>
              <a:rPr lang="en-IN" dirty="0"/>
            </a:br>
            <a:r>
              <a:rPr lang="en-IN" dirty="0">
                <a:solidFill>
                  <a:srgbClr val="000000"/>
                </a:solidFill>
                <a:latin typeface="Arial" panose="020B0604020202020204" pitchFamily="34" charset="0"/>
              </a:rPr>
              <a:t>instant of time are entirely dependent upon the inputs present at that time. </a:t>
            </a:r>
          </a:p>
          <a:p>
            <a:pPr marL="285750" indent="-285750" algn="just">
              <a:buFont typeface="Arial" panose="020B0604020202020204" pitchFamily="34" charset="0"/>
              <a:buChar char="•"/>
            </a:pPr>
            <a:endParaRPr lang="en-IN" dirty="0">
              <a:solidFill>
                <a:srgbClr val="000000"/>
              </a:solidFill>
              <a:latin typeface="Arial" panose="020B0604020202020204" pitchFamily="34" charset="0"/>
            </a:endParaRPr>
          </a:p>
          <a:p>
            <a:pPr marL="285750" indent="-285750" algn="just">
              <a:buFont typeface="Arial" panose="020B0604020202020204" pitchFamily="34" charset="0"/>
              <a:buChar char="•"/>
            </a:pPr>
            <a:r>
              <a:rPr lang="en-IN" dirty="0">
                <a:solidFill>
                  <a:srgbClr val="000000"/>
                </a:solidFill>
                <a:latin typeface="Arial" panose="020B0604020202020204" pitchFamily="34" charset="0"/>
              </a:rPr>
              <a:t>Although every digital system is likely to have combinational circuits, most systems encountered</a:t>
            </a:r>
            <a:br>
              <a:rPr lang="en-IN" dirty="0"/>
            </a:br>
            <a:r>
              <a:rPr lang="en-IN" dirty="0">
                <a:solidFill>
                  <a:srgbClr val="000000"/>
                </a:solidFill>
                <a:latin typeface="Arial" panose="020B0604020202020204" pitchFamily="34" charset="0"/>
              </a:rPr>
              <a:t>in practice also include memory elements, which require that the system be described in</a:t>
            </a:r>
            <a:br>
              <a:rPr lang="en-IN" dirty="0"/>
            </a:br>
            <a:r>
              <a:rPr lang="en-IN" dirty="0">
                <a:solidFill>
                  <a:srgbClr val="000000"/>
                </a:solidFill>
                <a:latin typeface="Arial" panose="020B0604020202020204" pitchFamily="34" charset="0"/>
              </a:rPr>
              <a:t>terms of sequential.</a:t>
            </a:r>
            <a:endParaRPr lang="en-IN" dirty="0"/>
          </a:p>
        </p:txBody>
      </p:sp>
      <p:pic>
        <p:nvPicPr>
          <p:cNvPr id="7" name="Picture 6">
            <a:extLst>
              <a:ext uri="{FF2B5EF4-FFF2-40B4-BE49-F238E27FC236}">
                <a16:creationId xmlns:a16="http://schemas.microsoft.com/office/drawing/2014/main" id="{519DD106-EC21-6BFE-410B-BA966E9812EF}"/>
              </a:ext>
            </a:extLst>
          </p:cNvPr>
          <p:cNvPicPr>
            <a:picLocks noChangeAspect="1"/>
          </p:cNvPicPr>
          <p:nvPr/>
        </p:nvPicPr>
        <p:blipFill>
          <a:blip r:embed="rId2"/>
          <a:stretch>
            <a:fillRect/>
          </a:stretch>
        </p:blipFill>
        <p:spPr>
          <a:xfrm>
            <a:off x="1803107" y="3261360"/>
            <a:ext cx="8073497" cy="1991359"/>
          </a:xfrm>
          <a:prstGeom prst="rect">
            <a:avLst/>
          </a:prstGeom>
        </p:spPr>
      </p:pic>
    </p:spTree>
    <p:extLst>
      <p:ext uri="{BB962C8B-B14F-4D97-AF65-F5344CB8AC3E}">
        <p14:creationId xmlns:p14="http://schemas.microsoft.com/office/powerpoint/2010/main" val="2597913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548640" y="702501"/>
            <a:ext cx="10990217"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0000"/>
                </a:solidFill>
                <a:effectLst/>
                <a:latin typeface="+mj-lt"/>
              </a:rPr>
              <a:t>In</a:t>
            </a:r>
            <a:r>
              <a:rPr kumimoji="0" lang="en-US" altLang="en-US" sz="2400" b="0" i="0" u="none" strike="noStrike" cap="none" normalizeH="0" dirty="0">
                <a:ln>
                  <a:noFill/>
                </a:ln>
                <a:solidFill>
                  <a:srgbClr val="000000"/>
                </a:solidFill>
                <a:effectLst/>
                <a:latin typeface="+mj-lt"/>
              </a:rPr>
              <a:t> the diagram, t</a:t>
            </a:r>
            <a:r>
              <a:rPr kumimoji="0" lang="en-US" altLang="en-US" sz="2400" b="0" i="0" u="none" strike="noStrike" cap="none" normalizeH="0" baseline="0" dirty="0">
                <a:ln>
                  <a:noFill/>
                </a:ln>
                <a:solidFill>
                  <a:srgbClr val="000000"/>
                </a:solidFill>
                <a:effectLst/>
                <a:latin typeface="+mj-lt"/>
              </a:rPr>
              <a:t>he memory elements (Storage Elements) are devices capable of storing binary information within them.</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0000"/>
                </a:solidFill>
                <a:effectLst/>
                <a:latin typeface="+mj-lt"/>
              </a:rPr>
              <a:t>The binary information stored in the memory elements at any given time defines the state of the sequential circuit.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0000"/>
                </a:solidFill>
                <a:effectLst/>
                <a:latin typeface="+mj-lt"/>
              </a:rPr>
              <a:t>The sequential circuit receives binary information from external inputs. These inputs, together with the present state of the memory elements, determine the binary value at the output terminals.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0000"/>
                </a:solidFill>
                <a:effectLst/>
                <a:latin typeface="+mj-lt"/>
              </a:rPr>
              <a:t>They also determine the condition for changing the state in the memory elements.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0000"/>
                </a:solidFill>
                <a:effectLst/>
                <a:latin typeface="+mj-lt"/>
              </a:rPr>
              <a:t>The block diagram demonstrates that the external outputs in a sequential circuit are a function not only of external inputs, but also of the present state of the memory elements. The next state of the memory elements is also a function of external inputs and the present state.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400" dirty="0">
              <a:solidFill>
                <a:srgbClr val="000000"/>
              </a:solidFill>
              <a:latin typeface="+mj-l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0000"/>
                </a:solidFill>
                <a:effectLst/>
                <a:latin typeface="+mj-lt"/>
              </a:rPr>
              <a:t>Thus, a sequential circuit is specified by a time sequence of inputs, outputs, and internal states.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400" dirty="0">
              <a:solidFill>
                <a:srgbClr val="000000"/>
              </a:solidFill>
              <a:latin typeface="+mj-lt"/>
            </a:endParaRPr>
          </a:p>
        </p:txBody>
      </p:sp>
    </p:spTree>
    <p:extLst>
      <p:ext uri="{BB962C8B-B14F-4D97-AF65-F5344CB8AC3E}">
        <p14:creationId xmlns:p14="http://schemas.microsoft.com/office/powerpoint/2010/main" val="2121970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5F2D8-B620-788F-C4F6-DB27CBAF42E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624397F-0B47-7382-4419-788FC423C84B}"/>
              </a:ext>
            </a:extLst>
          </p:cNvPr>
          <p:cNvSpPr>
            <a:spLocks noGrp="1"/>
          </p:cNvSpPr>
          <p:nvPr>
            <p:ph idx="1"/>
          </p:nvPr>
        </p:nvSpPr>
        <p:spPr/>
        <p:txBody>
          <a:bodyPr/>
          <a:lstStyle/>
          <a:p>
            <a:r>
              <a:rPr lang="en-US" dirty="0"/>
              <a:t>Therefore, to completely describe the behavior of a sequential circuit, we need three things:</a:t>
            </a:r>
          </a:p>
          <a:p>
            <a:r>
              <a:rPr lang="en-US" b="1" dirty="0"/>
              <a:t>Inputs</a:t>
            </a:r>
            <a:r>
              <a:rPr lang="en-US" dirty="0"/>
              <a:t> → The signals currently applied to the circuit.</a:t>
            </a:r>
          </a:p>
          <a:p>
            <a:r>
              <a:rPr lang="en-US" b="1" dirty="0"/>
              <a:t>Internal states</a:t>
            </a:r>
            <a:r>
              <a:rPr lang="en-US" dirty="0"/>
              <a:t> → The information stored in the memory elements that represent the effect of </a:t>
            </a:r>
            <a:r>
              <a:rPr lang="en-US" b="1" dirty="0"/>
              <a:t>past inputs</a:t>
            </a:r>
            <a:r>
              <a:rPr lang="en-US" dirty="0"/>
              <a:t> (the history).</a:t>
            </a:r>
          </a:p>
          <a:p>
            <a:r>
              <a:rPr lang="en-US" b="1" dirty="0"/>
              <a:t>Outputs</a:t>
            </a:r>
            <a:r>
              <a:rPr lang="en-US" dirty="0"/>
              <a:t> → The signals produced, which depend on both the current inputs and the stored internal state.</a:t>
            </a:r>
          </a:p>
          <a:p>
            <a:endParaRPr lang="en-IN" dirty="0"/>
          </a:p>
        </p:txBody>
      </p:sp>
    </p:spTree>
    <p:extLst>
      <p:ext uri="{BB962C8B-B14F-4D97-AF65-F5344CB8AC3E}">
        <p14:creationId xmlns:p14="http://schemas.microsoft.com/office/powerpoint/2010/main" val="2362208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8294" y="1291274"/>
            <a:ext cx="10589623" cy="4154984"/>
          </a:xfrm>
          <a:prstGeom prst="rect">
            <a:avLst/>
          </a:prstGeom>
        </p:spPr>
        <p:txBody>
          <a:bodyPr wrap="square">
            <a:spAutoFit/>
          </a:bodyPr>
          <a:lstStyle/>
          <a:p>
            <a:pPr lvl="0" algn="just" eaLnBrk="0" fontAlgn="base" hangingPunct="0">
              <a:spcBef>
                <a:spcPct val="0"/>
              </a:spcBef>
              <a:spcAft>
                <a:spcPct val="0"/>
              </a:spcAft>
            </a:pPr>
            <a:r>
              <a:rPr lang="en-US" altLang="en-US" sz="2400" b="1" dirty="0">
                <a:solidFill>
                  <a:srgbClr val="000000"/>
                </a:solidFill>
                <a:latin typeface="Arial Unicode MS"/>
              </a:rPr>
              <a:t>Two main types of sequential circuits. :</a:t>
            </a:r>
          </a:p>
          <a:p>
            <a:pPr lvl="0" algn="just" eaLnBrk="0" fontAlgn="base" hangingPunct="0">
              <a:spcBef>
                <a:spcPct val="0"/>
              </a:spcBef>
              <a:spcAft>
                <a:spcPct val="0"/>
              </a:spcAft>
            </a:pPr>
            <a:endParaRPr lang="en-US" altLang="en-US" sz="2000" b="1" dirty="0">
              <a:solidFill>
                <a:srgbClr val="000000"/>
              </a:solidFill>
              <a:latin typeface="Arial Unicode MS"/>
            </a:endParaRPr>
          </a:p>
          <a:p>
            <a:pPr marL="742950" lvl="1" indent="-285750" algn="just"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rial Unicode MS"/>
              </a:rPr>
              <a:t>Synchronous sequential circuit </a:t>
            </a:r>
          </a:p>
          <a:p>
            <a:pPr marL="742950" lvl="1" indent="-285750" algn="just"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rial Unicode MS"/>
              </a:rPr>
              <a:t>Asynchronous sequential circuit </a:t>
            </a:r>
          </a:p>
          <a:p>
            <a:pPr lvl="0" algn="just" eaLnBrk="0" fontAlgn="base" hangingPunct="0">
              <a:spcBef>
                <a:spcPct val="0"/>
              </a:spcBef>
              <a:spcAft>
                <a:spcPct val="0"/>
              </a:spcAft>
            </a:pPr>
            <a:endParaRPr lang="en-US" altLang="en-US" sz="2000" dirty="0">
              <a:solidFill>
                <a:srgbClr val="000000"/>
              </a:solidFill>
              <a:latin typeface="Arial Unicode MS"/>
            </a:endParaRPr>
          </a:p>
          <a:p>
            <a:pPr algn="just"/>
            <a:r>
              <a:rPr lang="en-US" altLang="en-US" sz="2000" dirty="0">
                <a:solidFill>
                  <a:srgbClr val="000000"/>
                </a:solidFill>
                <a:highlight>
                  <a:srgbClr val="FFFF00"/>
                </a:highlight>
                <a:latin typeface="Arial Unicode MS"/>
              </a:rPr>
              <a:t>A synchronous sequential circuit is a system Whose behavior can be defined from the knowledge of its signals at discrete instants of time. </a:t>
            </a:r>
            <a:r>
              <a:rPr lang="en-US" sz="2000" dirty="0">
                <a:solidFill>
                  <a:srgbClr val="000000"/>
                </a:solidFill>
                <a:latin typeface="Arial Unicode MS"/>
              </a:rPr>
              <a:t>Synchronization is achieved by a timing device called a clock generator, which provides a clock signal having the form of a periodic train of clock pulses. The activity within the circuit and the resulting updating of stored values is synchronized to the occurrence of clock pulses.</a:t>
            </a:r>
            <a:endParaRPr lang="en-US" altLang="en-US" sz="2000" dirty="0">
              <a:solidFill>
                <a:srgbClr val="000000"/>
              </a:solidFill>
              <a:latin typeface="Arial Unicode MS"/>
            </a:endParaRPr>
          </a:p>
          <a:p>
            <a:pPr lvl="0" algn="just" eaLnBrk="0" fontAlgn="base" hangingPunct="0">
              <a:spcBef>
                <a:spcPct val="0"/>
              </a:spcBef>
              <a:spcAft>
                <a:spcPct val="0"/>
              </a:spcAft>
            </a:pPr>
            <a:endParaRPr lang="en-US" altLang="en-US" sz="2000" dirty="0">
              <a:solidFill>
                <a:srgbClr val="000000"/>
              </a:solidFill>
              <a:latin typeface="Arial Unicode MS"/>
            </a:endParaRPr>
          </a:p>
          <a:p>
            <a:pPr lvl="0" algn="just" eaLnBrk="0" fontAlgn="base" hangingPunct="0">
              <a:spcBef>
                <a:spcPct val="0"/>
              </a:spcBef>
              <a:spcAft>
                <a:spcPct val="0"/>
              </a:spcAft>
            </a:pPr>
            <a:r>
              <a:rPr lang="en-US" altLang="en-US" sz="2000" dirty="0">
                <a:solidFill>
                  <a:srgbClr val="000000"/>
                </a:solidFill>
                <a:highlight>
                  <a:srgbClr val="FFFF00"/>
                </a:highlight>
                <a:latin typeface="Arial Unicode MS"/>
              </a:rPr>
              <a:t>The behavior of an asynchronous sequential circuit depends upon the order in which its input signals change and can be affected at any instant of time. </a:t>
            </a:r>
            <a:endParaRPr lang="en-US" altLang="en-US" sz="2000" dirty="0">
              <a:highlight>
                <a:srgbClr val="FFFF00"/>
              </a:highlight>
              <a:latin typeface="Arial" panose="020B0604020202020204" pitchFamily="34" charset="0"/>
            </a:endParaRPr>
          </a:p>
        </p:txBody>
      </p:sp>
    </p:spTree>
    <p:extLst>
      <p:ext uri="{BB962C8B-B14F-4D97-AF65-F5344CB8AC3E}">
        <p14:creationId xmlns:p14="http://schemas.microsoft.com/office/powerpoint/2010/main" val="180823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778E-F39C-3D02-DCD1-B577A7A1F47C}"/>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761BD8D5-6F4F-4AFD-D2FA-757C7CB123E9}"/>
              </a:ext>
            </a:extLst>
          </p:cNvPr>
          <p:cNvSpPr>
            <a:spLocks noGrp="1" noChangeArrowheads="1"/>
          </p:cNvSpPr>
          <p:nvPr>
            <p:ph idx="1"/>
          </p:nvPr>
        </p:nvSpPr>
        <p:spPr bwMode="auto">
          <a:xfrm>
            <a:off x="1575319" y="6029442"/>
            <a:ext cx="797205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Synchronous sequential circuits</a:t>
            </a:r>
            <a:r>
              <a:rPr kumimoji="0" lang="en-US" altLang="en-US" sz="1800" b="0" i="0" u="none" strike="noStrike" cap="none" normalizeH="0" baseline="0" dirty="0">
                <a:ln>
                  <a:noFill/>
                </a:ln>
                <a:solidFill>
                  <a:schemeClr val="tx1"/>
                </a:solidFill>
                <a:effectLst/>
                <a:latin typeface="Arial" panose="020B0604020202020204" pitchFamily="34" charset="0"/>
              </a:rPr>
              <a:t> → Depend on </a:t>
            </a:r>
            <a:r>
              <a:rPr kumimoji="0" lang="en-US" altLang="en-US" sz="1800" b="1" i="0" u="none" strike="noStrike" cap="none" normalizeH="0" baseline="0" dirty="0">
                <a:ln>
                  <a:noFill/>
                </a:ln>
                <a:solidFill>
                  <a:schemeClr val="tx1"/>
                </a:solidFill>
                <a:effectLst/>
                <a:latin typeface="Arial" panose="020B0604020202020204" pitchFamily="34" charset="0"/>
              </a:rPr>
              <a:t>clock + inputs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Asynchronous sequential circuits</a:t>
            </a:r>
            <a:r>
              <a:rPr kumimoji="0" lang="en-US" altLang="en-US" sz="1800" b="0" i="0" u="none" strike="noStrike" cap="none" normalizeH="0" baseline="0" dirty="0">
                <a:ln>
                  <a:noFill/>
                </a:ln>
                <a:solidFill>
                  <a:schemeClr val="tx1"/>
                </a:solidFill>
                <a:effectLst/>
                <a:latin typeface="Arial" panose="020B0604020202020204" pitchFamily="34" charset="0"/>
              </a:rPr>
              <a:t> → Depend on </a:t>
            </a:r>
            <a:r>
              <a:rPr kumimoji="0" lang="en-US" altLang="en-US" sz="1800" b="1" i="0" u="none" strike="noStrike" cap="none" normalizeH="0" baseline="0" dirty="0">
                <a:ln>
                  <a:noFill/>
                </a:ln>
                <a:solidFill>
                  <a:schemeClr val="tx1"/>
                </a:solidFill>
                <a:effectLst/>
                <a:latin typeface="Arial" panose="020B0604020202020204" pitchFamily="34" charset="0"/>
              </a:rPr>
              <a:t>inputs only (no clock)</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5" name="Picture 4">
            <a:extLst>
              <a:ext uri="{FF2B5EF4-FFF2-40B4-BE49-F238E27FC236}">
                <a16:creationId xmlns:a16="http://schemas.microsoft.com/office/drawing/2014/main" id="{A11FAA22-2AF0-2017-0701-E465CF1C174D}"/>
              </a:ext>
            </a:extLst>
          </p:cNvPr>
          <p:cNvPicPr>
            <a:picLocks noChangeAspect="1"/>
          </p:cNvPicPr>
          <p:nvPr/>
        </p:nvPicPr>
        <p:blipFill>
          <a:blip r:embed="rId2"/>
          <a:stretch>
            <a:fillRect/>
          </a:stretch>
        </p:blipFill>
        <p:spPr>
          <a:xfrm>
            <a:off x="343527" y="365125"/>
            <a:ext cx="11010273" cy="5516280"/>
          </a:xfrm>
          <a:prstGeom prst="rect">
            <a:avLst/>
          </a:prstGeom>
        </p:spPr>
      </p:pic>
    </p:spTree>
    <p:extLst>
      <p:ext uri="{BB962C8B-B14F-4D97-AF65-F5344CB8AC3E}">
        <p14:creationId xmlns:p14="http://schemas.microsoft.com/office/powerpoint/2010/main" val="1722996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1164"/>
            <a:ext cx="10515600" cy="5525799"/>
          </a:xfrm>
        </p:spPr>
        <p:txBody>
          <a:bodyPr>
            <a:normAutofit/>
          </a:bodyPr>
          <a:lstStyle/>
          <a:p>
            <a:pPr algn="just"/>
            <a:r>
              <a:rPr lang="en-US" dirty="0"/>
              <a:t>A synchronous sequential circuit employs signals that affect the storage elements only at discrete instants of time. </a:t>
            </a:r>
            <a:r>
              <a:rPr lang="en-US" dirty="0">
                <a:highlight>
                  <a:srgbClr val="FFFF00"/>
                </a:highlight>
              </a:rPr>
              <a:t>Synchronization is achieved by a timing device called a </a:t>
            </a:r>
            <a:r>
              <a:rPr lang="en-US" b="1" i="1" dirty="0">
                <a:highlight>
                  <a:srgbClr val="FFFF00"/>
                </a:highlight>
              </a:rPr>
              <a:t>clock generator </a:t>
            </a:r>
            <a:r>
              <a:rPr lang="en-US" dirty="0">
                <a:highlight>
                  <a:srgbClr val="FFFF00"/>
                </a:highlight>
              </a:rPr>
              <a:t>which produces a periodic train of </a:t>
            </a:r>
            <a:r>
              <a:rPr lang="en-US" b="1" i="1" dirty="0">
                <a:highlight>
                  <a:srgbClr val="FFFF00"/>
                </a:highlight>
              </a:rPr>
              <a:t>clock pulses</a:t>
            </a:r>
            <a:r>
              <a:rPr lang="en-US" dirty="0">
                <a:highlight>
                  <a:srgbClr val="FFFF00"/>
                </a:highlight>
              </a:rPr>
              <a:t>. </a:t>
            </a:r>
          </a:p>
          <a:p>
            <a:pPr algn="just"/>
            <a:r>
              <a:rPr lang="en-US" dirty="0"/>
              <a:t>The pulses are distributed throughout the system in such a way that synchronous storage elements are affected only in some specified relationship to every pulse.</a:t>
            </a:r>
          </a:p>
          <a:p>
            <a:pPr algn="just"/>
            <a:r>
              <a:rPr lang="en-IN" dirty="0"/>
              <a:t>In practice, </a:t>
            </a:r>
            <a:r>
              <a:rPr lang="en-US" dirty="0"/>
              <a:t>the clock pulses are applied with other signals that specify the required change in the storage elements. The outputs of storage elements can change their value only in the presence of clock pulses. </a:t>
            </a:r>
          </a:p>
          <a:p>
            <a:pPr algn="just"/>
            <a:r>
              <a:rPr lang="en-US" dirty="0"/>
              <a:t>Synchronous sequential circuits that use clock pulses as inputs for storage elements are called </a:t>
            </a:r>
            <a:r>
              <a:rPr lang="en-US" b="1" i="1" dirty="0"/>
              <a:t>clocked sequential circuits</a:t>
            </a:r>
            <a:r>
              <a:rPr lang="en-US" b="1" dirty="0"/>
              <a:t>.</a:t>
            </a:r>
            <a:endParaRPr lang="en-IN" b="1" dirty="0"/>
          </a:p>
        </p:txBody>
      </p:sp>
    </p:spTree>
    <p:extLst>
      <p:ext uri="{BB962C8B-B14F-4D97-AF65-F5344CB8AC3E}">
        <p14:creationId xmlns:p14="http://schemas.microsoft.com/office/powerpoint/2010/main" val="2670073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FA62E79-0468-B1E7-44C3-3EBB8AF67470}"/>
              </a:ext>
            </a:extLst>
          </p:cNvPr>
          <p:cNvSpPr txBox="1"/>
          <p:nvPr/>
        </p:nvSpPr>
        <p:spPr>
          <a:xfrm>
            <a:off x="375920" y="845953"/>
            <a:ext cx="11348720" cy="5847755"/>
          </a:xfrm>
          <a:prstGeom prst="rect">
            <a:avLst/>
          </a:prstGeom>
          <a:noFill/>
        </p:spPr>
        <p:txBody>
          <a:bodyPr wrap="square">
            <a:spAutoFit/>
          </a:bodyPr>
          <a:lstStyle/>
          <a:p>
            <a:pPr marL="342900" indent="-342900" algn="just">
              <a:buFont typeface="Arial" panose="020B0604020202020204" pitchFamily="34" charset="0"/>
              <a:buChar char="•"/>
            </a:pPr>
            <a:r>
              <a:rPr lang="en-US" sz="2200" b="0" i="0" u="none" strike="noStrike" baseline="0" dirty="0">
                <a:latin typeface="Times New Roman" panose="02020603050405020304" pitchFamily="18" charset="0"/>
                <a:cs typeface="Times New Roman" panose="02020603050405020304" pitchFamily="18" charset="0"/>
              </a:rPr>
              <a:t>A storage element in a digital circuit can maintain a binary state indefinitely (as long as power is delivered to the circuit), until directed by an input signal to switch states.</a:t>
            </a:r>
          </a:p>
          <a:p>
            <a:pPr algn="just"/>
            <a:endParaRPr lang="en-US" sz="2200" b="0" i="0" u="none" strike="noStrike" baseline="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b="0" i="1" u="none" strike="noStrike" baseline="0" dirty="0">
                <a:highlight>
                  <a:srgbClr val="00FFFF"/>
                </a:highlight>
                <a:latin typeface="Times New Roman" panose="02020603050405020304" pitchFamily="18" charset="0"/>
                <a:cs typeface="Times New Roman" panose="02020603050405020304" pitchFamily="18" charset="0"/>
              </a:rPr>
              <a:t>Storage elements that operate with signal levels (rather than signal transitions) are referred to as latches </a:t>
            </a:r>
            <a:r>
              <a:rPr lang="en-US" sz="2200" b="0" i="0" u="none" strike="noStrike" baseline="0" dirty="0">
                <a:highlight>
                  <a:srgbClr val="00FFFF"/>
                </a:highlight>
                <a:latin typeface="Times New Roman" panose="02020603050405020304" pitchFamily="18" charset="0"/>
                <a:cs typeface="Times New Roman" panose="02020603050405020304" pitchFamily="18" charset="0"/>
              </a:rPr>
              <a:t>; </a:t>
            </a:r>
            <a:r>
              <a:rPr lang="en-US" sz="2200" b="0" i="1" u="none" strike="noStrike" baseline="0" dirty="0">
                <a:highlight>
                  <a:srgbClr val="00FFFF"/>
                </a:highlight>
                <a:latin typeface="Times New Roman" panose="02020603050405020304" pitchFamily="18" charset="0"/>
                <a:cs typeface="Times New Roman" panose="02020603050405020304" pitchFamily="18" charset="0"/>
              </a:rPr>
              <a:t>those controlled by a clock transition are flip-flops </a:t>
            </a:r>
            <a:r>
              <a:rPr lang="en-US" sz="2200" b="0" i="0" u="none" strike="noStrike" baseline="0" dirty="0">
                <a:highlight>
                  <a:srgbClr val="00FFFF"/>
                </a:highlight>
                <a:latin typeface="Times New Roman" panose="02020603050405020304" pitchFamily="18" charset="0"/>
                <a:cs typeface="Times New Roman" panose="02020603050405020304" pitchFamily="18" charset="0"/>
              </a:rPr>
              <a:t>. </a:t>
            </a:r>
          </a:p>
          <a:p>
            <a:pPr algn="just"/>
            <a:endParaRPr lang="en-US" sz="2200" b="0" i="0" u="none" strike="noStrike" baseline="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b="0" i="0" u="none" strike="noStrike" baseline="0" dirty="0">
                <a:highlight>
                  <a:srgbClr val="00FF00"/>
                </a:highlight>
                <a:latin typeface="Times New Roman" panose="02020603050405020304" pitchFamily="18" charset="0"/>
                <a:cs typeface="Times New Roman" panose="02020603050405020304" pitchFamily="18" charset="0"/>
              </a:rPr>
              <a:t>Latches are said to be </a:t>
            </a:r>
            <a:r>
              <a:rPr lang="en-US" sz="2200" b="1" i="0" u="none" strike="noStrike" baseline="0" dirty="0">
                <a:highlight>
                  <a:srgbClr val="00FF00"/>
                </a:highlight>
                <a:latin typeface="Times New Roman" panose="02020603050405020304" pitchFamily="18" charset="0"/>
                <a:cs typeface="Times New Roman" panose="02020603050405020304" pitchFamily="18" charset="0"/>
              </a:rPr>
              <a:t>level sensitive devices; flip-flops are edge-sensitive devices. </a:t>
            </a:r>
          </a:p>
          <a:p>
            <a:pPr algn="just"/>
            <a:endParaRPr lang="en-US" sz="2200" b="0" i="0" u="none" strike="noStrike" baseline="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b="0" i="0" u="none" strike="noStrike" baseline="0" dirty="0">
                <a:latin typeface="Times New Roman" panose="02020603050405020304" pitchFamily="18" charset="0"/>
                <a:cs typeface="Times New Roman" panose="02020603050405020304" pitchFamily="18" charset="0"/>
              </a:rPr>
              <a:t>The two types of storage elements are related because latches are the basic circuits from which all flip-flops are constructed.</a:t>
            </a:r>
          </a:p>
          <a:p>
            <a:pPr algn="just"/>
            <a:endParaRPr lang="en-US" sz="2200" b="0" i="0" u="none" strike="noStrike" baseline="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b="0" i="0" u="none" strike="noStrike" baseline="0" dirty="0">
                <a:latin typeface="Times New Roman" panose="02020603050405020304" pitchFamily="18" charset="0"/>
                <a:cs typeface="Times New Roman" panose="02020603050405020304" pitchFamily="18" charset="0"/>
              </a:rPr>
              <a:t>Although latches are useful for storing binary information and for the design of asynchronous sequential circuits, they are not practical for use as storage elements in synchronous sequential circuits.</a:t>
            </a:r>
          </a:p>
          <a:p>
            <a:pPr algn="just"/>
            <a:endParaRPr lang="en-US" sz="2200" b="0" i="0" u="none" strike="noStrike" baseline="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b="0" i="0" u="none" strike="noStrike" baseline="0" dirty="0">
                <a:latin typeface="Times New Roman" panose="02020603050405020304" pitchFamily="18" charset="0"/>
                <a:cs typeface="Times New Roman" panose="02020603050405020304" pitchFamily="18" charset="0"/>
              </a:rPr>
              <a:t> Because they are the building blocks of flip-flops, however, we will consider the fundamental storage mechanism used in latches</a:t>
            </a:r>
            <a:endParaRPr lang="en-US" sz="2200"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E7084638-265B-B07C-6167-E7F736F3D3E5}"/>
              </a:ext>
            </a:extLst>
          </p:cNvPr>
          <p:cNvSpPr>
            <a:spLocks noGrp="1"/>
          </p:cNvSpPr>
          <p:nvPr>
            <p:ph type="title"/>
          </p:nvPr>
        </p:nvSpPr>
        <p:spPr>
          <a:xfrm>
            <a:off x="375920" y="80645"/>
            <a:ext cx="10515600" cy="917731"/>
          </a:xfrm>
        </p:spPr>
        <p:txBody>
          <a:bodyPr/>
          <a:lstStyle/>
          <a:p>
            <a:pPr algn="ctr"/>
            <a:r>
              <a:rPr lang="en-IN" dirty="0"/>
              <a:t>Storage Elements</a:t>
            </a:r>
          </a:p>
        </p:txBody>
      </p:sp>
    </p:spTree>
    <p:extLst>
      <p:ext uri="{BB962C8B-B14F-4D97-AF65-F5344CB8AC3E}">
        <p14:creationId xmlns:p14="http://schemas.microsoft.com/office/powerpoint/2010/main" val="3737361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4389D-E690-30F5-749A-293B9C445AD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052109E-A914-7C18-14D5-995093F93B4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5E50623-0273-F99E-ED36-437CAACFC756}"/>
              </a:ext>
            </a:extLst>
          </p:cNvPr>
          <p:cNvPicPr>
            <a:picLocks noChangeAspect="1"/>
          </p:cNvPicPr>
          <p:nvPr/>
        </p:nvPicPr>
        <p:blipFill>
          <a:blip r:embed="rId2"/>
          <a:stretch>
            <a:fillRect/>
          </a:stretch>
        </p:blipFill>
        <p:spPr>
          <a:xfrm>
            <a:off x="565966" y="1304628"/>
            <a:ext cx="11060068" cy="4248743"/>
          </a:xfrm>
          <a:prstGeom prst="rect">
            <a:avLst/>
          </a:prstGeom>
        </p:spPr>
      </p:pic>
    </p:spTree>
    <p:extLst>
      <p:ext uri="{BB962C8B-B14F-4D97-AF65-F5344CB8AC3E}">
        <p14:creationId xmlns:p14="http://schemas.microsoft.com/office/powerpoint/2010/main" val="1814162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112AE-D1BC-8B74-323F-219DDCF197C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8424708-E994-F1C8-7F28-44C83187289E}"/>
              </a:ext>
            </a:extLst>
          </p:cNvPr>
          <p:cNvPicPr>
            <a:picLocks noGrp="1" noChangeAspect="1"/>
          </p:cNvPicPr>
          <p:nvPr>
            <p:ph idx="1"/>
          </p:nvPr>
        </p:nvPicPr>
        <p:blipFill>
          <a:blip r:embed="rId2"/>
          <a:stretch>
            <a:fillRect/>
          </a:stretch>
        </p:blipFill>
        <p:spPr>
          <a:xfrm>
            <a:off x="-125691" y="-601097"/>
            <a:ext cx="7240010" cy="3258005"/>
          </a:xfrm>
          <a:prstGeom prst="rect">
            <a:avLst/>
          </a:prstGeom>
        </p:spPr>
      </p:pic>
      <p:pic>
        <p:nvPicPr>
          <p:cNvPr id="7" name="Picture 6">
            <a:extLst>
              <a:ext uri="{FF2B5EF4-FFF2-40B4-BE49-F238E27FC236}">
                <a16:creationId xmlns:a16="http://schemas.microsoft.com/office/drawing/2014/main" id="{FD51FAC1-3D89-8BA7-1708-AF62C0AE1CF8}"/>
              </a:ext>
            </a:extLst>
          </p:cNvPr>
          <p:cNvPicPr>
            <a:picLocks noChangeAspect="1"/>
          </p:cNvPicPr>
          <p:nvPr/>
        </p:nvPicPr>
        <p:blipFill>
          <a:blip r:embed="rId3"/>
          <a:stretch>
            <a:fillRect/>
          </a:stretch>
        </p:blipFill>
        <p:spPr>
          <a:xfrm>
            <a:off x="3494314" y="1804785"/>
            <a:ext cx="8109857" cy="4444250"/>
          </a:xfrm>
          <a:prstGeom prst="rect">
            <a:avLst/>
          </a:prstGeom>
        </p:spPr>
      </p:pic>
    </p:spTree>
    <p:extLst>
      <p:ext uri="{BB962C8B-B14F-4D97-AF65-F5344CB8AC3E}">
        <p14:creationId xmlns:p14="http://schemas.microsoft.com/office/powerpoint/2010/main" val="822361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A7B6D-D2BD-8993-619E-D158DA371E3A}"/>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D873A1A-0876-ABE0-B90E-CEC7E70DD897}"/>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1BDBBD0F-60A9-F856-9EC9-FAA99500FCE9}"/>
              </a:ext>
            </a:extLst>
          </p:cNvPr>
          <p:cNvPicPr>
            <a:picLocks noChangeAspect="1"/>
          </p:cNvPicPr>
          <p:nvPr/>
        </p:nvPicPr>
        <p:blipFill>
          <a:blip r:embed="rId2"/>
          <a:stretch>
            <a:fillRect/>
          </a:stretch>
        </p:blipFill>
        <p:spPr>
          <a:xfrm>
            <a:off x="1593978" y="681037"/>
            <a:ext cx="8655715" cy="5115878"/>
          </a:xfrm>
          <a:prstGeom prst="rect">
            <a:avLst/>
          </a:prstGeom>
        </p:spPr>
      </p:pic>
    </p:spTree>
    <p:extLst>
      <p:ext uri="{BB962C8B-B14F-4D97-AF65-F5344CB8AC3E}">
        <p14:creationId xmlns:p14="http://schemas.microsoft.com/office/powerpoint/2010/main" val="2891854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7B0F4-EF9E-F609-E929-249459D72BB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9B21211-E473-210A-DCF1-5563DDCE58C9}"/>
              </a:ext>
            </a:extLst>
          </p:cNvPr>
          <p:cNvPicPr>
            <a:picLocks noGrp="1" noChangeAspect="1"/>
          </p:cNvPicPr>
          <p:nvPr>
            <p:ph idx="1"/>
          </p:nvPr>
        </p:nvPicPr>
        <p:blipFill>
          <a:blip r:embed="rId2"/>
          <a:stretch>
            <a:fillRect/>
          </a:stretch>
        </p:blipFill>
        <p:spPr>
          <a:xfrm>
            <a:off x="1478055" y="556727"/>
            <a:ext cx="9435651" cy="5610906"/>
          </a:xfrm>
          <a:prstGeom prst="rect">
            <a:avLst/>
          </a:prstGeom>
        </p:spPr>
      </p:pic>
    </p:spTree>
    <p:extLst>
      <p:ext uri="{BB962C8B-B14F-4D97-AF65-F5344CB8AC3E}">
        <p14:creationId xmlns:p14="http://schemas.microsoft.com/office/powerpoint/2010/main" val="2974698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228B8-66B0-F97B-AD73-2B194A55CFB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C704D7D-0CDC-71FC-B286-469C37CE5F02}"/>
              </a:ext>
            </a:extLst>
          </p:cNvPr>
          <p:cNvPicPr>
            <a:picLocks noGrp="1" noChangeAspect="1"/>
          </p:cNvPicPr>
          <p:nvPr>
            <p:ph idx="1"/>
          </p:nvPr>
        </p:nvPicPr>
        <p:blipFill>
          <a:blip r:embed="rId2"/>
          <a:stretch>
            <a:fillRect/>
          </a:stretch>
        </p:blipFill>
        <p:spPr>
          <a:xfrm>
            <a:off x="283029" y="92999"/>
            <a:ext cx="10711542" cy="6083964"/>
          </a:xfrm>
          <a:prstGeom prst="rect">
            <a:avLst/>
          </a:prstGeom>
        </p:spPr>
      </p:pic>
    </p:spTree>
    <p:extLst>
      <p:ext uri="{BB962C8B-B14F-4D97-AF65-F5344CB8AC3E}">
        <p14:creationId xmlns:p14="http://schemas.microsoft.com/office/powerpoint/2010/main" val="1169422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734552" y="805721"/>
            <a:ext cx="5167952" cy="2623279"/>
          </a:xfrm>
          <a:prstGeom prst="rect">
            <a:avLst/>
          </a:prstGeom>
        </p:spPr>
      </p:pic>
      <p:pic>
        <p:nvPicPr>
          <p:cNvPr id="4" name="Picture 3"/>
          <p:cNvPicPr>
            <a:picLocks noChangeAspect="1"/>
          </p:cNvPicPr>
          <p:nvPr/>
        </p:nvPicPr>
        <p:blipFill>
          <a:blip r:embed="rId3"/>
          <a:stretch>
            <a:fillRect/>
          </a:stretch>
        </p:blipFill>
        <p:spPr>
          <a:xfrm>
            <a:off x="6661234" y="627539"/>
            <a:ext cx="4057198" cy="2801461"/>
          </a:xfrm>
          <a:prstGeom prst="rect">
            <a:avLst/>
          </a:prstGeom>
        </p:spPr>
      </p:pic>
      <p:sp>
        <p:nvSpPr>
          <p:cNvPr id="7" name="TextBox 6"/>
          <p:cNvSpPr txBox="1"/>
          <p:nvPr/>
        </p:nvSpPr>
        <p:spPr>
          <a:xfrm>
            <a:off x="813412" y="83741"/>
            <a:ext cx="3282309" cy="461665"/>
          </a:xfrm>
          <a:prstGeom prst="rect">
            <a:avLst/>
          </a:prstGeom>
          <a:noFill/>
        </p:spPr>
        <p:txBody>
          <a:bodyPr wrap="none" rtlCol="0">
            <a:spAutoFit/>
          </a:bodyPr>
          <a:lstStyle/>
          <a:p>
            <a:r>
              <a:rPr lang="en-US" sz="2400" dirty="0"/>
              <a:t>SR Latch  with NOR gates</a:t>
            </a:r>
          </a:p>
        </p:txBody>
      </p:sp>
      <p:pic>
        <p:nvPicPr>
          <p:cNvPr id="2" name="Picture 1">
            <a:extLst>
              <a:ext uri="{FF2B5EF4-FFF2-40B4-BE49-F238E27FC236}">
                <a16:creationId xmlns:a16="http://schemas.microsoft.com/office/drawing/2014/main" id="{F317C6CE-425C-0820-5AC0-CE65379EC44B}"/>
              </a:ext>
            </a:extLst>
          </p:cNvPr>
          <p:cNvPicPr>
            <a:picLocks noChangeAspect="1"/>
          </p:cNvPicPr>
          <p:nvPr/>
        </p:nvPicPr>
        <p:blipFill>
          <a:blip r:embed="rId4"/>
          <a:srcRect b="19219"/>
          <a:stretch>
            <a:fillRect/>
          </a:stretch>
        </p:blipFill>
        <p:spPr>
          <a:xfrm>
            <a:off x="644704" y="3996204"/>
            <a:ext cx="10515600" cy="2778055"/>
          </a:xfrm>
          <a:prstGeom prst="rect">
            <a:avLst/>
          </a:prstGeom>
        </p:spPr>
      </p:pic>
    </p:spTree>
    <p:extLst>
      <p:ext uri="{BB962C8B-B14F-4D97-AF65-F5344CB8AC3E}">
        <p14:creationId xmlns:p14="http://schemas.microsoft.com/office/powerpoint/2010/main" val="2760689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7481" y="542793"/>
            <a:ext cx="8980227" cy="5693866"/>
          </a:xfrm>
          <a:prstGeom prst="rect">
            <a:avLst/>
          </a:prstGeom>
        </p:spPr>
        <p:txBody>
          <a:bodyPr wrap="square">
            <a:spAutoFit/>
          </a:bodyPr>
          <a:lstStyle/>
          <a:p>
            <a:pPr marL="457200" indent="-457200" algn="just">
              <a:buFont typeface="Arial" panose="020B0604020202020204" pitchFamily="34" charset="0"/>
              <a:buChar char="•"/>
            </a:pPr>
            <a:r>
              <a:rPr lang="en-US" sz="2800" dirty="0">
                <a:highlight>
                  <a:srgbClr val="00FF00"/>
                </a:highlight>
                <a:latin typeface="TimesTenLTStd-Roman"/>
              </a:rPr>
              <a:t>SR Latch has two useful states. When output </a:t>
            </a:r>
            <a:r>
              <a:rPr lang="en-US" sz="2800" i="1" dirty="0">
                <a:highlight>
                  <a:srgbClr val="00FF00"/>
                </a:highlight>
                <a:latin typeface="TimesTenLTStd-Italic"/>
              </a:rPr>
              <a:t>Q </a:t>
            </a:r>
            <a:r>
              <a:rPr lang="en-US" sz="2800" dirty="0">
                <a:highlight>
                  <a:srgbClr val="00FF00"/>
                </a:highlight>
                <a:latin typeface="PearsonMATH08"/>
              </a:rPr>
              <a:t>= </a:t>
            </a:r>
            <a:r>
              <a:rPr lang="en-US" sz="2800" dirty="0">
                <a:highlight>
                  <a:srgbClr val="00FF00"/>
                </a:highlight>
                <a:latin typeface="TimesTenLTStd-Roman"/>
              </a:rPr>
              <a:t>1 and </a:t>
            </a:r>
            <a:r>
              <a:rPr lang="en-US" sz="2800" i="1" dirty="0">
                <a:highlight>
                  <a:srgbClr val="00FF00"/>
                </a:highlight>
                <a:latin typeface="TimesTenLTStd-Italic"/>
              </a:rPr>
              <a:t>Q’</a:t>
            </a:r>
            <a:r>
              <a:rPr lang="en-US" sz="2800" dirty="0">
                <a:highlight>
                  <a:srgbClr val="00FF00"/>
                </a:highlight>
                <a:latin typeface="MathematicalPi-One"/>
              </a:rPr>
              <a:t> </a:t>
            </a:r>
            <a:r>
              <a:rPr lang="en-US" sz="2800" dirty="0">
                <a:highlight>
                  <a:srgbClr val="00FF00"/>
                </a:highlight>
                <a:latin typeface="PearsonMATH08"/>
              </a:rPr>
              <a:t>= </a:t>
            </a:r>
            <a:r>
              <a:rPr lang="en-US" sz="2800" dirty="0">
                <a:highlight>
                  <a:srgbClr val="00FF00"/>
                </a:highlight>
                <a:latin typeface="TimesTenLTStd-Roman"/>
              </a:rPr>
              <a:t>0, it is said to be in the </a:t>
            </a:r>
            <a:r>
              <a:rPr lang="en-US" sz="2800" i="1" dirty="0">
                <a:highlight>
                  <a:srgbClr val="00FF00"/>
                </a:highlight>
                <a:latin typeface="TimesTenLTStd-Italic"/>
              </a:rPr>
              <a:t>set state</a:t>
            </a:r>
            <a:r>
              <a:rPr lang="en-US" sz="2800" dirty="0">
                <a:highlight>
                  <a:srgbClr val="00FF00"/>
                </a:highlight>
                <a:latin typeface="TimesTenLTStd-Roman"/>
              </a:rPr>
              <a:t>. When </a:t>
            </a:r>
            <a:r>
              <a:rPr lang="en-US" sz="2800" i="1" dirty="0">
                <a:highlight>
                  <a:srgbClr val="00FF00"/>
                </a:highlight>
                <a:latin typeface="TimesTenLTStd-Italic"/>
              </a:rPr>
              <a:t>Q </a:t>
            </a:r>
            <a:r>
              <a:rPr lang="en-US" sz="2800" dirty="0">
                <a:highlight>
                  <a:srgbClr val="00FF00"/>
                </a:highlight>
                <a:latin typeface="PearsonMATH08"/>
              </a:rPr>
              <a:t>= </a:t>
            </a:r>
            <a:r>
              <a:rPr lang="en-US" sz="2800" dirty="0">
                <a:highlight>
                  <a:srgbClr val="00FF00"/>
                </a:highlight>
                <a:latin typeface="TimesTenLTStd-Roman"/>
              </a:rPr>
              <a:t>0 and </a:t>
            </a:r>
            <a:r>
              <a:rPr lang="en-US" sz="2800" i="1" dirty="0">
                <a:highlight>
                  <a:srgbClr val="00FF00"/>
                </a:highlight>
                <a:latin typeface="TimesTenLTStd-Italic"/>
              </a:rPr>
              <a:t>Q’</a:t>
            </a:r>
            <a:r>
              <a:rPr lang="en-US" sz="2800" dirty="0">
                <a:highlight>
                  <a:srgbClr val="00FF00"/>
                </a:highlight>
                <a:latin typeface="MathematicalPi-One"/>
              </a:rPr>
              <a:t> </a:t>
            </a:r>
            <a:r>
              <a:rPr lang="en-US" sz="2800" dirty="0">
                <a:highlight>
                  <a:srgbClr val="00FF00"/>
                </a:highlight>
                <a:latin typeface="PearsonMATH08"/>
              </a:rPr>
              <a:t>= </a:t>
            </a:r>
            <a:r>
              <a:rPr lang="en-US" sz="2800" dirty="0">
                <a:highlight>
                  <a:srgbClr val="00FF00"/>
                </a:highlight>
                <a:latin typeface="TimesTenLTStd-Roman"/>
              </a:rPr>
              <a:t>1, it is in the </a:t>
            </a:r>
            <a:r>
              <a:rPr lang="en-US" sz="2800" i="1" dirty="0">
                <a:highlight>
                  <a:srgbClr val="00FF00"/>
                </a:highlight>
                <a:latin typeface="TimesTenLTStd-Italic"/>
              </a:rPr>
              <a:t>reset state</a:t>
            </a:r>
            <a:r>
              <a:rPr lang="en-US" sz="2800" dirty="0">
                <a:highlight>
                  <a:srgbClr val="00FF00"/>
                </a:highlight>
                <a:latin typeface="TimesTenLTStd-Roman"/>
              </a:rPr>
              <a:t>.</a:t>
            </a:r>
          </a:p>
          <a:p>
            <a:pPr marL="457200" indent="-457200" algn="just">
              <a:buFont typeface="Arial" panose="020B0604020202020204" pitchFamily="34" charset="0"/>
              <a:buChar char="•"/>
            </a:pPr>
            <a:r>
              <a:rPr lang="en-US" sz="2800" dirty="0">
                <a:latin typeface="TimesTenLTStd-Roman"/>
              </a:rPr>
              <a:t>Outputs Q and Q’ are normally the complement of each other. The binary state of the FF is taken to be the value of the normal output.</a:t>
            </a:r>
          </a:p>
          <a:p>
            <a:pPr marL="457200" indent="-457200">
              <a:buFont typeface="Arial" panose="020B0604020202020204" pitchFamily="34" charset="0"/>
              <a:buChar char="•"/>
            </a:pPr>
            <a:r>
              <a:rPr lang="en-US" sz="2800" dirty="0">
                <a:highlight>
                  <a:srgbClr val="00FF00"/>
                </a:highlight>
                <a:latin typeface="TimesTenLTStd-Roman"/>
              </a:rPr>
              <a:t>When both inputs are equal to 1 </a:t>
            </a:r>
            <a:r>
              <a:rPr lang="en-US" sz="2800" dirty="0">
                <a:latin typeface="TimesTenLTStd-Roman"/>
              </a:rPr>
              <a:t>at the same time, a condition in which both outputs are equal to 0 (rather than be mutually complementary) occurs. If both inputs are then switched to 0 simultaneously, the device will enter an unpredictable or </a:t>
            </a:r>
            <a:r>
              <a:rPr lang="en-US" sz="2800" dirty="0">
                <a:highlight>
                  <a:srgbClr val="00FF00"/>
                </a:highlight>
                <a:latin typeface="TimesTenLTStd-Roman"/>
              </a:rPr>
              <a:t>undefined state or a metastable state. </a:t>
            </a:r>
            <a:r>
              <a:rPr lang="en-US" sz="2800" dirty="0">
                <a:latin typeface="TimesTenLTStd-Roman"/>
              </a:rPr>
              <a:t>Consequently, in practical applications, setting both inputs to 1 is forbidden.</a:t>
            </a:r>
            <a:endParaRPr lang="en-US" sz="2800" dirty="0"/>
          </a:p>
        </p:txBody>
      </p:sp>
    </p:spTree>
    <p:extLst>
      <p:ext uri="{BB962C8B-B14F-4D97-AF65-F5344CB8AC3E}">
        <p14:creationId xmlns:p14="http://schemas.microsoft.com/office/powerpoint/2010/main" val="2460545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8992" y="360107"/>
            <a:ext cx="10302388" cy="5632311"/>
          </a:xfrm>
          <a:prstGeom prst="rect">
            <a:avLst/>
          </a:prstGeom>
        </p:spPr>
        <p:txBody>
          <a:bodyPr wrap="square">
            <a:spAutoFit/>
          </a:bodyPr>
          <a:lstStyle/>
          <a:p>
            <a:pPr marL="457200" indent="-457200" algn="just">
              <a:buFont typeface="Arial" panose="020B0604020202020204" pitchFamily="34" charset="0"/>
              <a:buChar char="•"/>
            </a:pPr>
            <a:r>
              <a:rPr lang="en-US" sz="2400" dirty="0">
                <a:latin typeface="TimesTenLTStd-Roman"/>
              </a:rPr>
              <a:t>Under normal conditions, both inputs remain at 0 unless the state has to be changed. The application of a momentary 1 to the </a:t>
            </a:r>
            <a:r>
              <a:rPr lang="en-US" sz="2400" i="1" dirty="0">
                <a:latin typeface="TimesTenLTStd-Italic"/>
              </a:rPr>
              <a:t>S </a:t>
            </a:r>
            <a:r>
              <a:rPr lang="en-US" sz="2400" dirty="0">
                <a:latin typeface="TimesTenLTStd-Roman"/>
              </a:rPr>
              <a:t>input causes the FF to go to the set state. The </a:t>
            </a:r>
            <a:r>
              <a:rPr lang="en-US" sz="2400" i="1" dirty="0">
                <a:latin typeface="TimesTenLTStd-Italic"/>
              </a:rPr>
              <a:t>S </a:t>
            </a:r>
            <a:r>
              <a:rPr lang="en-US" sz="2400" dirty="0">
                <a:latin typeface="TimesTenLTStd-Roman"/>
              </a:rPr>
              <a:t>input must go back to 0 before any other changes take place, in order to avoid the occurrence of an undefined next state that results from the forbidden input condition.</a:t>
            </a:r>
          </a:p>
          <a:p>
            <a:pPr marL="457200" indent="-457200" algn="just">
              <a:buFont typeface="Arial" panose="020B0604020202020204" pitchFamily="34" charset="0"/>
              <a:buChar char="•"/>
            </a:pPr>
            <a:endParaRPr lang="en-US" sz="2400" dirty="0">
              <a:latin typeface="TimesTenLTStd-Roman"/>
            </a:endParaRPr>
          </a:p>
          <a:p>
            <a:pPr marL="457200" indent="-457200" algn="just">
              <a:buFont typeface="Arial" panose="020B0604020202020204" pitchFamily="34" charset="0"/>
              <a:buChar char="•"/>
            </a:pPr>
            <a:r>
              <a:rPr lang="en-US" sz="2400" dirty="0">
                <a:highlight>
                  <a:srgbClr val="00FF00"/>
                </a:highlight>
                <a:latin typeface="TimesTenLTStd-Roman"/>
              </a:rPr>
              <a:t>When both inputs S and R are equal to 0, the FF can be in either the set or the reset state, depending on which input was most recently a 1. </a:t>
            </a:r>
          </a:p>
          <a:p>
            <a:pPr marL="457200" indent="-457200" algn="just">
              <a:buFont typeface="Arial" panose="020B0604020202020204" pitchFamily="34" charset="0"/>
              <a:buChar char="•"/>
            </a:pPr>
            <a:endParaRPr lang="en-US" sz="2400" dirty="0">
              <a:latin typeface="TimesTenLTStd-Roman"/>
            </a:endParaRPr>
          </a:p>
          <a:p>
            <a:pPr marL="457200" indent="-457200" algn="just">
              <a:buFont typeface="Arial" panose="020B0604020202020204" pitchFamily="34" charset="0"/>
              <a:buChar char="•"/>
            </a:pPr>
            <a:r>
              <a:rPr lang="en-US" sz="2400" dirty="0">
                <a:highlight>
                  <a:srgbClr val="00FFFF"/>
                </a:highlight>
                <a:latin typeface="TimesTenLTStd-Roman"/>
              </a:rPr>
              <a:t>If a 1 is applied to both the S and R inputs, both outputs go to 0. </a:t>
            </a:r>
            <a:r>
              <a:rPr lang="en-US" sz="2400" dirty="0">
                <a:latin typeface="TimesTenLTStd-Roman"/>
              </a:rPr>
              <a:t>This action produces an undefined next state, because the state that results from the input transitions depends on the order in which they return to 0. It also violates the requirement that outputs be the complement of each other. In normal operation, this condition is avoided by making sure that 1’s are not applied to both inputs simultaneously.</a:t>
            </a:r>
          </a:p>
        </p:txBody>
      </p:sp>
    </p:spTree>
    <p:extLst>
      <p:ext uri="{BB962C8B-B14F-4D97-AF65-F5344CB8AC3E}">
        <p14:creationId xmlns:p14="http://schemas.microsoft.com/office/powerpoint/2010/main" val="2049010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26278" y="1091980"/>
            <a:ext cx="5135597" cy="2674802"/>
          </a:xfrm>
          <a:prstGeom prst="rect">
            <a:avLst/>
          </a:prstGeom>
        </p:spPr>
      </p:pic>
      <p:pic>
        <p:nvPicPr>
          <p:cNvPr id="3" name="Picture 2"/>
          <p:cNvPicPr>
            <a:picLocks noChangeAspect="1"/>
          </p:cNvPicPr>
          <p:nvPr/>
        </p:nvPicPr>
        <p:blipFill>
          <a:blip r:embed="rId3"/>
          <a:stretch>
            <a:fillRect/>
          </a:stretch>
        </p:blipFill>
        <p:spPr>
          <a:xfrm>
            <a:off x="6818185" y="682547"/>
            <a:ext cx="4413923" cy="3384485"/>
          </a:xfrm>
          <a:prstGeom prst="rect">
            <a:avLst/>
          </a:prstGeom>
        </p:spPr>
      </p:pic>
      <mc:AlternateContent xmlns:mc="http://schemas.openxmlformats.org/markup-compatibility/2006" xmlns:a14="http://schemas.microsoft.com/office/drawing/2010/main">
        <mc:Choice Requires="a14">
          <p:sp>
            <p:nvSpPr>
              <p:cNvPr id="4" name="TextBox 3"/>
              <p:cNvSpPr txBox="1"/>
              <p:nvPr/>
            </p:nvSpPr>
            <p:spPr>
              <a:xfrm>
                <a:off x="726278" y="167504"/>
                <a:ext cx="4897366" cy="462434"/>
              </a:xfrm>
              <a:prstGeom prst="rect">
                <a:avLst/>
              </a:prstGeom>
              <a:noFill/>
            </p:spPr>
            <p:txBody>
              <a:bodyPr wrap="none" rtlCol="0">
                <a:spAutoFit/>
              </a:bodyPr>
              <a:lstStyle/>
              <a:p>
                <a:r>
                  <a:rPr lang="en-US" sz="2400" b="1" dirty="0"/>
                  <a:t>SR latch with NAND gates (</a:t>
                </a:r>
                <a14:m>
                  <m:oMath xmlns:m="http://schemas.openxmlformats.org/officeDocument/2006/math">
                    <m:acc>
                      <m:accPr>
                        <m:chr m:val="̅"/>
                        <m:ctrlPr>
                          <a:rPr lang="en-IN" sz="2400" b="1" i="1">
                            <a:latin typeface="Cambria Math" panose="02040503050406030204" pitchFamily="18" charset="0"/>
                          </a:rPr>
                        </m:ctrlPr>
                      </m:accPr>
                      <m:e>
                        <m:r>
                          <a:rPr lang="en-US" sz="2400" b="1" i="1">
                            <a:latin typeface="Cambria Math" panose="02040503050406030204" pitchFamily="18" charset="0"/>
                          </a:rPr>
                          <m:t>𝑺</m:t>
                        </m:r>
                        <m:r>
                          <a:rPr lang="en-US" sz="2400" b="1" i="1">
                            <a:latin typeface="Cambria Math" panose="02040503050406030204" pitchFamily="18" charset="0"/>
                          </a:rPr>
                          <m:t> </m:t>
                        </m:r>
                      </m:e>
                    </m:acc>
                    <m:acc>
                      <m:accPr>
                        <m:chr m:val="̅"/>
                        <m:ctrlPr>
                          <a:rPr lang="en-IN" sz="2400" b="1" i="1">
                            <a:latin typeface="Cambria Math" panose="02040503050406030204" pitchFamily="18" charset="0"/>
                          </a:rPr>
                        </m:ctrlPr>
                      </m:accPr>
                      <m:e>
                        <m:r>
                          <a:rPr lang="en-US" sz="2400" b="1" i="1">
                            <a:latin typeface="Cambria Math" panose="02040503050406030204" pitchFamily="18" charset="0"/>
                          </a:rPr>
                          <m:t>𝑹</m:t>
                        </m:r>
                      </m:e>
                    </m:acc>
                  </m:oMath>
                </a14:m>
                <a:r>
                  <a:rPr lang="en-IN" sz="2400" b="1" dirty="0"/>
                  <a:t> Latch)</a:t>
                </a:r>
                <a:endParaRPr lang="en-US" sz="2400" b="1" dirty="0"/>
              </a:p>
            </p:txBody>
          </p:sp>
        </mc:Choice>
        <mc:Fallback xmlns="">
          <p:sp>
            <p:nvSpPr>
              <p:cNvPr id="4" name="TextBox 3"/>
              <p:cNvSpPr txBox="1">
                <a:spLocks noRot="1" noChangeAspect="1" noMove="1" noResize="1" noEditPoints="1" noAdjustHandles="1" noChangeArrowheads="1" noChangeShapeType="1" noTextEdit="1"/>
              </p:cNvSpPr>
              <p:nvPr/>
            </p:nvSpPr>
            <p:spPr>
              <a:xfrm>
                <a:off x="726278" y="167504"/>
                <a:ext cx="4897366" cy="462434"/>
              </a:xfrm>
              <a:prstGeom prst="rect">
                <a:avLst/>
              </a:prstGeom>
              <a:blipFill>
                <a:blip r:embed="rId4"/>
                <a:stretch>
                  <a:fillRect l="-1866" t="-10526" r="-995" b="-28947"/>
                </a:stretch>
              </a:blipFill>
            </p:spPr>
            <p:txBody>
              <a:bodyPr/>
              <a:lstStyle/>
              <a:p>
                <a:r>
                  <a:rPr lang="en-US">
                    <a:noFill/>
                  </a:rPr>
                  <a:t> </a:t>
                </a:r>
              </a:p>
            </p:txBody>
          </p:sp>
        </mc:Fallback>
      </mc:AlternateContent>
      <p:sp>
        <p:nvSpPr>
          <p:cNvPr id="5" name="TextBox 4"/>
          <p:cNvSpPr txBox="1"/>
          <p:nvPr/>
        </p:nvSpPr>
        <p:spPr>
          <a:xfrm>
            <a:off x="468573" y="4367281"/>
            <a:ext cx="9823028"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The output of a NAND gate is 1 if any input is 0, and that the output is 0 only when all the inputs are 1.  </a:t>
            </a:r>
          </a:p>
        </p:txBody>
      </p:sp>
    </p:spTree>
    <p:extLst>
      <p:ext uri="{BB962C8B-B14F-4D97-AF65-F5344CB8AC3E}">
        <p14:creationId xmlns:p14="http://schemas.microsoft.com/office/powerpoint/2010/main" val="3876895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7798" y="884282"/>
            <a:ext cx="10904560" cy="4401205"/>
          </a:xfrm>
          <a:prstGeom prst="rect">
            <a:avLst/>
          </a:prstGeom>
        </p:spPr>
        <p:txBody>
          <a:bodyPr wrap="square">
            <a:spAutoFit/>
          </a:bodyPr>
          <a:lstStyle/>
          <a:p>
            <a:pPr marL="457200" indent="-457200" algn="just">
              <a:buFont typeface="Arial" panose="020B0604020202020204" pitchFamily="34" charset="0"/>
              <a:buChar char="•"/>
            </a:pPr>
            <a:r>
              <a:rPr lang="en-US" sz="2800" dirty="0">
                <a:latin typeface="TimesTenLTStd-Roman"/>
              </a:rPr>
              <a:t>It operates with both inputs normally at 1, unless the state  has to be changed. </a:t>
            </a:r>
            <a:r>
              <a:rPr lang="en-US" sz="2800" dirty="0">
                <a:highlight>
                  <a:srgbClr val="00FFFF"/>
                </a:highlight>
                <a:latin typeface="TimesTenLTStd-Roman"/>
              </a:rPr>
              <a:t>The application of 0 to the </a:t>
            </a:r>
            <a:r>
              <a:rPr lang="en-US" sz="2800" i="1" dirty="0">
                <a:highlight>
                  <a:srgbClr val="00FFFF"/>
                </a:highlight>
                <a:latin typeface="TimesTenLTStd-Italic"/>
              </a:rPr>
              <a:t>S </a:t>
            </a:r>
            <a:r>
              <a:rPr lang="en-US" sz="2800" dirty="0">
                <a:highlight>
                  <a:srgbClr val="00FFFF"/>
                </a:highlight>
                <a:latin typeface="TimesTenLTStd-Roman"/>
              </a:rPr>
              <a:t>input causes output </a:t>
            </a:r>
            <a:r>
              <a:rPr lang="en-US" sz="2800" i="1" dirty="0">
                <a:highlight>
                  <a:srgbClr val="00FFFF"/>
                </a:highlight>
                <a:latin typeface="TimesTenLTStd-Italic"/>
              </a:rPr>
              <a:t>Q </a:t>
            </a:r>
            <a:r>
              <a:rPr lang="en-US" sz="2800" dirty="0">
                <a:highlight>
                  <a:srgbClr val="00FFFF"/>
                </a:highlight>
                <a:latin typeface="TimesTenLTStd-Roman"/>
              </a:rPr>
              <a:t>to go to 1, putting the FF in the set state. </a:t>
            </a:r>
          </a:p>
          <a:p>
            <a:pPr marL="457200" indent="-457200" algn="just">
              <a:buFont typeface="Arial" panose="020B0604020202020204" pitchFamily="34" charset="0"/>
              <a:buChar char="•"/>
            </a:pPr>
            <a:r>
              <a:rPr lang="en-US" sz="2800" dirty="0">
                <a:latin typeface="TimesTenLTStd-Roman"/>
              </a:rPr>
              <a:t>When the </a:t>
            </a:r>
            <a:r>
              <a:rPr lang="en-US" sz="2800" i="1" dirty="0">
                <a:latin typeface="TimesTenLTStd-Italic"/>
              </a:rPr>
              <a:t>S </a:t>
            </a:r>
            <a:r>
              <a:rPr lang="en-US" sz="2800" dirty="0">
                <a:latin typeface="TimesTenLTStd-Roman"/>
              </a:rPr>
              <a:t>input goes back to 1, the circuit remains in the set state. After both inputs go back to 1, we are allowed to change the state of the FF by placing a 0 in the </a:t>
            </a:r>
            <a:r>
              <a:rPr lang="en-US" sz="2800" i="1" dirty="0">
                <a:latin typeface="TimesTenLTStd-Italic"/>
              </a:rPr>
              <a:t>R </a:t>
            </a:r>
            <a:r>
              <a:rPr lang="en-US" sz="2800" dirty="0">
                <a:latin typeface="TimesTenLTStd-Roman"/>
              </a:rPr>
              <a:t>input. This action causes the circuit to go to the reset state and stay there even after both inputs return to 1. </a:t>
            </a:r>
          </a:p>
          <a:p>
            <a:pPr marL="457200" indent="-457200" algn="just">
              <a:buFont typeface="Arial" panose="020B0604020202020204" pitchFamily="34" charset="0"/>
              <a:buChar char="•"/>
            </a:pPr>
            <a:r>
              <a:rPr lang="en-US" sz="2800" dirty="0">
                <a:highlight>
                  <a:srgbClr val="00FFFF"/>
                </a:highlight>
                <a:latin typeface="TimesTenLTStd-Roman"/>
              </a:rPr>
              <a:t>The condition that is forbidden for the NAND FF is both inputs being equal to 0 at the same time, an input combination that should be avoided.</a:t>
            </a:r>
            <a:endParaRPr lang="en-US" sz="2800" dirty="0">
              <a:highlight>
                <a:srgbClr val="00FFFF"/>
              </a:highlight>
            </a:endParaRPr>
          </a:p>
        </p:txBody>
      </p:sp>
    </p:spTree>
    <p:extLst>
      <p:ext uri="{BB962C8B-B14F-4D97-AF65-F5344CB8AC3E}">
        <p14:creationId xmlns:p14="http://schemas.microsoft.com/office/powerpoint/2010/main" val="3979411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6394" y="260622"/>
            <a:ext cx="10515600" cy="1325563"/>
          </a:xfrm>
        </p:spPr>
        <p:txBody>
          <a:bodyPr/>
          <a:lstStyle/>
          <a:p>
            <a:r>
              <a:rPr lang="en-IN" dirty="0">
                <a:highlight>
                  <a:srgbClr val="00FFFF"/>
                </a:highlight>
              </a:rPr>
              <a:t>SR latch with Control input</a:t>
            </a:r>
          </a:p>
        </p:txBody>
      </p:sp>
      <p:pic>
        <p:nvPicPr>
          <p:cNvPr id="6" name="Picture 5">
            <a:extLst>
              <a:ext uri="{FF2B5EF4-FFF2-40B4-BE49-F238E27FC236}">
                <a16:creationId xmlns:a16="http://schemas.microsoft.com/office/drawing/2014/main" id="{A5E5BE31-8241-268E-59E6-806777435C5A}"/>
              </a:ext>
            </a:extLst>
          </p:cNvPr>
          <p:cNvPicPr>
            <a:picLocks noChangeAspect="1"/>
          </p:cNvPicPr>
          <p:nvPr/>
        </p:nvPicPr>
        <p:blipFill>
          <a:blip r:embed="rId2"/>
          <a:stretch>
            <a:fillRect/>
          </a:stretch>
        </p:blipFill>
        <p:spPr>
          <a:xfrm>
            <a:off x="700239" y="1831976"/>
            <a:ext cx="9221487" cy="2933064"/>
          </a:xfrm>
          <a:prstGeom prst="rect">
            <a:avLst/>
          </a:prstGeom>
        </p:spPr>
      </p:pic>
    </p:spTree>
    <p:extLst>
      <p:ext uri="{BB962C8B-B14F-4D97-AF65-F5344CB8AC3E}">
        <p14:creationId xmlns:p14="http://schemas.microsoft.com/office/powerpoint/2010/main" val="1879687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410789" y="483326"/>
            <a:ext cx="6112958" cy="646331"/>
          </a:xfrm>
          <a:prstGeom prst="rect">
            <a:avLst/>
          </a:prstGeom>
          <a:noFill/>
        </p:spPr>
        <p:txBody>
          <a:bodyPr wrap="square" rtlCol="0">
            <a:spAutoFit/>
          </a:bodyPr>
          <a:lstStyle/>
          <a:p>
            <a:r>
              <a:rPr lang="en-IN" sz="3600" dirty="0"/>
              <a:t>D Latch (Transparent latch)</a:t>
            </a:r>
          </a:p>
        </p:txBody>
      </p:sp>
      <p:pic>
        <p:nvPicPr>
          <p:cNvPr id="3" name="Picture 2">
            <a:extLst>
              <a:ext uri="{FF2B5EF4-FFF2-40B4-BE49-F238E27FC236}">
                <a16:creationId xmlns:a16="http://schemas.microsoft.com/office/drawing/2014/main" id="{7E33BF8F-E674-61F8-056F-32AD09210C2E}"/>
              </a:ext>
            </a:extLst>
          </p:cNvPr>
          <p:cNvPicPr>
            <a:picLocks noChangeAspect="1"/>
          </p:cNvPicPr>
          <p:nvPr/>
        </p:nvPicPr>
        <p:blipFill>
          <a:blip r:embed="rId2"/>
          <a:stretch>
            <a:fillRect/>
          </a:stretch>
        </p:blipFill>
        <p:spPr>
          <a:xfrm>
            <a:off x="1018530" y="2638229"/>
            <a:ext cx="9767524" cy="2960466"/>
          </a:xfrm>
          <a:prstGeom prst="rect">
            <a:avLst/>
          </a:prstGeom>
        </p:spPr>
      </p:pic>
      <p:sp>
        <p:nvSpPr>
          <p:cNvPr id="5" name="TextBox 4">
            <a:extLst>
              <a:ext uri="{FF2B5EF4-FFF2-40B4-BE49-F238E27FC236}">
                <a16:creationId xmlns:a16="http://schemas.microsoft.com/office/drawing/2014/main" id="{4A7FA056-2A3E-FC93-E6E0-D5E209AB5E9C}"/>
              </a:ext>
            </a:extLst>
          </p:cNvPr>
          <p:cNvSpPr txBox="1"/>
          <p:nvPr/>
        </p:nvSpPr>
        <p:spPr>
          <a:xfrm>
            <a:off x="883920" y="1146606"/>
            <a:ext cx="10210800" cy="646331"/>
          </a:xfrm>
          <a:prstGeom prst="rect">
            <a:avLst/>
          </a:prstGeom>
          <a:noFill/>
        </p:spPr>
        <p:txBody>
          <a:bodyPr wrap="square">
            <a:spAutoFit/>
          </a:bodyPr>
          <a:lstStyle/>
          <a:p>
            <a:pPr algn="l"/>
            <a:r>
              <a:rPr lang="en-US" sz="1800" b="0" i="0" u="none" strike="noStrike" baseline="0" dirty="0">
                <a:highlight>
                  <a:srgbClr val="00FFFF"/>
                </a:highlight>
                <a:latin typeface="TimesTenLTStd-Roman"/>
              </a:rPr>
              <a:t>One way to eliminate the undesirable condition of the indeterminate state in the </a:t>
            </a:r>
            <a:r>
              <a:rPr lang="en-US" sz="1800" b="0" i="1" u="none" strike="noStrike" baseline="0" dirty="0">
                <a:highlight>
                  <a:srgbClr val="00FFFF"/>
                </a:highlight>
                <a:latin typeface="TimesTenLTStd-Italic"/>
              </a:rPr>
              <a:t>SR </a:t>
            </a:r>
            <a:r>
              <a:rPr lang="en-US" sz="1800" b="0" i="0" u="none" strike="noStrike" baseline="0" dirty="0">
                <a:highlight>
                  <a:srgbClr val="00FFFF"/>
                </a:highlight>
                <a:latin typeface="TimesTenLTStd-Roman"/>
              </a:rPr>
              <a:t>latch is to ensure that inputs </a:t>
            </a:r>
            <a:r>
              <a:rPr lang="en-US" sz="1800" b="0" i="1" u="none" strike="noStrike" baseline="0" dirty="0">
                <a:highlight>
                  <a:srgbClr val="00FFFF"/>
                </a:highlight>
                <a:latin typeface="TimesTenLTStd-Italic"/>
              </a:rPr>
              <a:t>S </a:t>
            </a:r>
            <a:r>
              <a:rPr lang="en-US" sz="1800" b="0" i="0" u="none" strike="noStrike" baseline="0" dirty="0">
                <a:highlight>
                  <a:srgbClr val="00FFFF"/>
                </a:highlight>
                <a:latin typeface="TimesTenLTStd-Roman"/>
              </a:rPr>
              <a:t>and </a:t>
            </a:r>
            <a:r>
              <a:rPr lang="en-US" sz="1800" b="0" i="1" u="none" strike="noStrike" baseline="0" dirty="0">
                <a:highlight>
                  <a:srgbClr val="00FFFF"/>
                </a:highlight>
                <a:latin typeface="TimesTenLTStd-Italic"/>
              </a:rPr>
              <a:t>R </a:t>
            </a:r>
            <a:r>
              <a:rPr lang="en-US" sz="1800" b="0" i="0" u="none" strike="noStrike" baseline="0" dirty="0">
                <a:highlight>
                  <a:srgbClr val="00FFFF"/>
                </a:highlight>
                <a:latin typeface="TimesTenLTStd-Roman"/>
              </a:rPr>
              <a:t>are never equal to 1 at the same time. This is done in the </a:t>
            </a:r>
            <a:r>
              <a:rPr lang="en-US" sz="1800" b="0" i="1" u="none" strike="noStrike" baseline="0" dirty="0">
                <a:highlight>
                  <a:srgbClr val="00FFFF"/>
                </a:highlight>
                <a:latin typeface="TimesTenLTStd-Italic"/>
              </a:rPr>
              <a:t>D </a:t>
            </a:r>
            <a:r>
              <a:rPr lang="en-US" sz="1800" b="0" i="0" u="none" strike="noStrike" baseline="0" dirty="0">
                <a:highlight>
                  <a:srgbClr val="00FFFF"/>
                </a:highlight>
                <a:latin typeface="TimesTenLTStd-Roman"/>
              </a:rPr>
              <a:t>latch</a:t>
            </a:r>
            <a:endParaRPr lang="en-US" dirty="0">
              <a:highlight>
                <a:srgbClr val="00FFFF"/>
              </a:highlight>
            </a:endParaRPr>
          </a:p>
        </p:txBody>
      </p:sp>
    </p:spTree>
    <p:extLst>
      <p:ext uri="{BB962C8B-B14F-4D97-AF65-F5344CB8AC3E}">
        <p14:creationId xmlns:p14="http://schemas.microsoft.com/office/powerpoint/2010/main" val="2374978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D99A-9D97-948C-E503-CE0103093A9F}"/>
              </a:ext>
            </a:extLst>
          </p:cNvPr>
          <p:cNvSpPr>
            <a:spLocks noGrp="1"/>
          </p:cNvSpPr>
          <p:nvPr>
            <p:ph type="title"/>
          </p:nvPr>
        </p:nvSpPr>
        <p:spPr/>
        <p:txBody>
          <a:bodyPr/>
          <a:lstStyle/>
          <a:p>
            <a:r>
              <a:rPr lang="en-US" dirty="0"/>
              <a:t>Storage Element : Flip Flop</a:t>
            </a:r>
          </a:p>
        </p:txBody>
      </p:sp>
      <p:sp>
        <p:nvSpPr>
          <p:cNvPr id="3" name="Content Placeholder 2">
            <a:extLst>
              <a:ext uri="{FF2B5EF4-FFF2-40B4-BE49-F238E27FC236}">
                <a16:creationId xmlns:a16="http://schemas.microsoft.com/office/drawing/2014/main" id="{E40CBB52-B22A-A658-DACC-983FA4DBE798}"/>
              </a:ext>
            </a:extLst>
          </p:cNvPr>
          <p:cNvSpPr>
            <a:spLocks noGrp="1"/>
          </p:cNvSpPr>
          <p:nvPr>
            <p:ph idx="1"/>
          </p:nvPr>
        </p:nvSpPr>
        <p:spPr/>
        <p:txBody>
          <a:bodyPr>
            <a:normAutofit/>
          </a:bodyPr>
          <a:lstStyle/>
          <a:p>
            <a:r>
              <a:rPr lang="en-US" dirty="0"/>
              <a:t>The state of a latch or flip-flop is switched by a change in the control input. This momentary change is called a </a:t>
            </a:r>
            <a:r>
              <a:rPr lang="en-US" i="1" dirty="0"/>
              <a:t>trigger</a:t>
            </a:r>
            <a:r>
              <a:rPr lang="en-US" dirty="0"/>
              <a:t>, and the transition it causes is said to trigger the flip-flop. </a:t>
            </a:r>
          </a:p>
          <a:p>
            <a:r>
              <a:rPr lang="en-US" dirty="0"/>
              <a:t>The </a:t>
            </a:r>
            <a:r>
              <a:rPr lang="en-US" i="1" dirty="0"/>
              <a:t>D </a:t>
            </a:r>
            <a:r>
              <a:rPr lang="en-US" dirty="0"/>
              <a:t>latch with pulses in its control input is essentially a flip-flop that is triggered every time the pulse goes to the logic-1 level.</a:t>
            </a:r>
          </a:p>
          <a:p>
            <a:r>
              <a:rPr lang="en-US" dirty="0"/>
              <a:t> As long as the pulse input remains at this level, any changes in the data input will change the output and the state of the latch.</a:t>
            </a:r>
          </a:p>
        </p:txBody>
      </p:sp>
    </p:spTree>
    <p:extLst>
      <p:ext uri="{BB962C8B-B14F-4D97-AF65-F5344CB8AC3E}">
        <p14:creationId xmlns:p14="http://schemas.microsoft.com/office/powerpoint/2010/main" val="36214697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2B682D-733E-3B1F-A72D-4F75AE8FFC3E}"/>
              </a:ext>
            </a:extLst>
          </p:cNvPr>
          <p:cNvSpPr>
            <a:spLocks noGrp="1"/>
          </p:cNvSpPr>
          <p:nvPr>
            <p:ph idx="1"/>
          </p:nvPr>
        </p:nvSpPr>
        <p:spPr>
          <a:xfrm>
            <a:off x="502920" y="210185"/>
            <a:ext cx="10515600" cy="4351338"/>
          </a:xfrm>
        </p:spPr>
        <p:txBody>
          <a:bodyPr>
            <a:noAutofit/>
          </a:bodyPr>
          <a:lstStyle/>
          <a:p>
            <a:pPr algn="just"/>
            <a:r>
              <a:rPr lang="en-US" sz="2400" dirty="0"/>
              <a:t>When latches are used for the storage elements, a serious difficulty arises. The state transitions of the latches start as soon as the clock pulse changes to the logic-1 level. </a:t>
            </a:r>
            <a:r>
              <a:rPr lang="en-US" sz="2400" dirty="0">
                <a:highlight>
                  <a:srgbClr val="00FFFF"/>
                </a:highlight>
              </a:rPr>
              <a:t>The new state of a latch appears at the output while the pulse is still active.</a:t>
            </a:r>
          </a:p>
          <a:p>
            <a:pPr algn="just"/>
            <a:r>
              <a:rPr lang="en-US" sz="2400" dirty="0"/>
              <a:t>This output is connected to the inputs of the latches through the combinational circuit.</a:t>
            </a:r>
          </a:p>
          <a:p>
            <a:pPr algn="just"/>
            <a:r>
              <a:rPr lang="en-US" sz="2400" dirty="0">
                <a:highlight>
                  <a:srgbClr val="00FFFF"/>
                </a:highlight>
              </a:rPr>
              <a:t>If the inputs applied to the latches change while the clock pulse is still at the logic-1 level, the latches will respond to new values and a new output state may occur. </a:t>
            </a:r>
          </a:p>
          <a:p>
            <a:pPr algn="just"/>
            <a:r>
              <a:rPr lang="en-US" sz="2400" dirty="0"/>
              <a:t>The result is an unpredictable situation, since the state of the latches may keep changing for as long as the clock pulse stays at the active level. </a:t>
            </a:r>
          </a:p>
          <a:p>
            <a:pPr algn="just"/>
            <a:r>
              <a:rPr lang="en-US" sz="2400" dirty="0"/>
              <a:t>Because of this unreliable operation, the output of a latch cannot be applied directly or through combinational logic to the input of the same or another latch when all the latches are triggered by a common clock source.</a:t>
            </a:r>
          </a:p>
          <a:p>
            <a:pPr algn="just"/>
            <a:r>
              <a:rPr lang="en-US" sz="2400" b="1" dirty="0">
                <a:highlight>
                  <a:srgbClr val="00FFFF"/>
                </a:highlight>
              </a:rPr>
              <a:t>Flip-flop circuits are constructed in such a way as to make them operate properly when they are part of a sequential circuit that employs a common clock</a:t>
            </a:r>
          </a:p>
        </p:txBody>
      </p:sp>
    </p:spTree>
    <p:extLst>
      <p:ext uri="{BB962C8B-B14F-4D97-AF65-F5344CB8AC3E}">
        <p14:creationId xmlns:p14="http://schemas.microsoft.com/office/powerpoint/2010/main" val="4613471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4498" y="1690688"/>
            <a:ext cx="11803004" cy="1882193"/>
          </a:xfrm>
          <a:prstGeom prst="rect">
            <a:avLst/>
          </a:prstGeom>
        </p:spPr>
      </p:pic>
      <p:sp>
        <p:nvSpPr>
          <p:cNvPr id="5" name="Rectangle 4"/>
          <p:cNvSpPr/>
          <p:nvPr/>
        </p:nvSpPr>
        <p:spPr>
          <a:xfrm>
            <a:off x="1039862" y="3821226"/>
            <a:ext cx="10110359" cy="1815882"/>
          </a:xfrm>
          <a:prstGeom prst="rect">
            <a:avLst/>
          </a:prstGeom>
        </p:spPr>
        <p:txBody>
          <a:bodyPr wrap="square">
            <a:spAutoFit/>
          </a:bodyPr>
          <a:lstStyle/>
          <a:p>
            <a:pPr algn="just"/>
            <a:r>
              <a:rPr lang="en-US" sz="2800" dirty="0">
                <a:highlight>
                  <a:srgbClr val="00FFFF"/>
                </a:highlight>
              </a:rPr>
              <a:t>A flip-flop is a binary storage device capable of storing one bit </a:t>
            </a:r>
            <a:r>
              <a:rPr lang="en-US" sz="2800" dirty="0"/>
              <a:t>of information. In a stable state, the output of a flip-flop is either 0 or 1. </a:t>
            </a:r>
            <a:r>
              <a:rPr lang="en-US" sz="2800" dirty="0">
                <a:highlight>
                  <a:srgbClr val="00FFFF"/>
                </a:highlight>
              </a:rPr>
              <a:t>A sequential circuit may use many flip-flops to store as many bits as necessary</a:t>
            </a:r>
            <a:r>
              <a:rPr lang="en-US" sz="2800" dirty="0"/>
              <a:t>.</a:t>
            </a:r>
            <a:endParaRPr lang="en-IN" sz="2800" dirty="0">
              <a:solidFill>
                <a:srgbClr val="282829"/>
              </a:solidFill>
            </a:endParaRPr>
          </a:p>
        </p:txBody>
      </p:sp>
      <p:sp>
        <p:nvSpPr>
          <p:cNvPr id="6" name="Title 5">
            <a:extLst>
              <a:ext uri="{FF2B5EF4-FFF2-40B4-BE49-F238E27FC236}">
                <a16:creationId xmlns:a16="http://schemas.microsoft.com/office/drawing/2014/main" id="{14395195-AD74-BA58-2896-EFC7002D7EA8}"/>
              </a:ext>
            </a:extLst>
          </p:cNvPr>
          <p:cNvSpPr>
            <a:spLocks noGrp="1"/>
          </p:cNvSpPr>
          <p:nvPr>
            <p:ph type="title"/>
          </p:nvPr>
        </p:nvSpPr>
        <p:spPr/>
        <p:txBody>
          <a:bodyPr/>
          <a:lstStyle/>
          <a:p>
            <a:r>
              <a:rPr lang="en-US" dirty="0"/>
              <a:t>Flip Flop</a:t>
            </a:r>
          </a:p>
        </p:txBody>
      </p:sp>
    </p:spTree>
    <p:extLst>
      <p:ext uri="{BB962C8B-B14F-4D97-AF65-F5344CB8AC3E}">
        <p14:creationId xmlns:p14="http://schemas.microsoft.com/office/powerpoint/2010/main" val="4071883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194754-A08C-D356-D81E-5D2A9BAC829C}"/>
              </a:ext>
            </a:extLst>
          </p:cNvPr>
          <p:cNvSpPr>
            <a:spLocks noGrp="1"/>
          </p:cNvSpPr>
          <p:nvPr>
            <p:ph idx="1"/>
          </p:nvPr>
        </p:nvSpPr>
        <p:spPr>
          <a:xfrm>
            <a:off x="533400" y="342265"/>
            <a:ext cx="10571480" cy="1831975"/>
          </a:xfrm>
        </p:spPr>
        <p:txBody>
          <a:bodyPr/>
          <a:lstStyle/>
          <a:p>
            <a:pPr algn="just"/>
            <a:r>
              <a:rPr lang="en-US" dirty="0"/>
              <a:t>The key to the proper </a:t>
            </a:r>
            <a:r>
              <a:rPr lang="en-US" dirty="0">
                <a:highlight>
                  <a:srgbClr val="00FFFF"/>
                </a:highlight>
              </a:rPr>
              <a:t>operation of a flip-flop is to trigger it only during a signal </a:t>
            </a:r>
            <a:r>
              <a:rPr lang="en-US" i="1" dirty="0">
                <a:highlight>
                  <a:srgbClr val="00FFFF"/>
                </a:highlight>
              </a:rPr>
              <a:t>transition </a:t>
            </a:r>
            <a:r>
              <a:rPr lang="en-US" dirty="0">
                <a:highlight>
                  <a:srgbClr val="00FFFF"/>
                </a:highlight>
              </a:rPr>
              <a:t>.</a:t>
            </a:r>
          </a:p>
          <a:p>
            <a:pPr algn="just"/>
            <a:r>
              <a:rPr lang="en-US" dirty="0"/>
              <a:t>A clock pulse goes through two transitions: from 0 to 1 and the return from 1 to 0.</a:t>
            </a:r>
          </a:p>
        </p:txBody>
      </p:sp>
      <p:pic>
        <p:nvPicPr>
          <p:cNvPr id="5" name="Picture 4">
            <a:extLst>
              <a:ext uri="{FF2B5EF4-FFF2-40B4-BE49-F238E27FC236}">
                <a16:creationId xmlns:a16="http://schemas.microsoft.com/office/drawing/2014/main" id="{B6E54DCA-FB84-57C8-D27E-D367EDE8CCAB}"/>
              </a:ext>
            </a:extLst>
          </p:cNvPr>
          <p:cNvPicPr>
            <a:picLocks noChangeAspect="1"/>
          </p:cNvPicPr>
          <p:nvPr/>
        </p:nvPicPr>
        <p:blipFill>
          <a:blip r:embed="rId2"/>
          <a:stretch>
            <a:fillRect/>
          </a:stretch>
        </p:blipFill>
        <p:spPr>
          <a:xfrm>
            <a:off x="2118757" y="2413684"/>
            <a:ext cx="7954485" cy="3839111"/>
          </a:xfrm>
          <a:prstGeom prst="rect">
            <a:avLst/>
          </a:prstGeom>
        </p:spPr>
      </p:pic>
      <p:sp>
        <p:nvSpPr>
          <p:cNvPr id="6" name="TextBox 5">
            <a:extLst>
              <a:ext uri="{FF2B5EF4-FFF2-40B4-BE49-F238E27FC236}">
                <a16:creationId xmlns:a16="http://schemas.microsoft.com/office/drawing/2014/main" id="{4A8EE7DD-0C69-C2B4-A205-5C14AB822FA5}"/>
              </a:ext>
            </a:extLst>
          </p:cNvPr>
          <p:cNvSpPr txBox="1"/>
          <p:nvPr/>
        </p:nvSpPr>
        <p:spPr>
          <a:xfrm>
            <a:off x="8808720" y="3059668"/>
            <a:ext cx="1615058" cy="369332"/>
          </a:xfrm>
          <a:prstGeom prst="rect">
            <a:avLst/>
          </a:prstGeom>
          <a:noFill/>
        </p:spPr>
        <p:txBody>
          <a:bodyPr wrap="none" rtlCol="0">
            <a:spAutoFit/>
          </a:bodyPr>
          <a:lstStyle/>
          <a:p>
            <a:r>
              <a:rPr lang="en-US" dirty="0">
                <a:highlight>
                  <a:srgbClr val="FFFF00"/>
                </a:highlight>
              </a:rPr>
              <a:t>Pulse Triggered</a:t>
            </a:r>
          </a:p>
        </p:txBody>
      </p:sp>
      <p:sp>
        <p:nvSpPr>
          <p:cNvPr id="7" name="TextBox 6">
            <a:extLst>
              <a:ext uri="{FF2B5EF4-FFF2-40B4-BE49-F238E27FC236}">
                <a16:creationId xmlns:a16="http://schemas.microsoft.com/office/drawing/2014/main" id="{D8A73A75-4A0F-F880-920E-1AFA345AB5C0}"/>
              </a:ext>
            </a:extLst>
          </p:cNvPr>
          <p:cNvSpPr txBox="1"/>
          <p:nvPr/>
        </p:nvSpPr>
        <p:spPr>
          <a:xfrm>
            <a:off x="8808338" y="4194701"/>
            <a:ext cx="2354875" cy="369332"/>
          </a:xfrm>
          <a:prstGeom prst="rect">
            <a:avLst/>
          </a:prstGeom>
          <a:noFill/>
        </p:spPr>
        <p:txBody>
          <a:bodyPr wrap="none" rtlCol="0">
            <a:spAutoFit/>
          </a:bodyPr>
          <a:lstStyle/>
          <a:p>
            <a:r>
              <a:rPr lang="en-US" dirty="0"/>
              <a:t>Positive </a:t>
            </a:r>
            <a:r>
              <a:rPr lang="en-US" dirty="0">
                <a:highlight>
                  <a:srgbClr val="FFFF00"/>
                </a:highlight>
              </a:rPr>
              <a:t>edge Triggered</a:t>
            </a:r>
          </a:p>
        </p:txBody>
      </p:sp>
      <p:sp>
        <p:nvSpPr>
          <p:cNvPr id="8" name="TextBox 7">
            <a:extLst>
              <a:ext uri="{FF2B5EF4-FFF2-40B4-BE49-F238E27FC236}">
                <a16:creationId xmlns:a16="http://schemas.microsoft.com/office/drawing/2014/main" id="{159A3C66-FDBB-F000-51DB-DB50CBAC4E0C}"/>
              </a:ext>
            </a:extLst>
          </p:cNvPr>
          <p:cNvSpPr txBox="1"/>
          <p:nvPr/>
        </p:nvSpPr>
        <p:spPr>
          <a:xfrm>
            <a:off x="8758740" y="5329734"/>
            <a:ext cx="2454070" cy="369332"/>
          </a:xfrm>
          <a:prstGeom prst="rect">
            <a:avLst/>
          </a:prstGeom>
          <a:noFill/>
        </p:spPr>
        <p:txBody>
          <a:bodyPr wrap="none" rtlCol="0">
            <a:spAutoFit/>
          </a:bodyPr>
          <a:lstStyle/>
          <a:p>
            <a:r>
              <a:rPr lang="en-US" dirty="0"/>
              <a:t>Negative edge Triggered</a:t>
            </a:r>
          </a:p>
        </p:txBody>
      </p:sp>
    </p:spTree>
    <p:extLst>
      <p:ext uri="{BB962C8B-B14F-4D97-AF65-F5344CB8AC3E}">
        <p14:creationId xmlns:p14="http://schemas.microsoft.com/office/powerpoint/2010/main" val="2975203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7C2BC-9F48-48A4-91DF-A6CA512BBFFB}"/>
              </a:ext>
            </a:extLst>
          </p:cNvPr>
          <p:cNvSpPr>
            <a:spLocks noGrp="1"/>
          </p:cNvSpPr>
          <p:nvPr>
            <p:ph type="title"/>
          </p:nvPr>
        </p:nvSpPr>
        <p:spPr/>
        <p:txBody>
          <a:bodyPr/>
          <a:lstStyle/>
          <a:p>
            <a:r>
              <a:rPr lang="en-US" dirty="0"/>
              <a:t>Edge Triggered D Flip Flop</a:t>
            </a:r>
          </a:p>
        </p:txBody>
      </p:sp>
      <p:pic>
        <p:nvPicPr>
          <p:cNvPr id="7" name="Picture 6">
            <a:extLst>
              <a:ext uri="{FF2B5EF4-FFF2-40B4-BE49-F238E27FC236}">
                <a16:creationId xmlns:a16="http://schemas.microsoft.com/office/drawing/2014/main" id="{532B7A9A-B18E-CEEE-5C89-8FD7DD75CEF2}"/>
              </a:ext>
            </a:extLst>
          </p:cNvPr>
          <p:cNvPicPr>
            <a:picLocks noChangeAspect="1"/>
          </p:cNvPicPr>
          <p:nvPr/>
        </p:nvPicPr>
        <p:blipFill>
          <a:blip r:embed="rId2"/>
          <a:stretch>
            <a:fillRect/>
          </a:stretch>
        </p:blipFill>
        <p:spPr>
          <a:xfrm>
            <a:off x="2712720" y="2286000"/>
            <a:ext cx="6806708" cy="3100903"/>
          </a:xfrm>
          <a:prstGeom prst="rect">
            <a:avLst/>
          </a:prstGeom>
        </p:spPr>
      </p:pic>
      <p:sp>
        <p:nvSpPr>
          <p:cNvPr id="4" name="TextBox 3">
            <a:extLst>
              <a:ext uri="{FF2B5EF4-FFF2-40B4-BE49-F238E27FC236}">
                <a16:creationId xmlns:a16="http://schemas.microsoft.com/office/drawing/2014/main" id="{63302528-27E1-06E5-CA96-4F75F1576002}"/>
              </a:ext>
            </a:extLst>
          </p:cNvPr>
          <p:cNvSpPr txBox="1"/>
          <p:nvPr/>
        </p:nvSpPr>
        <p:spPr>
          <a:xfrm>
            <a:off x="1300480" y="1665179"/>
            <a:ext cx="8971280" cy="646331"/>
          </a:xfrm>
          <a:prstGeom prst="rect">
            <a:avLst/>
          </a:prstGeom>
          <a:noFill/>
        </p:spPr>
        <p:txBody>
          <a:bodyPr wrap="square">
            <a:spAutoFit/>
          </a:bodyPr>
          <a:lstStyle/>
          <a:p>
            <a:pPr algn="just"/>
            <a:r>
              <a:rPr lang="en-US" sz="1800" b="0" i="0" u="none" strike="noStrike" baseline="0" dirty="0">
                <a:highlight>
                  <a:srgbClr val="FFFF00"/>
                </a:highlight>
                <a:latin typeface="TimesTenLTStd-Roman"/>
              </a:rPr>
              <a:t>A common way to create a flip-flop</a:t>
            </a:r>
            <a:r>
              <a:rPr lang="en-US" sz="1800" dirty="0">
                <a:highlight>
                  <a:srgbClr val="FFFF00"/>
                </a:highlight>
                <a:latin typeface="TimesTenLTStd-Roman"/>
              </a:rPr>
              <a:t> </a:t>
            </a:r>
            <a:r>
              <a:rPr lang="en-US" sz="1800" b="0" i="0" u="none" strike="noStrike" baseline="0" dirty="0">
                <a:highlight>
                  <a:srgbClr val="FFFF00"/>
                </a:highlight>
                <a:latin typeface="TimesTenLTStd-Roman"/>
              </a:rPr>
              <a:t>is to connect two latches which is often referred to as a </a:t>
            </a:r>
            <a:r>
              <a:rPr lang="en-US" sz="1800" b="0" i="1" u="none" strike="noStrike" baseline="0" dirty="0">
                <a:highlight>
                  <a:srgbClr val="FFFF00"/>
                </a:highlight>
                <a:latin typeface="TimesTenLTStd-Italic"/>
              </a:rPr>
              <a:t>master–slave</a:t>
            </a:r>
            <a:r>
              <a:rPr lang="en-US" sz="1800" i="1" dirty="0">
                <a:highlight>
                  <a:srgbClr val="FFFF00"/>
                </a:highlight>
                <a:latin typeface="TimesTenLTStd-Italic"/>
              </a:rPr>
              <a:t> </a:t>
            </a:r>
            <a:r>
              <a:rPr lang="en-US" sz="1800" b="0" i="0" u="none" strike="noStrike" baseline="0" dirty="0">
                <a:highlight>
                  <a:srgbClr val="FFFF00"/>
                </a:highlight>
                <a:latin typeface="TimesTenLTStd-Roman"/>
              </a:rPr>
              <a:t>flip-flop.</a:t>
            </a:r>
          </a:p>
        </p:txBody>
      </p:sp>
    </p:spTree>
    <p:extLst>
      <p:ext uri="{BB962C8B-B14F-4D97-AF65-F5344CB8AC3E}">
        <p14:creationId xmlns:p14="http://schemas.microsoft.com/office/powerpoint/2010/main" val="40195816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94A64-F548-7751-8ACF-9345E999490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8A8E43A-2E2C-6842-1184-6F1807EE8CAD}"/>
              </a:ext>
            </a:extLst>
          </p:cNvPr>
          <p:cNvPicPr>
            <a:picLocks noGrp="1" noChangeAspect="1"/>
          </p:cNvPicPr>
          <p:nvPr>
            <p:ph idx="1"/>
          </p:nvPr>
        </p:nvPicPr>
        <p:blipFill>
          <a:blip r:embed="rId2"/>
          <a:stretch>
            <a:fillRect/>
          </a:stretch>
        </p:blipFill>
        <p:spPr>
          <a:xfrm>
            <a:off x="672530" y="365125"/>
            <a:ext cx="10825582" cy="6127750"/>
          </a:xfrm>
          <a:prstGeom prst="rect">
            <a:avLst/>
          </a:prstGeom>
        </p:spPr>
      </p:pic>
    </p:spTree>
    <p:extLst>
      <p:ext uri="{BB962C8B-B14F-4D97-AF65-F5344CB8AC3E}">
        <p14:creationId xmlns:p14="http://schemas.microsoft.com/office/powerpoint/2010/main" val="16896420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46D349-A9C4-213C-6A2C-AF9E5221EA10}"/>
              </a:ext>
            </a:extLst>
          </p:cNvPr>
          <p:cNvSpPr txBox="1"/>
          <p:nvPr/>
        </p:nvSpPr>
        <p:spPr>
          <a:xfrm>
            <a:off x="222379" y="428178"/>
            <a:ext cx="11747241" cy="6001643"/>
          </a:xfrm>
          <a:prstGeom prst="rect">
            <a:avLst/>
          </a:prstGeom>
          <a:noFill/>
        </p:spPr>
        <p:txBody>
          <a:bodyPr wrap="square">
            <a:spAutoFit/>
          </a:bodyPr>
          <a:lstStyle/>
          <a:p>
            <a:pPr marL="285750" indent="-285750" algn="just">
              <a:buFont typeface="Arial" panose="020B0604020202020204" pitchFamily="34" charset="0"/>
              <a:buChar char="•"/>
            </a:pPr>
            <a:r>
              <a:rPr lang="en-US" sz="2400" b="0" i="0" u="none" strike="noStrike" baseline="0" dirty="0">
                <a:latin typeface="TimesTenLTStd-Roman"/>
              </a:rPr>
              <a:t>The circuit samples the </a:t>
            </a:r>
            <a:r>
              <a:rPr lang="en-US" sz="2400" b="0" i="1" u="none" strike="noStrike" baseline="0" dirty="0">
                <a:latin typeface="TimesTenLTStd-Italic"/>
              </a:rPr>
              <a:t>D </a:t>
            </a:r>
            <a:r>
              <a:rPr lang="en-US" sz="2400" b="0" i="0" u="none" strike="noStrike" baseline="0" dirty="0">
                <a:latin typeface="TimesTenLTStd-Roman"/>
              </a:rPr>
              <a:t>input and changes its output </a:t>
            </a:r>
            <a:r>
              <a:rPr lang="en-US" sz="2400" b="0" i="1" u="none" strike="noStrike" baseline="0" dirty="0">
                <a:latin typeface="TimesTenLTStd-Italic"/>
              </a:rPr>
              <a:t>Q </a:t>
            </a:r>
            <a:r>
              <a:rPr lang="en-US" sz="2400" b="0" i="0" u="none" strike="noStrike" baseline="0" dirty="0">
                <a:latin typeface="TimesTenLTStd-Roman"/>
              </a:rPr>
              <a:t>only at the negative edge of the synchronizing or controlling clock (designated as </a:t>
            </a:r>
            <a:r>
              <a:rPr lang="en-US" sz="2400" b="0" i="1" u="none" strike="noStrike" baseline="0" dirty="0" err="1">
                <a:latin typeface="TimesTenLTStd-Italic"/>
              </a:rPr>
              <a:t>Clk</a:t>
            </a:r>
            <a:r>
              <a:rPr lang="en-US" sz="2400" b="0" i="1" u="none" strike="noStrike" baseline="0" dirty="0">
                <a:latin typeface="TimesTenLTStd-Italic"/>
              </a:rPr>
              <a:t> </a:t>
            </a:r>
            <a:r>
              <a:rPr lang="en-US" sz="2400" b="0" i="0" u="none" strike="noStrike" baseline="0" dirty="0">
                <a:latin typeface="TimesTenLTStd-Roman"/>
              </a:rPr>
              <a:t>).</a:t>
            </a:r>
          </a:p>
          <a:p>
            <a:pPr marL="285750" indent="-285750" algn="just">
              <a:buFont typeface="Arial" panose="020B0604020202020204" pitchFamily="34" charset="0"/>
              <a:buChar char="•"/>
            </a:pPr>
            <a:r>
              <a:rPr lang="en-US" sz="2400" b="0" i="0" u="none" strike="noStrike" baseline="0" dirty="0">
                <a:latin typeface="TimesTenLTStd-Roman"/>
              </a:rPr>
              <a:t> When the clock is 0, the output of the inverter is 1. The slave latch is enabled, and its output </a:t>
            </a:r>
            <a:r>
              <a:rPr lang="en-US" sz="2400" b="0" i="1" u="none" strike="noStrike" baseline="0" dirty="0">
                <a:latin typeface="TimesTenLTStd-Italic"/>
              </a:rPr>
              <a:t>Q </a:t>
            </a:r>
            <a:r>
              <a:rPr lang="en-US" sz="2400" b="0" i="0" u="none" strike="noStrike" baseline="0" dirty="0">
                <a:latin typeface="TimesTenLTStd-Roman"/>
              </a:rPr>
              <a:t>is equal to the master output </a:t>
            </a:r>
            <a:r>
              <a:rPr lang="en-US" sz="2400" b="0" i="1" u="none" strike="noStrike" baseline="0" dirty="0">
                <a:latin typeface="TimesTenLTStd-Italic"/>
              </a:rPr>
              <a:t>Y </a:t>
            </a:r>
            <a:r>
              <a:rPr lang="en-US" sz="2400" b="0" i="0" u="none" strike="noStrike" baseline="0" dirty="0">
                <a:latin typeface="TimesTenLTStd-Roman"/>
              </a:rPr>
              <a:t>. </a:t>
            </a:r>
          </a:p>
          <a:p>
            <a:pPr marL="285750" indent="-285750" algn="just">
              <a:buFont typeface="Arial" panose="020B0604020202020204" pitchFamily="34" charset="0"/>
              <a:buChar char="•"/>
            </a:pPr>
            <a:r>
              <a:rPr lang="en-US" sz="2400" b="0" i="0" u="none" strike="noStrike" baseline="0" dirty="0">
                <a:latin typeface="TimesTenLTStd-Roman"/>
              </a:rPr>
              <a:t>The master latch is disabled because </a:t>
            </a:r>
            <a:r>
              <a:rPr lang="en-US" sz="2400" b="0" i="1" u="none" strike="noStrike" baseline="0" dirty="0" err="1">
                <a:latin typeface="TimesTenLTStd-Italic"/>
              </a:rPr>
              <a:t>Clk</a:t>
            </a:r>
            <a:r>
              <a:rPr lang="en-US" sz="2400" b="0" i="1" u="none" strike="noStrike" baseline="0" dirty="0">
                <a:latin typeface="TimesTenLTStd-Italic"/>
              </a:rPr>
              <a:t> </a:t>
            </a:r>
            <a:r>
              <a:rPr lang="en-US" sz="2400" b="0" i="0" u="none" strike="noStrike" baseline="0" dirty="0">
                <a:latin typeface="PearsonMATH08"/>
              </a:rPr>
              <a:t>= </a:t>
            </a:r>
            <a:r>
              <a:rPr lang="en-US" sz="2400" b="0" i="0" u="none" strike="noStrike" baseline="0" dirty="0">
                <a:latin typeface="TimesTenLTStd-Roman"/>
              </a:rPr>
              <a:t>0. </a:t>
            </a:r>
          </a:p>
          <a:p>
            <a:pPr marL="285750" indent="-285750" algn="just">
              <a:buFont typeface="Arial" panose="020B0604020202020204" pitchFamily="34" charset="0"/>
              <a:buChar char="•"/>
            </a:pPr>
            <a:r>
              <a:rPr lang="en-US" sz="2400" b="0" i="0" u="none" strike="noStrike" baseline="0" dirty="0">
                <a:highlight>
                  <a:srgbClr val="00FF00"/>
                </a:highlight>
                <a:latin typeface="TimesTenLTStd-Roman"/>
              </a:rPr>
              <a:t>When the input pulse changes to the logic-1 level, the data from the external </a:t>
            </a:r>
            <a:r>
              <a:rPr lang="en-US" sz="2400" b="0" i="1" u="none" strike="noStrike" baseline="0" dirty="0">
                <a:highlight>
                  <a:srgbClr val="00FF00"/>
                </a:highlight>
                <a:latin typeface="TimesTenLTStd-Italic"/>
              </a:rPr>
              <a:t>D </a:t>
            </a:r>
            <a:r>
              <a:rPr lang="en-US" sz="2400" b="0" i="0" u="none" strike="noStrike" baseline="0" dirty="0">
                <a:highlight>
                  <a:srgbClr val="00FF00"/>
                </a:highlight>
                <a:latin typeface="TimesTenLTStd-Roman"/>
              </a:rPr>
              <a:t>input are transferred to the master. </a:t>
            </a:r>
          </a:p>
          <a:p>
            <a:pPr marL="285750" indent="-285750" algn="just">
              <a:buFont typeface="Arial" panose="020B0604020202020204" pitchFamily="34" charset="0"/>
              <a:buChar char="•"/>
            </a:pPr>
            <a:r>
              <a:rPr lang="en-US" sz="2400" b="0" i="0" u="none" strike="noStrike" baseline="0" dirty="0">
                <a:highlight>
                  <a:srgbClr val="00FF00"/>
                </a:highlight>
                <a:latin typeface="TimesTenLTStd-Roman"/>
              </a:rPr>
              <a:t>The slave, however, is disabled as long as the clock remains at the 1 level, because its </a:t>
            </a:r>
            <a:r>
              <a:rPr lang="en-US" sz="2400" b="0" i="1" u="none" strike="noStrike" baseline="0" dirty="0">
                <a:highlight>
                  <a:srgbClr val="00FF00"/>
                </a:highlight>
                <a:latin typeface="TimesTenLTStd-Italic"/>
              </a:rPr>
              <a:t>enable </a:t>
            </a:r>
            <a:r>
              <a:rPr lang="en-US" sz="2400" b="0" i="0" u="none" strike="noStrike" baseline="0" dirty="0">
                <a:highlight>
                  <a:srgbClr val="00FF00"/>
                </a:highlight>
                <a:latin typeface="TimesTenLTStd-Roman"/>
              </a:rPr>
              <a:t>input is equal to 0.</a:t>
            </a:r>
          </a:p>
          <a:p>
            <a:pPr marL="285750" indent="-285750" algn="just">
              <a:buFont typeface="Arial" panose="020B0604020202020204" pitchFamily="34" charset="0"/>
              <a:buChar char="•"/>
            </a:pPr>
            <a:r>
              <a:rPr lang="en-US" sz="2400" b="0" i="0" u="none" strike="noStrike" baseline="0" dirty="0">
                <a:latin typeface="TimesTenLTStd-Roman"/>
              </a:rPr>
              <a:t> Any change in the input changes the master output at </a:t>
            </a:r>
            <a:r>
              <a:rPr lang="en-US" sz="2400" b="0" i="1" u="none" strike="noStrike" baseline="0" dirty="0">
                <a:latin typeface="TimesTenLTStd-Italic"/>
              </a:rPr>
              <a:t>Y</a:t>
            </a:r>
            <a:r>
              <a:rPr lang="en-US" sz="2400" b="0" i="0" u="none" strike="noStrike" baseline="0" dirty="0">
                <a:latin typeface="TimesTenLTStd-Roman"/>
              </a:rPr>
              <a:t>, but cannot affect the slave output.</a:t>
            </a:r>
          </a:p>
          <a:p>
            <a:pPr marL="285750" indent="-285750" algn="just">
              <a:buFont typeface="Arial" panose="020B0604020202020204" pitchFamily="34" charset="0"/>
              <a:buChar char="•"/>
            </a:pPr>
            <a:r>
              <a:rPr lang="en-US" sz="2400" b="0" i="0" u="none" strike="noStrike" baseline="0" dirty="0">
                <a:highlight>
                  <a:srgbClr val="00FFFF"/>
                </a:highlight>
                <a:latin typeface="TimesTenLTStd-Roman"/>
              </a:rPr>
              <a:t>When the clock pulse returns to 0, the master is disabled and is isolated from the </a:t>
            </a:r>
            <a:r>
              <a:rPr lang="en-US" sz="2400" b="0" i="1" u="none" strike="noStrike" baseline="0" dirty="0">
                <a:highlight>
                  <a:srgbClr val="00FFFF"/>
                </a:highlight>
                <a:latin typeface="TimesTenLTStd-Italic"/>
              </a:rPr>
              <a:t>D </a:t>
            </a:r>
            <a:r>
              <a:rPr lang="en-US" sz="2400" b="0" i="0" u="none" strike="noStrike" baseline="0" dirty="0">
                <a:highlight>
                  <a:srgbClr val="00FFFF"/>
                </a:highlight>
                <a:latin typeface="TimesTenLTStd-Roman"/>
              </a:rPr>
              <a:t>input. </a:t>
            </a:r>
          </a:p>
          <a:p>
            <a:pPr marL="285750" indent="-285750" algn="just">
              <a:buFont typeface="Arial" panose="020B0604020202020204" pitchFamily="34" charset="0"/>
              <a:buChar char="•"/>
            </a:pPr>
            <a:r>
              <a:rPr lang="en-US" sz="2400" b="0" i="0" u="none" strike="noStrike" baseline="0" dirty="0">
                <a:highlight>
                  <a:srgbClr val="00FFFF"/>
                </a:highlight>
                <a:latin typeface="TimesTenLTStd-Roman"/>
              </a:rPr>
              <a:t>At the same time, the slave is enabled and the value of </a:t>
            </a:r>
            <a:r>
              <a:rPr lang="en-US" sz="2400" b="0" i="1" u="none" strike="noStrike" baseline="0" dirty="0">
                <a:highlight>
                  <a:srgbClr val="00FFFF"/>
                </a:highlight>
                <a:latin typeface="TimesTenLTStd-Italic"/>
              </a:rPr>
              <a:t>Y </a:t>
            </a:r>
            <a:r>
              <a:rPr lang="en-US" sz="2400" b="0" i="0" u="none" strike="noStrike" baseline="0" dirty="0">
                <a:highlight>
                  <a:srgbClr val="00FFFF"/>
                </a:highlight>
                <a:latin typeface="TimesTenLTStd-Roman"/>
              </a:rPr>
              <a:t>is transferred to the output of the flip-flop at </a:t>
            </a:r>
            <a:r>
              <a:rPr lang="en-US" sz="2400" b="0" i="1" u="none" strike="noStrike" baseline="0" dirty="0">
                <a:highlight>
                  <a:srgbClr val="00FFFF"/>
                </a:highlight>
                <a:latin typeface="TimesTenLTStd-Italic"/>
              </a:rPr>
              <a:t>Q </a:t>
            </a:r>
            <a:r>
              <a:rPr lang="en-US" sz="2400" b="0" i="0" u="none" strike="noStrike" baseline="0" dirty="0">
                <a:highlight>
                  <a:srgbClr val="00FFFF"/>
                </a:highlight>
                <a:latin typeface="TimesTenLTStd-Roman"/>
              </a:rPr>
              <a:t>. ( Jab </a:t>
            </a:r>
            <a:r>
              <a:rPr lang="en-US" sz="2400" b="0" i="0" u="none" strike="noStrike" baseline="0" dirty="0" err="1">
                <a:highlight>
                  <a:srgbClr val="00FFFF"/>
                </a:highlight>
                <a:latin typeface="TimesTenLTStd-Roman"/>
              </a:rPr>
              <a:t>bhi</a:t>
            </a:r>
            <a:r>
              <a:rPr lang="en-US" sz="2400" b="0" i="0" u="none" strike="noStrike" baseline="0" dirty="0">
                <a:highlight>
                  <a:srgbClr val="00FFFF"/>
                </a:highlight>
                <a:latin typeface="TimesTenLTStd-Roman"/>
              </a:rPr>
              <a:t> clock </a:t>
            </a:r>
            <a:r>
              <a:rPr lang="en-US" sz="2400" b="0" i="0" u="none" strike="noStrike" baseline="0" dirty="0" err="1">
                <a:highlight>
                  <a:srgbClr val="00FFFF"/>
                </a:highlight>
                <a:latin typeface="TimesTenLTStd-Roman"/>
              </a:rPr>
              <a:t>neeche</a:t>
            </a:r>
            <a:r>
              <a:rPr lang="en-US" sz="2400" b="0" i="0" u="none" strike="noStrike" baseline="0" dirty="0">
                <a:highlight>
                  <a:srgbClr val="00FFFF"/>
                </a:highlight>
                <a:latin typeface="TimesTenLTStd-Roman"/>
              </a:rPr>
              <a:t> </a:t>
            </a:r>
            <a:r>
              <a:rPr lang="en-US" sz="2400" b="0" i="0" u="none" strike="noStrike" baseline="0" dirty="0" err="1">
                <a:highlight>
                  <a:srgbClr val="00FFFF"/>
                </a:highlight>
                <a:latin typeface="TimesTenLTStd-Roman"/>
              </a:rPr>
              <a:t>jayega</a:t>
            </a:r>
            <a:r>
              <a:rPr lang="en-US" sz="2400" b="0" i="0" u="none" strike="noStrike" baseline="0" dirty="0">
                <a:highlight>
                  <a:srgbClr val="00FFFF"/>
                </a:highlight>
                <a:latin typeface="TimesTenLTStd-Roman"/>
              </a:rPr>
              <a:t> tab hi </a:t>
            </a:r>
            <a:r>
              <a:rPr lang="en-US" sz="2400" b="0" i="0" u="none" strike="noStrike" baseline="0" dirty="0" err="1">
                <a:highlight>
                  <a:srgbClr val="00FFFF"/>
                </a:highlight>
                <a:latin typeface="TimesTenLTStd-Roman"/>
              </a:rPr>
              <a:t>Q</a:t>
            </a:r>
            <a:r>
              <a:rPr lang="en-US" sz="1600" b="0" i="0" u="none" strike="noStrike" baseline="0" dirty="0" err="1">
                <a:highlight>
                  <a:srgbClr val="00FFFF"/>
                </a:highlight>
                <a:latin typeface="TimesTenLTStd-Roman"/>
              </a:rPr>
              <a:t>m</a:t>
            </a:r>
            <a:r>
              <a:rPr lang="en-US" sz="2400" b="0" i="0" u="none" strike="noStrike" baseline="0" dirty="0">
                <a:highlight>
                  <a:srgbClr val="00FFFF"/>
                </a:highlight>
                <a:latin typeface="TimesTenLTStd-Roman"/>
              </a:rPr>
              <a:t> ka value slave’s D </a:t>
            </a:r>
            <a:r>
              <a:rPr lang="en-US" sz="2400" b="0" i="0" u="none" strike="noStrike" baseline="0" dirty="0" err="1">
                <a:highlight>
                  <a:srgbClr val="00FFFF"/>
                </a:highlight>
                <a:latin typeface="TimesTenLTStd-Roman"/>
              </a:rPr>
              <a:t>i</a:t>
            </a:r>
            <a:r>
              <a:rPr lang="en-US" sz="2400" b="0" i="0" u="none" strike="noStrike" baseline="0" dirty="0">
                <a:highlight>
                  <a:srgbClr val="00FFFF"/>
                </a:highlight>
                <a:latin typeface="TimesTenLTStd-Roman"/>
              </a:rPr>
              <a:t>/p </a:t>
            </a:r>
            <a:r>
              <a:rPr lang="en-US" sz="2400" b="0" i="0" u="none" strike="noStrike" baseline="0" dirty="0" err="1">
                <a:highlight>
                  <a:srgbClr val="00FFFF"/>
                </a:highlight>
                <a:latin typeface="TimesTenLTStd-Roman"/>
              </a:rPr>
              <a:t>mein</a:t>
            </a:r>
            <a:r>
              <a:rPr lang="en-US" sz="2400" b="0" i="0" u="none" strike="noStrike" baseline="0" dirty="0">
                <a:highlight>
                  <a:srgbClr val="00FFFF"/>
                </a:highlight>
                <a:latin typeface="TimesTenLTStd-Roman"/>
              </a:rPr>
              <a:t> </a:t>
            </a:r>
            <a:r>
              <a:rPr lang="en-US" sz="2400" b="0" i="0" u="none" strike="noStrike" baseline="0" dirty="0" err="1">
                <a:highlight>
                  <a:srgbClr val="00FFFF"/>
                </a:highlight>
                <a:latin typeface="TimesTenLTStd-Roman"/>
              </a:rPr>
              <a:t>jayega</a:t>
            </a:r>
            <a:r>
              <a:rPr lang="en-US" sz="2400" b="0" i="0" u="none" strike="noStrike" baseline="0" dirty="0">
                <a:highlight>
                  <a:srgbClr val="00FFFF"/>
                </a:highlight>
                <a:latin typeface="TimesTenLTStd-Roman"/>
              </a:rPr>
              <a:t> tb fir Q</a:t>
            </a:r>
            <a:r>
              <a:rPr lang="en-US" sz="1600" b="0" i="0" u="none" strike="noStrike" baseline="0" dirty="0">
                <a:highlight>
                  <a:srgbClr val="00FFFF"/>
                </a:highlight>
                <a:latin typeface="TimesTenLTStd-Roman"/>
              </a:rPr>
              <a:t>s</a:t>
            </a:r>
            <a:r>
              <a:rPr lang="en-US" sz="2400" b="0" i="0" u="none" strike="noStrike" baseline="0" dirty="0">
                <a:highlight>
                  <a:srgbClr val="00FFFF"/>
                </a:highlight>
                <a:latin typeface="TimesTenLTStd-Roman"/>
              </a:rPr>
              <a:t> </a:t>
            </a:r>
            <a:r>
              <a:rPr lang="en-US" sz="2400" b="0" i="0" u="none" strike="noStrike" baseline="0" dirty="0" err="1">
                <a:highlight>
                  <a:srgbClr val="00FFFF"/>
                </a:highlight>
                <a:latin typeface="TimesTenLTStd-Roman"/>
              </a:rPr>
              <a:t>mein</a:t>
            </a:r>
            <a:r>
              <a:rPr lang="en-US" sz="2400" b="0" i="0" u="none" strike="noStrike" baseline="0" dirty="0">
                <a:highlight>
                  <a:srgbClr val="00FFFF"/>
                </a:highlight>
                <a:latin typeface="TimesTenLTStd-Roman"/>
              </a:rPr>
              <a:t>)</a:t>
            </a:r>
          </a:p>
          <a:p>
            <a:pPr marL="285750" indent="-285750" algn="just">
              <a:buFont typeface="Arial" panose="020B0604020202020204" pitchFamily="34" charset="0"/>
              <a:buChar char="•"/>
            </a:pPr>
            <a:r>
              <a:rPr lang="en-US" sz="2400" b="0" i="0" u="none" strike="noStrike" baseline="0" dirty="0">
                <a:latin typeface="TimesTenLTStd-Roman"/>
              </a:rPr>
              <a:t> Thus, </a:t>
            </a:r>
            <a:r>
              <a:rPr lang="en-US" sz="2400" b="0" i="1" u="none" strike="noStrike" baseline="0" dirty="0">
                <a:latin typeface="TimesTenLTStd-Italic"/>
              </a:rPr>
              <a:t>a change in the output of the flip-flop can be triggered only by and during the transition of the clock from 1 </a:t>
            </a:r>
            <a:r>
              <a:rPr lang="en-US" sz="2400" b="0" i="0" u="none" strike="noStrike" baseline="0" dirty="0">
                <a:latin typeface="TimesTenLTStd-Roman"/>
              </a:rPr>
              <a:t>to 0.</a:t>
            </a:r>
            <a:endParaRPr lang="en-US" sz="2400" dirty="0"/>
          </a:p>
        </p:txBody>
      </p:sp>
    </p:spTree>
    <p:extLst>
      <p:ext uri="{BB962C8B-B14F-4D97-AF65-F5344CB8AC3E}">
        <p14:creationId xmlns:p14="http://schemas.microsoft.com/office/powerpoint/2010/main" val="38702570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0FBB82-1FD5-1879-D4CD-39ADDC01D992}"/>
              </a:ext>
            </a:extLst>
          </p:cNvPr>
          <p:cNvSpPr>
            <a:spLocks noGrp="1"/>
          </p:cNvSpPr>
          <p:nvPr>
            <p:ph idx="1"/>
          </p:nvPr>
        </p:nvSpPr>
        <p:spPr>
          <a:xfrm>
            <a:off x="698241" y="1387086"/>
            <a:ext cx="11160760" cy="4351338"/>
          </a:xfrm>
        </p:spPr>
        <p:txBody>
          <a:bodyPr>
            <a:normAutofit/>
          </a:bodyPr>
          <a:lstStyle/>
          <a:p>
            <a:pPr marL="0" indent="0" algn="just">
              <a:buNone/>
            </a:pPr>
            <a:r>
              <a:rPr lang="en-US" dirty="0"/>
              <a:t>The behavior of the master–slave flip-flop just described dictates that </a:t>
            </a:r>
          </a:p>
          <a:p>
            <a:pPr marL="0" indent="0" algn="just">
              <a:buNone/>
            </a:pPr>
            <a:r>
              <a:rPr lang="en-US" dirty="0"/>
              <a:t>  (1) the output may change only once, </a:t>
            </a:r>
          </a:p>
          <a:p>
            <a:pPr marL="0" indent="0" algn="just">
              <a:buNone/>
            </a:pPr>
            <a:r>
              <a:rPr lang="en-US" dirty="0"/>
              <a:t>  (2) a change in the output is triggered by the negative edge of the clock, an</a:t>
            </a:r>
          </a:p>
          <a:p>
            <a:pPr marL="0" indent="0" algn="just">
              <a:buNone/>
            </a:pPr>
            <a:r>
              <a:rPr lang="en-US" dirty="0"/>
              <a:t>  (3) the change may occur only during the clock’s negative level. </a:t>
            </a:r>
          </a:p>
          <a:p>
            <a:pPr marL="0" indent="0" algn="just">
              <a:buNone/>
            </a:pPr>
            <a:endParaRPr lang="en-US" dirty="0"/>
          </a:p>
          <a:p>
            <a:pPr marL="0" indent="0" algn="just">
              <a:buNone/>
            </a:pPr>
            <a:r>
              <a:rPr lang="en-US" dirty="0"/>
              <a:t>The value that is produced at the output of the flip-flop is the value that was </a:t>
            </a:r>
            <a:r>
              <a:rPr lang="en-US" i="1" dirty="0"/>
              <a:t>stored in the master stage immediately before the negative edge occurred </a:t>
            </a:r>
            <a:r>
              <a:rPr lang="en-US" dirty="0"/>
              <a:t>.</a:t>
            </a:r>
          </a:p>
        </p:txBody>
      </p:sp>
    </p:spTree>
    <p:extLst>
      <p:ext uri="{BB962C8B-B14F-4D97-AF65-F5344CB8AC3E}">
        <p14:creationId xmlns:p14="http://schemas.microsoft.com/office/powerpoint/2010/main" val="6463421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B25177-8379-C64D-5367-124F5E6B02F5}"/>
              </a:ext>
            </a:extLst>
          </p:cNvPr>
          <p:cNvPicPr>
            <a:picLocks noChangeAspect="1"/>
          </p:cNvPicPr>
          <p:nvPr/>
        </p:nvPicPr>
        <p:blipFill>
          <a:blip r:embed="rId2"/>
          <a:srcRect b="10370"/>
          <a:stretch>
            <a:fillRect/>
          </a:stretch>
        </p:blipFill>
        <p:spPr>
          <a:xfrm>
            <a:off x="3946562" y="1390709"/>
            <a:ext cx="7886788" cy="5331426"/>
          </a:xfrm>
          <a:prstGeom prst="rect">
            <a:avLst/>
          </a:prstGeom>
        </p:spPr>
      </p:pic>
      <p:sp>
        <p:nvSpPr>
          <p:cNvPr id="6" name="TextBox 5">
            <a:extLst>
              <a:ext uri="{FF2B5EF4-FFF2-40B4-BE49-F238E27FC236}">
                <a16:creationId xmlns:a16="http://schemas.microsoft.com/office/drawing/2014/main" id="{A1407E72-8798-BB2B-5FCA-D5FB28CC7533}"/>
              </a:ext>
            </a:extLst>
          </p:cNvPr>
          <p:cNvSpPr txBox="1"/>
          <p:nvPr/>
        </p:nvSpPr>
        <p:spPr>
          <a:xfrm>
            <a:off x="519440" y="396465"/>
            <a:ext cx="4747069" cy="769441"/>
          </a:xfrm>
          <a:prstGeom prst="rect">
            <a:avLst/>
          </a:prstGeom>
          <a:noFill/>
        </p:spPr>
        <p:txBody>
          <a:bodyPr wrap="none" rtlCol="0">
            <a:spAutoFit/>
          </a:bodyPr>
          <a:lstStyle/>
          <a:p>
            <a:r>
              <a:rPr lang="en-US" sz="4400" b="1" dirty="0"/>
              <a:t>Edge Triggered D FF</a:t>
            </a:r>
          </a:p>
        </p:txBody>
      </p:sp>
      <p:sp>
        <p:nvSpPr>
          <p:cNvPr id="8" name="TextBox 7">
            <a:extLst>
              <a:ext uri="{FF2B5EF4-FFF2-40B4-BE49-F238E27FC236}">
                <a16:creationId xmlns:a16="http://schemas.microsoft.com/office/drawing/2014/main" id="{D6465297-3329-D5E0-5C3B-FB3590A29B74}"/>
              </a:ext>
            </a:extLst>
          </p:cNvPr>
          <p:cNvSpPr txBox="1"/>
          <p:nvPr/>
        </p:nvSpPr>
        <p:spPr>
          <a:xfrm>
            <a:off x="640080" y="1785916"/>
            <a:ext cx="3942080" cy="1015663"/>
          </a:xfrm>
          <a:prstGeom prst="rect">
            <a:avLst/>
          </a:prstGeom>
          <a:noFill/>
        </p:spPr>
        <p:txBody>
          <a:bodyPr wrap="square">
            <a:spAutoFit/>
          </a:bodyPr>
          <a:lstStyle/>
          <a:p>
            <a:pPr algn="just"/>
            <a:r>
              <a:rPr lang="en-US" sz="2000" b="0" i="0" u="none" strike="noStrike" baseline="0" dirty="0">
                <a:latin typeface="TimesTenLTStd-Roman"/>
              </a:rPr>
              <a:t>Another construction of an edge-triggered </a:t>
            </a:r>
            <a:r>
              <a:rPr lang="en-US" sz="2000" b="0" i="1" u="none" strike="noStrike" baseline="0" dirty="0">
                <a:latin typeface="TimesTenLTStd-Italic"/>
              </a:rPr>
              <a:t>D </a:t>
            </a:r>
            <a:r>
              <a:rPr lang="en-US" sz="2000" b="0" i="0" u="none" strike="noStrike" baseline="0" dirty="0">
                <a:latin typeface="TimesTenLTStd-Roman"/>
              </a:rPr>
              <a:t>flip-flop uses three </a:t>
            </a:r>
            <a:r>
              <a:rPr lang="en-US" sz="2000" b="0" i="1" u="none" strike="noStrike" baseline="0" dirty="0">
                <a:latin typeface="TimesTenLTStd-Italic"/>
              </a:rPr>
              <a:t>SR </a:t>
            </a:r>
            <a:r>
              <a:rPr lang="en-US" sz="2000" b="0" i="0" u="none" strike="noStrike" baseline="0" dirty="0">
                <a:latin typeface="TimesTenLTStd-Roman"/>
              </a:rPr>
              <a:t>latches</a:t>
            </a:r>
            <a:endParaRPr lang="en-US" sz="2000" dirty="0"/>
          </a:p>
        </p:txBody>
      </p:sp>
      <p:sp>
        <p:nvSpPr>
          <p:cNvPr id="10" name="TextBox 9">
            <a:extLst>
              <a:ext uri="{FF2B5EF4-FFF2-40B4-BE49-F238E27FC236}">
                <a16:creationId xmlns:a16="http://schemas.microsoft.com/office/drawing/2014/main" id="{977B3B6D-DDAD-06B4-5804-493895EC5CEA}"/>
              </a:ext>
            </a:extLst>
          </p:cNvPr>
          <p:cNvSpPr txBox="1"/>
          <p:nvPr/>
        </p:nvSpPr>
        <p:spPr>
          <a:xfrm>
            <a:off x="375920" y="3505437"/>
            <a:ext cx="3078480" cy="1477328"/>
          </a:xfrm>
          <a:prstGeom prst="rect">
            <a:avLst/>
          </a:prstGeom>
          <a:noFill/>
        </p:spPr>
        <p:txBody>
          <a:bodyPr wrap="square">
            <a:spAutoFit/>
          </a:bodyPr>
          <a:lstStyle/>
          <a:p>
            <a:pPr marL="285750" indent="-285750" algn="just">
              <a:buFont typeface="Arial" panose="020B0604020202020204" pitchFamily="34" charset="0"/>
              <a:buChar char="•"/>
            </a:pPr>
            <a:r>
              <a:rPr lang="en-US" sz="1800" b="0" i="0" u="none" strike="noStrike" baseline="0" dirty="0">
                <a:latin typeface="TimesTenLTStd-Roman"/>
              </a:rPr>
              <a:t>Two latches respond to the external </a:t>
            </a:r>
            <a:r>
              <a:rPr lang="en-US" sz="1800" b="0" i="1" u="none" strike="noStrike" baseline="0" dirty="0">
                <a:latin typeface="TimesTenLTStd-Italic"/>
              </a:rPr>
              <a:t>D </a:t>
            </a:r>
            <a:r>
              <a:rPr lang="en-US" sz="1800" b="0" i="0" u="none" strike="noStrike" baseline="0" dirty="0">
                <a:latin typeface="TimesTenLTStd-Roman"/>
              </a:rPr>
              <a:t>(data) and </a:t>
            </a:r>
            <a:r>
              <a:rPr lang="en-US" sz="1800" b="0" i="1" u="none" strike="noStrike" baseline="0" dirty="0" err="1">
                <a:latin typeface="TimesTenLTStd-Italic"/>
              </a:rPr>
              <a:t>Clk</a:t>
            </a:r>
            <a:r>
              <a:rPr lang="en-US" sz="1800" b="0" i="1" u="none" strike="noStrike" baseline="0" dirty="0">
                <a:latin typeface="TimesTenLTStd-Italic"/>
              </a:rPr>
              <a:t> </a:t>
            </a:r>
            <a:r>
              <a:rPr lang="en-US" sz="1800" b="0" i="0" u="none" strike="noStrike" baseline="0" dirty="0">
                <a:latin typeface="TimesTenLTStd-Roman"/>
              </a:rPr>
              <a:t>(clock) inputs. </a:t>
            </a:r>
          </a:p>
          <a:p>
            <a:pPr marL="285750" indent="-285750" algn="just">
              <a:buFont typeface="Arial" panose="020B0604020202020204" pitchFamily="34" charset="0"/>
              <a:buChar char="•"/>
            </a:pPr>
            <a:r>
              <a:rPr lang="en-US" sz="1800" b="0" i="0" u="none" strike="noStrike" baseline="0" dirty="0">
                <a:latin typeface="TimesTenLTStd-Roman"/>
              </a:rPr>
              <a:t>The third latch provides the outputs for the flip-flop.</a:t>
            </a:r>
            <a:endParaRPr lang="en-US" dirty="0"/>
          </a:p>
        </p:txBody>
      </p:sp>
      <p:pic>
        <p:nvPicPr>
          <p:cNvPr id="2" name="Picture 1">
            <a:extLst>
              <a:ext uri="{FF2B5EF4-FFF2-40B4-BE49-F238E27FC236}">
                <a16:creationId xmlns:a16="http://schemas.microsoft.com/office/drawing/2014/main" id="{74F32259-F7FF-3013-ADA7-AA510AB5A576}"/>
              </a:ext>
            </a:extLst>
          </p:cNvPr>
          <p:cNvPicPr>
            <a:picLocks noChangeAspect="1"/>
          </p:cNvPicPr>
          <p:nvPr/>
        </p:nvPicPr>
        <p:blipFill>
          <a:blip r:embed="rId3"/>
          <a:stretch>
            <a:fillRect/>
          </a:stretch>
        </p:blipFill>
        <p:spPr>
          <a:xfrm>
            <a:off x="8522935" y="278477"/>
            <a:ext cx="3310415" cy="2292295"/>
          </a:xfrm>
          <a:prstGeom prst="rect">
            <a:avLst/>
          </a:prstGeom>
        </p:spPr>
      </p:pic>
      <p:sp>
        <p:nvSpPr>
          <p:cNvPr id="4" name="TextBox 3">
            <a:extLst>
              <a:ext uri="{FF2B5EF4-FFF2-40B4-BE49-F238E27FC236}">
                <a16:creationId xmlns:a16="http://schemas.microsoft.com/office/drawing/2014/main" id="{543D49A9-43E5-8AD7-DEEB-0941D8762834}"/>
              </a:ext>
            </a:extLst>
          </p:cNvPr>
          <p:cNvSpPr txBox="1"/>
          <p:nvPr/>
        </p:nvSpPr>
        <p:spPr>
          <a:xfrm>
            <a:off x="8522935" y="3838261"/>
            <a:ext cx="755183" cy="369332"/>
          </a:xfrm>
          <a:prstGeom prst="rect">
            <a:avLst/>
          </a:prstGeom>
          <a:noFill/>
        </p:spPr>
        <p:txBody>
          <a:bodyPr wrap="square" rtlCol="0">
            <a:spAutoFit/>
          </a:bodyPr>
          <a:lstStyle/>
          <a:p>
            <a:r>
              <a:rPr lang="en-US" dirty="0"/>
              <a:t>S</a:t>
            </a:r>
            <a:endParaRPr lang="en-IN" dirty="0"/>
          </a:p>
        </p:txBody>
      </p:sp>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A6E9304D-FCF0-EF6E-7521-C997F44B4B08}"/>
                  </a:ext>
                </a:extLst>
              </p14:cNvPr>
              <p14:cNvContentPartPr/>
              <p14:nvPr/>
            </p14:nvContentPartPr>
            <p14:xfrm>
              <a:off x="5922215" y="2977652"/>
              <a:ext cx="360" cy="360"/>
            </p14:xfrm>
          </p:contentPart>
        </mc:Choice>
        <mc:Fallback xmlns="">
          <p:pic>
            <p:nvPicPr>
              <p:cNvPr id="9" name="Ink 8">
                <a:extLst>
                  <a:ext uri="{FF2B5EF4-FFF2-40B4-BE49-F238E27FC236}">
                    <a16:creationId xmlns:a16="http://schemas.microsoft.com/office/drawing/2014/main" id="{A6E9304D-FCF0-EF6E-7521-C997F44B4B08}"/>
                  </a:ext>
                </a:extLst>
              </p:cNvPr>
              <p:cNvPicPr/>
              <p:nvPr/>
            </p:nvPicPr>
            <p:blipFill>
              <a:blip r:embed="rId7"/>
              <a:stretch>
                <a:fillRect/>
              </a:stretch>
            </p:blipFill>
            <p:spPr>
              <a:xfrm>
                <a:off x="5916095" y="2971532"/>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034A8E51-2A27-F316-8A71-3A0E6C5D51FB}"/>
                  </a:ext>
                </a:extLst>
              </p14:cNvPr>
              <p14:cNvContentPartPr/>
              <p14:nvPr/>
            </p14:nvContentPartPr>
            <p14:xfrm>
              <a:off x="9001295" y="2877572"/>
              <a:ext cx="360" cy="360"/>
            </p14:xfrm>
          </p:contentPart>
        </mc:Choice>
        <mc:Fallback xmlns="">
          <p:pic>
            <p:nvPicPr>
              <p:cNvPr id="11" name="Ink 10">
                <a:extLst>
                  <a:ext uri="{FF2B5EF4-FFF2-40B4-BE49-F238E27FC236}">
                    <a16:creationId xmlns:a16="http://schemas.microsoft.com/office/drawing/2014/main" id="{034A8E51-2A27-F316-8A71-3A0E6C5D51FB}"/>
                  </a:ext>
                </a:extLst>
              </p:cNvPr>
              <p:cNvPicPr/>
              <p:nvPr/>
            </p:nvPicPr>
            <p:blipFill>
              <a:blip r:embed="rId7"/>
              <a:stretch>
                <a:fillRect/>
              </a:stretch>
            </p:blipFill>
            <p:spPr>
              <a:xfrm>
                <a:off x="8995175" y="2871452"/>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70456970-5FA9-D2E6-16AB-F4049B3889E6}"/>
                  </a:ext>
                </a:extLst>
              </p14:cNvPr>
              <p14:cNvContentPartPr/>
              <p14:nvPr/>
            </p14:nvContentPartPr>
            <p14:xfrm>
              <a:off x="8967815" y="2952812"/>
              <a:ext cx="360" cy="360"/>
            </p14:xfrm>
          </p:contentPart>
        </mc:Choice>
        <mc:Fallback xmlns="">
          <p:pic>
            <p:nvPicPr>
              <p:cNvPr id="14" name="Ink 13">
                <a:extLst>
                  <a:ext uri="{FF2B5EF4-FFF2-40B4-BE49-F238E27FC236}">
                    <a16:creationId xmlns:a16="http://schemas.microsoft.com/office/drawing/2014/main" id="{70456970-5FA9-D2E6-16AB-F4049B3889E6}"/>
                  </a:ext>
                </a:extLst>
              </p:cNvPr>
              <p:cNvPicPr/>
              <p:nvPr/>
            </p:nvPicPr>
            <p:blipFill>
              <a:blip r:embed="rId7"/>
              <a:stretch>
                <a:fillRect/>
              </a:stretch>
            </p:blipFill>
            <p:spPr>
              <a:xfrm>
                <a:off x="8961695" y="2946692"/>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FA65532A-D8AF-EA9B-70E4-312386EC8D58}"/>
                  </a:ext>
                </a:extLst>
              </p14:cNvPr>
              <p14:cNvContentPartPr/>
              <p14:nvPr/>
            </p14:nvContentPartPr>
            <p14:xfrm>
              <a:off x="8699615" y="2902412"/>
              <a:ext cx="360" cy="360"/>
            </p14:xfrm>
          </p:contentPart>
        </mc:Choice>
        <mc:Fallback xmlns="">
          <p:pic>
            <p:nvPicPr>
              <p:cNvPr id="15" name="Ink 14">
                <a:extLst>
                  <a:ext uri="{FF2B5EF4-FFF2-40B4-BE49-F238E27FC236}">
                    <a16:creationId xmlns:a16="http://schemas.microsoft.com/office/drawing/2014/main" id="{FA65532A-D8AF-EA9B-70E4-312386EC8D58}"/>
                  </a:ext>
                </a:extLst>
              </p:cNvPr>
              <p:cNvPicPr/>
              <p:nvPr/>
            </p:nvPicPr>
            <p:blipFill>
              <a:blip r:embed="rId7"/>
              <a:stretch>
                <a:fillRect/>
              </a:stretch>
            </p:blipFill>
            <p:spPr>
              <a:xfrm>
                <a:off x="8693495" y="2896292"/>
                <a:ext cx="12600" cy="12600"/>
              </a:xfrm>
              <a:prstGeom prst="rect">
                <a:avLst/>
              </a:prstGeom>
            </p:spPr>
          </p:pic>
        </mc:Fallback>
      </mc:AlternateContent>
      <p:sp>
        <p:nvSpPr>
          <p:cNvPr id="18" name="TextBox 17">
            <a:extLst>
              <a:ext uri="{FF2B5EF4-FFF2-40B4-BE49-F238E27FC236}">
                <a16:creationId xmlns:a16="http://schemas.microsoft.com/office/drawing/2014/main" id="{17075344-C581-0D73-A095-65404CDF7199}"/>
              </a:ext>
            </a:extLst>
          </p:cNvPr>
          <p:cNvSpPr txBox="1"/>
          <p:nvPr/>
        </p:nvSpPr>
        <p:spPr>
          <a:xfrm>
            <a:off x="8522936" y="2710611"/>
            <a:ext cx="260512" cy="369332"/>
          </a:xfrm>
          <a:prstGeom prst="rect">
            <a:avLst/>
          </a:prstGeom>
          <a:noFill/>
        </p:spPr>
        <p:txBody>
          <a:bodyPr wrap="square" rtlCol="0">
            <a:spAutoFit/>
          </a:bodyPr>
          <a:lstStyle/>
          <a:p>
            <a:r>
              <a:rPr lang="en-US" dirty="0"/>
              <a:t>R</a:t>
            </a:r>
            <a:endParaRPr lang="en-IN" dirty="0"/>
          </a:p>
        </p:txBody>
      </p:sp>
      <mc:AlternateContent xmlns:mc="http://schemas.openxmlformats.org/markup-compatibility/2006" xmlns:p14="http://schemas.microsoft.com/office/powerpoint/2010/main">
        <mc:Choice Requires="p14">
          <p:contentPart p14:bwMode="auto" r:id="rId11">
            <p14:nvContentPartPr>
              <p14:cNvPr id="19" name="Ink 18">
                <a:extLst>
                  <a:ext uri="{FF2B5EF4-FFF2-40B4-BE49-F238E27FC236}">
                    <a16:creationId xmlns:a16="http://schemas.microsoft.com/office/drawing/2014/main" id="{B7DF1F85-8705-BF7C-E615-B56E4785AA3A}"/>
                  </a:ext>
                </a:extLst>
              </p14:cNvPr>
              <p14:cNvContentPartPr/>
              <p14:nvPr/>
            </p14:nvContentPartPr>
            <p14:xfrm>
              <a:off x="8915055" y="3019335"/>
              <a:ext cx="137880" cy="9720"/>
            </p14:xfrm>
          </p:contentPart>
        </mc:Choice>
        <mc:Fallback xmlns="">
          <p:pic>
            <p:nvPicPr>
              <p:cNvPr id="19" name="Ink 18">
                <a:extLst>
                  <a:ext uri="{FF2B5EF4-FFF2-40B4-BE49-F238E27FC236}">
                    <a16:creationId xmlns:a16="http://schemas.microsoft.com/office/drawing/2014/main" id="{B7DF1F85-8705-BF7C-E615-B56E4785AA3A}"/>
                  </a:ext>
                </a:extLst>
              </p:cNvPr>
              <p:cNvPicPr/>
              <p:nvPr/>
            </p:nvPicPr>
            <p:blipFill>
              <a:blip r:embed="rId12"/>
              <a:stretch>
                <a:fillRect/>
              </a:stretch>
            </p:blipFill>
            <p:spPr>
              <a:xfrm>
                <a:off x="8861415" y="2911335"/>
                <a:ext cx="24552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0" name="Ink 19">
                <a:extLst>
                  <a:ext uri="{FF2B5EF4-FFF2-40B4-BE49-F238E27FC236}">
                    <a16:creationId xmlns:a16="http://schemas.microsoft.com/office/drawing/2014/main" id="{D60596D8-F0A2-18F8-D0E9-34D9214EC691}"/>
                  </a:ext>
                </a:extLst>
              </p14:cNvPr>
              <p14:cNvContentPartPr/>
              <p14:nvPr/>
            </p14:nvContentPartPr>
            <p14:xfrm>
              <a:off x="8924055" y="2904495"/>
              <a:ext cx="96120" cy="203760"/>
            </p14:xfrm>
          </p:contentPart>
        </mc:Choice>
        <mc:Fallback xmlns="">
          <p:pic>
            <p:nvPicPr>
              <p:cNvPr id="20" name="Ink 19">
                <a:extLst>
                  <a:ext uri="{FF2B5EF4-FFF2-40B4-BE49-F238E27FC236}">
                    <a16:creationId xmlns:a16="http://schemas.microsoft.com/office/drawing/2014/main" id="{D60596D8-F0A2-18F8-D0E9-34D9214EC691}"/>
                  </a:ext>
                </a:extLst>
              </p:cNvPr>
              <p:cNvPicPr/>
              <p:nvPr/>
            </p:nvPicPr>
            <p:blipFill>
              <a:blip r:embed="rId14"/>
              <a:stretch>
                <a:fillRect/>
              </a:stretch>
            </p:blipFill>
            <p:spPr>
              <a:xfrm>
                <a:off x="8870415" y="2796855"/>
                <a:ext cx="203760" cy="419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1" name="Ink 20">
                <a:extLst>
                  <a:ext uri="{FF2B5EF4-FFF2-40B4-BE49-F238E27FC236}">
                    <a16:creationId xmlns:a16="http://schemas.microsoft.com/office/drawing/2014/main" id="{939D350B-1DA8-3418-034B-9F0842AAF70B}"/>
                  </a:ext>
                </a:extLst>
              </p14:cNvPr>
              <p14:cNvContentPartPr/>
              <p14:nvPr/>
            </p14:nvContentPartPr>
            <p14:xfrm>
              <a:off x="9067335" y="2074335"/>
              <a:ext cx="388440" cy="954720"/>
            </p14:xfrm>
          </p:contentPart>
        </mc:Choice>
        <mc:Fallback xmlns="">
          <p:pic>
            <p:nvPicPr>
              <p:cNvPr id="21" name="Ink 20">
                <a:extLst>
                  <a:ext uri="{FF2B5EF4-FFF2-40B4-BE49-F238E27FC236}">
                    <a16:creationId xmlns:a16="http://schemas.microsoft.com/office/drawing/2014/main" id="{939D350B-1DA8-3418-034B-9F0842AAF70B}"/>
                  </a:ext>
                </a:extLst>
              </p:cNvPr>
              <p:cNvPicPr/>
              <p:nvPr/>
            </p:nvPicPr>
            <p:blipFill>
              <a:blip r:embed="rId16"/>
              <a:stretch>
                <a:fillRect/>
              </a:stretch>
            </p:blipFill>
            <p:spPr>
              <a:xfrm>
                <a:off x="9013335" y="1966335"/>
                <a:ext cx="496080" cy="11703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2" name="Ink 21">
                <a:extLst>
                  <a:ext uri="{FF2B5EF4-FFF2-40B4-BE49-F238E27FC236}">
                    <a16:creationId xmlns:a16="http://schemas.microsoft.com/office/drawing/2014/main" id="{47ECD0FF-EE98-5092-549F-54D1D792B46B}"/>
                  </a:ext>
                </a:extLst>
              </p14:cNvPr>
              <p14:cNvContentPartPr/>
              <p14:nvPr/>
            </p14:nvContentPartPr>
            <p14:xfrm>
              <a:off x="8900295" y="2045535"/>
              <a:ext cx="704880" cy="90360"/>
            </p14:xfrm>
          </p:contentPart>
        </mc:Choice>
        <mc:Fallback xmlns="">
          <p:pic>
            <p:nvPicPr>
              <p:cNvPr id="22" name="Ink 21">
                <a:extLst>
                  <a:ext uri="{FF2B5EF4-FFF2-40B4-BE49-F238E27FC236}">
                    <a16:creationId xmlns:a16="http://schemas.microsoft.com/office/drawing/2014/main" id="{47ECD0FF-EE98-5092-549F-54D1D792B46B}"/>
                  </a:ext>
                </a:extLst>
              </p:cNvPr>
              <p:cNvPicPr/>
              <p:nvPr/>
            </p:nvPicPr>
            <p:blipFill>
              <a:blip r:embed="rId18"/>
              <a:stretch>
                <a:fillRect/>
              </a:stretch>
            </p:blipFill>
            <p:spPr>
              <a:xfrm>
                <a:off x="8846295" y="1937535"/>
                <a:ext cx="81252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3" name="Ink 22">
                <a:extLst>
                  <a:ext uri="{FF2B5EF4-FFF2-40B4-BE49-F238E27FC236}">
                    <a16:creationId xmlns:a16="http://schemas.microsoft.com/office/drawing/2014/main" id="{BE256EB9-2DC7-67A4-0A03-12888828C5E4}"/>
                  </a:ext>
                </a:extLst>
              </p14:cNvPr>
              <p14:cNvContentPartPr/>
              <p14:nvPr/>
            </p14:nvContentPartPr>
            <p14:xfrm>
              <a:off x="9337335" y="2133375"/>
              <a:ext cx="293040" cy="59760"/>
            </p14:xfrm>
          </p:contentPart>
        </mc:Choice>
        <mc:Fallback xmlns="">
          <p:pic>
            <p:nvPicPr>
              <p:cNvPr id="23" name="Ink 22">
                <a:extLst>
                  <a:ext uri="{FF2B5EF4-FFF2-40B4-BE49-F238E27FC236}">
                    <a16:creationId xmlns:a16="http://schemas.microsoft.com/office/drawing/2014/main" id="{BE256EB9-2DC7-67A4-0A03-12888828C5E4}"/>
                  </a:ext>
                </a:extLst>
              </p:cNvPr>
              <p:cNvPicPr/>
              <p:nvPr/>
            </p:nvPicPr>
            <p:blipFill>
              <a:blip r:embed="rId20"/>
              <a:stretch>
                <a:fillRect/>
              </a:stretch>
            </p:blipFill>
            <p:spPr>
              <a:xfrm>
                <a:off x="9283335" y="2025375"/>
                <a:ext cx="40068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4" name="Ink 23">
                <a:extLst>
                  <a:ext uri="{FF2B5EF4-FFF2-40B4-BE49-F238E27FC236}">
                    <a16:creationId xmlns:a16="http://schemas.microsoft.com/office/drawing/2014/main" id="{1E9EACD1-3F44-7606-2CB9-8E3DBC29A1B7}"/>
                  </a:ext>
                </a:extLst>
              </p14:cNvPr>
              <p14:cNvContentPartPr/>
              <p14:nvPr/>
            </p14:nvContentPartPr>
            <p14:xfrm>
              <a:off x="9286935" y="2200335"/>
              <a:ext cx="360" cy="360"/>
            </p14:xfrm>
          </p:contentPart>
        </mc:Choice>
        <mc:Fallback xmlns="">
          <p:pic>
            <p:nvPicPr>
              <p:cNvPr id="24" name="Ink 23">
                <a:extLst>
                  <a:ext uri="{FF2B5EF4-FFF2-40B4-BE49-F238E27FC236}">
                    <a16:creationId xmlns:a16="http://schemas.microsoft.com/office/drawing/2014/main" id="{1E9EACD1-3F44-7606-2CB9-8E3DBC29A1B7}"/>
                  </a:ext>
                </a:extLst>
              </p:cNvPr>
              <p:cNvPicPr/>
              <p:nvPr/>
            </p:nvPicPr>
            <p:blipFill>
              <a:blip r:embed="rId22"/>
              <a:stretch>
                <a:fillRect/>
              </a:stretch>
            </p:blipFill>
            <p:spPr>
              <a:xfrm>
                <a:off x="9232935" y="2092335"/>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5" name="Ink 24">
                <a:extLst>
                  <a:ext uri="{FF2B5EF4-FFF2-40B4-BE49-F238E27FC236}">
                    <a16:creationId xmlns:a16="http://schemas.microsoft.com/office/drawing/2014/main" id="{58A1301D-8A0A-A1B3-2445-B6FFE008BC1D}"/>
                  </a:ext>
                </a:extLst>
              </p14:cNvPr>
              <p14:cNvContentPartPr/>
              <p14:nvPr/>
            </p14:nvContentPartPr>
            <p14:xfrm>
              <a:off x="1790655" y="2256495"/>
              <a:ext cx="1296360" cy="10800"/>
            </p14:xfrm>
          </p:contentPart>
        </mc:Choice>
        <mc:Fallback xmlns="">
          <p:pic>
            <p:nvPicPr>
              <p:cNvPr id="25" name="Ink 24">
                <a:extLst>
                  <a:ext uri="{FF2B5EF4-FFF2-40B4-BE49-F238E27FC236}">
                    <a16:creationId xmlns:a16="http://schemas.microsoft.com/office/drawing/2014/main" id="{58A1301D-8A0A-A1B3-2445-B6FFE008BC1D}"/>
                  </a:ext>
                </a:extLst>
              </p:cNvPr>
              <p:cNvPicPr/>
              <p:nvPr/>
            </p:nvPicPr>
            <p:blipFill>
              <a:blip r:embed="rId24"/>
              <a:stretch>
                <a:fillRect/>
              </a:stretch>
            </p:blipFill>
            <p:spPr>
              <a:xfrm>
                <a:off x="1737015" y="2148855"/>
                <a:ext cx="140400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6" name="Ink 25">
                <a:extLst>
                  <a:ext uri="{FF2B5EF4-FFF2-40B4-BE49-F238E27FC236}">
                    <a16:creationId xmlns:a16="http://schemas.microsoft.com/office/drawing/2014/main" id="{7D4E78D5-CC22-D09D-4398-079AFFDF705F}"/>
                  </a:ext>
                </a:extLst>
              </p14:cNvPr>
              <p14:cNvContentPartPr/>
              <p14:nvPr/>
            </p14:nvContentPartPr>
            <p14:xfrm>
              <a:off x="2892975" y="2228775"/>
              <a:ext cx="69480" cy="236520"/>
            </p14:xfrm>
          </p:contentPart>
        </mc:Choice>
        <mc:Fallback xmlns="">
          <p:pic>
            <p:nvPicPr>
              <p:cNvPr id="26" name="Ink 25">
                <a:extLst>
                  <a:ext uri="{FF2B5EF4-FFF2-40B4-BE49-F238E27FC236}">
                    <a16:creationId xmlns:a16="http://schemas.microsoft.com/office/drawing/2014/main" id="{7D4E78D5-CC22-D09D-4398-079AFFDF705F}"/>
                  </a:ext>
                </a:extLst>
              </p:cNvPr>
              <p:cNvPicPr/>
              <p:nvPr/>
            </p:nvPicPr>
            <p:blipFill>
              <a:blip r:embed="rId26"/>
              <a:stretch>
                <a:fillRect/>
              </a:stretch>
            </p:blipFill>
            <p:spPr>
              <a:xfrm>
                <a:off x="2839335" y="2120775"/>
                <a:ext cx="177120" cy="4521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7" name="Ink 26">
                <a:extLst>
                  <a:ext uri="{FF2B5EF4-FFF2-40B4-BE49-F238E27FC236}">
                    <a16:creationId xmlns:a16="http://schemas.microsoft.com/office/drawing/2014/main" id="{87F35AD3-F329-C6FC-A79E-A471D3AB66E9}"/>
                  </a:ext>
                </a:extLst>
              </p14:cNvPr>
              <p14:cNvContentPartPr/>
              <p14:nvPr/>
            </p14:nvContentPartPr>
            <p14:xfrm>
              <a:off x="8915055" y="3057495"/>
              <a:ext cx="360" cy="360"/>
            </p14:xfrm>
          </p:contentPart>
        </mc:Choice>
        <mc:Fallback xmlns="">
          <p:pic>
            <p:nvPicPr>
              <p:cNvPr id="27" name="Ink 26">
                <a:extLst>
                  <a:ext uri="{FF2B5EF4-FFF2-40B4-BE49-F238E27FC236}">
                    <a16:creationId xmlns:a16="http://schemas.microsoft.com/office/drawing/2014/main" id="{87F35AD3-F329-C6FC-A79E-A471D3AB66E9}"/>
                  </a:ext>
                </a:extLst>
              </p:cNvPr>
              <p:cNvPicPr/>
              <p:nvPr/>
            </p:nvPicPr>
            <p:blipFill>
              <a:blip r:embed="rId22"/>
              <a:stretch>
                <a:fillRect/>
              </a:stretch>
            </p:blipFill>
            <p:spPr>
              <a:xfrm>
                <a:off x="8861415" y="2949855"/>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8" name="Ink 27">
                <a:extLst>
                  <a:ext uri="{FF2B5EF4-FFF2-40B4-BE49-F238E27FC236}">
                    <a16:creationId xmlns:a16="http://schemas.microsoft.com/office/drawing/2014/main" id="{5842787D-A332-0821-9DCB-1DABFA6E880C}"/>
                  </a:ext>
                </a:extLst>
              </p14:cNvPr>
              <p14:cNvContentPartPr/>
              <p14:nvPr/>
            </p14:nvContentPartPr>
            <p14:xfrm>
              <a:off x="8915055" y="3057495"/>
              <a:ext cx="360" cy="360"/>
            </p14:xfrm>
          </p:contentPart>
        </mc:Choice>
        <mc:Fallback xmlns="">
          <p:pic>
            <p:nvPicPr>
              <p:cNvPr id="28" name="Ink 27">
                <a:extLst>
                  <a:ext uri="{FF2B5EF4-FFF2-40B4-BE49-F238E27FC236}">
                    <a16:creationId xmlns:a16="http://schemas.microsoft.com/office/drawing/2014/main" id="{5842787D-A332-0821-9DCB-1DABFA6E880C}"/>
                  </a:ext>
                </a:extLst>
              </p:cNvPr>
              <p:cNvPicPr/>
              <p:nvPr/>
            </p:nvPicPr>
            <p:blipFill>
              <a:blip r:embed="rId22"/>
              <a:stretch>
                <a:fillRect/>
              </a:stretch>
            </p:blipFill>
            <p:spPr>
              <a:xfrm>
                <a:off x="8861415" y="2949855"/>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9" name="Ink 28">
                <a:extLst>
                  <a:ext uri="{FF2B5EF4-FFF2-40B4-BE49-F238E27FC236}">
                    <a16:creationId xmlns:a16="http://schemas.microsoft.com/office/drawing/2014/main" id="{FBC5BD32-77FE-C791-D23E-C6FE7810FC3B}"/>
                  </a:ext>
                </a:extLst>
              </p14:cNvPr>
              <p14:cNvContentPartPr/>
              <p14:nvPr/>
            </p14:nvContentPartPr>
            <p14:xfrm>
              <a:off x="8915055" y="3048495"/>
              <a:ext cx="29880" cy="9360"/>
            </p14:xfrm>
          </p:contentPart>
        </mc:Choice>
        <mc:Fallback xmlns="">
          <p:pic>
            <p:nvPicPr>
              <p:cNvPr id="29" name="Ink 28">
                <a:extLst>
                  <a:ext uri="{FF2B5EF4-FFF2-40B4-BE49-F238E27FC236}">
                    <a16:creationId xmlns:a16="http://schemas.microsoft.com/office/drawing/2014/main" id="{FBC5BD32-77FE-C791-D23E-C6FE7810FC3B}"/>
                  </a:ext>
                </a:extLst>
              </p:cNvPr>
              <p:cNvPicPr/>
              <p:nvPr/>
            </p:nvPicPr>
            <p:blipFill>
              <a:blip r:embed="rId30"/>
              <a:stretch>
                <a:fillRect/>
              </a:stretch>
            </p:blipFill>
            <p:spPr>
              <a:xfrm>
                <a:off x="8861415" y="2940855"/>
                <a:ext cx="13752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0" name="Ink 29">
                <a:extLst>
                  <a:ext uri="{FF2B5EF4-FFF2-40B4-BE49-F238E27FC236}">
                    <a16:creationId xmlns:a16="http://schemas.microsoft.com/office/drawing/2014/main" id="{CA8A9065-B2CB-9C08-8401-5D2E8C5602BB}"/>
                  </a:ext>
                </a:extLst>
              </p14:cNvPr>
              <p14:cNvContentPartPr/>
              <p14:nvPr/>
            </p14:nvContentPartPr>
            <p14:xfrm>
              <a:off x="8962935" y="3047775"/>
              <a:ext cx="360" cy="360"/>
            </p14:xfrm>
          </p:contentPart>
        </mc:Choice>
        <mc:Fallback xmlns="">
          <p:pic>
            <p:nvPicPr>
              <p:cNvPr id="30" name="Ink 29">
                <a:extLst>
                  <a:ext uri="{FF2B5EF4-FFF2-40B4-BE49-F238E27FC236}">
                    <a16:creationId xmlns:a16="http://schemas.microsoft.com/office/drawing/2014/main" id="{CA8A9065-B2CB-9C08-8401-5D2E8C5602BB}"/>
                  </a:ext>
                </a:extLst>
              </p:cNvPr>
              <p:cNvPicPr/>
              <p:nvPr/>
            </p:nvPicPr>
            <p:blipFill>
              <a:blip r:embed="rId22"/>
              <a:stretch>
                <a:fillRect/>
              </a:stretch>
            </p:blipFill>
            <p:spPr>
              <a:xfrm>
                <a:off x="8908935" y="2939775"/>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1" name="Ink 30">
                <a:extLst>
                  <a:ext uri="{FF2B5EF4-FFF2-40B4-BE49-F238E27FC236}">
                    <a16:creationId xmlns:a16="http://schemas.microsoft.com/office/drawing/2014/main" id="{210C35D4-4C97-B66B-9086-DED3B65AD698}"/>
                  </a:ext>
                </a:extLst>
              </p14:cNvPr>
              <p14:cNvContentPartPr/>
              <p14:nvPr/>
            </p14:nvContentPartPr>
            <p14:xfrm>
              <a:off x="8962935" y="3047775"/>
              <a:ext cx="360" cy="360"/>
            </p14:xfrm>
          </p:contentPart>
        </mc:Choice>
        <mc:Fallback xmlns="">
          <p:pic>
            <p:nvPicPr>
              <p:cNvPr id="31" name="Ink 30">
                <a:extLst>
                  <a:ext uri="{FF2B5EF4-FFF2-40B4-BE49-F238E27FC236}">
                    <a16:creationId xmlns:a16="http://schemas.microsoft.com/office/drawing/2014/main" id="{210C35D4-4C97-B66B-9086-DED3B65AD698}"/>
                  </a:ext>
                </a:extLst>
              </p:cNvPr>
              <p:cNvPicPr/>
              <p:nvPr/>
            </p:nvPicPr>
            <p:blipFill>
              <a:blip r:embed="rId22"/>
              <a:stretch>
                <a:fillRect/>
              </a:stretch>
            </p:blipFill>
            <p:spPr>
              <a:xfrm>
                <a:off x="8908935" y="2939775"/>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2" name="Ink 31">
                <a:extLst>
                  <a:ext uri="{FF2B5EF4-FFF2-40B4-BE49-F238E27FC236}">
                    <a16:creationId xmlns:a16="http://schemas.microsoft.com/office/drawing/2014/main" id="{25429E08-534F-4918-E1FA-5BE29CCD6E99}"/>
                  </a:ext>
                </a:extLst>
              </p14:cNvPr>
              <p14:cNvContentPartPr/>
              <p14:nvPr/>
            </p14:nvContentPartPr>
            <p14:xfrm>
              <a:off x="8962935" y="3047775"/>
              <a:ext cx="3960" cy="360"/>
            </p14:xfrm>
          </p:contentPart>
        </mc:Choice>
        <mc:Fallback xmlns="">
          <p:pic>
            <p:nvPicPr>
              <p:cNvPr id="32" name="Ink 31">
                <a:extLst>
                  <a:ext uri="{FF2B5EF4-FFF2-40B4-BE49-F238E27FC236}">
                    <a16:creationId xmlns:a16="http://schemas.microsoft.com/office/drawing/2014/main" id="{25429E08-534F-4918-E1FA-5BE29CCD6E99}"/>
                  </a:ext>
                </a:extLst>
              </p:cNvPr>
              <p:cNvPicPr/>
              <p:nvPr/>
            </p:nvPicPr>
            <p:blipFill>
              <a:blip r:embed="rId22"/>
              <a:stretch>
                <a:fillRect/>
              </a:stretch>
            </p:blipFill>
            <p:spPr>
              <a:xfrm>
                <a:off x="8908935" y="2939775"/>
                <a:ext cx="1116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3" name="Ink 32">
                <a:extLst>
                  <a:ext uri="{FF2B5EF4-FFF2-40B4-BE49-F238E27FC236}">
                    <a16:creationId xmlns:a16="http://schemas.microsoft.com/office/drawing/2014/main" id="{E9E2D5D6-22CB-515A-D484-61A581D98917}"/>
                  </a:ext>
                </a:extLst>
              </p14:cNvPr>
              <p14:cNvContentPartPr/>
              <p14:nvPr/>
            </p14:nvContentPartPr>
            <p14:xfrm>
              <a:off x="8964735" y="3047775"/>
              <a:ext cx="7920" cy="360"/>
            </p14:xfrm>
          </p:contentPart>
        </mc:Choice>
        <mc:Fallback xmlns="">
          <p:pic>
            <p:nvPicPr>
              <p:cNvPr id="33" name="Ink 32">
                <a:extLst>
                  <a:ext uri="{FF2B5EF4-FFF2-40B4-BE49-F238E27FC236}">
                    <a16:creationId xmlns:a16="http://schemas.microsoft.com/office/drawing/2014/main" id="{E9E2D5D6-22CB-515A-D484-61A581D98917}"/>
                  </a:ext>
                </a:extLst>
              </p:cNvPr>
              <p:cNvPicPr/>
              <p:nvPr/>
            </p:nvPicPr>
            <p:blipFill>
              <a:blip r:embed="rId35"/>
              <a:stretch>
                <a:fillRect/>
              </a:stretch>
            </p:blipFill>
            <p:spPr>
              <a:xfrm>
                <a:off x="8911095" y="2939775"/>
                <a:ext cx="1155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4" name="Ink 33">
                <a:extLst>
                  <a:ext uri="{FF2B5EF4-FFF2-40B4-BE49-F238E27FC236}">
                    <a16:creationId xmlns:a16="http://schemas.microsoft.com/office/drawing/2014/main" id="{5F01E61C-0108-0A45-7B67-0E9AB5F124C3}"/>
                  </a:ext>
                </a:extLst>
              </p14:cNvPr>
              <p14:cNvContentPartPr/>
              <p14:nvPr/>
            </p14:nvContentPartPr>
            <p14:xfrm>
              <a:off x="8920815" y="3047775"/>
              <a:ext cx="3960" cy="360"/>
            </p14:xfrm>
          </p:contentPart>
        </mc:Choice>
        <mc:Fallback xmlns="">
          <p:pic>
            <p:nvPicPr>
              <p:cNvPr id="34" name="Ink 33">
                <a:extLst>
                  <a:ext uri="{FF2B5EF4-FFF2-40B4-BE49-F238E27FC236}">
                    <a16:creationId xmlns:a16="http://schemas.microsoft.com/office/drawing/2014/main" id="{5F01E61C-0108-0A45-7B67-0E9AB5F124C3}"/>
                  </a:ext>
                </a:extLst>
              </p:cNvPr>
              <p:cNvPicPr/>
              <p:nvPr/>
            </p:nvPicPr>
            <p:blipFill>
              <a:blip r:embed="rId22"/>
              <a:stretch>
                <a:fillRect/>
              </a:stretch>
            </p:blipFill>
            <p:spPr>
              <a:xfrm>
                <a:off x="8867175" y="2939775"/>
                <a:ext cx="1116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5" name="Ink 34">
                <a:extLst>
                  <a:ext uri="{FF2B5EF4-FFF2-40B4-BE49-F238E27FC236}">
                    <a16:creationId xmlns:a16="http://schemas.microsoft.com/office/drawing/2014/main" id="{16029657-79B4-3522-A8E9-1D1148CCEA62}"/>
                  </a:ext>
                </a:extLst>
              </p14:cNvPr>
              <p14:cNvContentPartPr/>
              <p14:nvPr/>
            </p14:nvContentPartPr>
            <p14:xfrm>
              <a:off x="8915055" y="3047775"/>
              <a:ext cx="360" cy="360"/>
            </p14:xfrm>
          </p:contentPart>
        </mc:Choice>
        <mc:Fallback xmlns="">
          <p:pic>
            <p:nvPicPr>
              <p:cNvPr id="35" name="Ink 34">
                <a:extLst>
                  <a:ext uri="{FF2B5EF4-FFF2-40B4-BE49-F238E27FC236}">
                    <a16:creationId xmlns:a16="http://schemas.microsoft.com/office/drawing/2014/main" id="{16029657-79B4-3522-A8E9-1D1148CCEA62}"/>
                  </a:ext>
                </a:extLst>
              </p:cNvPr>
              <p:cNvPicPr/>
              <p:nvPr/>
            </p:nvPicPr>
            <p:blipFill>
              <a:blip r:embed="rId22"/>
              <a:stretch>
                <a:fillRect/>
              </a:stretch>
            </p:blipFill>
            <p:spPr>
              <a:xfrm>
                <a:off x="8861415" y="2939775"/>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6" name="Ink 35">
                <a:extLst>
                  <a:ext uri="{FF2B5EF4-FFF2-40B4-BE49-F238E27FC236}">
                    <a16:creationId xmlns:a16="http://schemas.microsoft.com/office/drawing/2014/main" id="{87AA3097-55D0-D9C1-8483-ADF2D15273F1}"/>
                  </a:ext>
                </a:extLst>
              </p14:cNvPr>
              <p14:cNvContentPartPr/>
              <p14:nvPr/>
            </p14:nvContentPartPr>
            <p14:xfrm>
              <a:off x="8791215" y="4294455"/>
              <a:ext cx="222840" cy="940680"/>
            </p14:xfrm>
          </p:contentPart>
        </mc:Choice>
        <mc:Fallback xmlns="">
          <p:pic>
            <p:nvPicPr>
              <p:cNvPr id="36" name="Ink 35">
                <a:extLst>
                  <a:ext uri="{FF2B5EF4-FFF2-40B4-BE49-F238E27FC236}">
                    <a16:creationId xmlns:a16="http://schemas.microsoft.com/office/drawing/2014/main" id="{87AA3097-55D0-D9C1-8483-ADF2D15273F1}"/>
                  </a:ext>
                </a:extLst>
              </p:cNvPr>
              <p:cNvPicPr/>
              <p:nvPr/>
            </p:nvPicPr>
            <p:blipFill>
              <a:blip r:embed="rId39"/>
              <a:stretch>
                <a:fillRect/>
              </a:stretch>
            </p:blipFill>
            <p:spPr>
              <a:xfrm>
                <a:off x="8737575" y="4186455"/>
                <a:ext cx="330480" cy="11563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7" name="Ink 36">
                <a:extLst>
                  <a:ext uri="{FF2B5EF4-FFF2-40B4-BE49-F238E27FC236}">
                    <a16:creationId xmlns:a16="http://schemas.microsoft.com/office/drawing/2014/main" id="{95ED505F-2F41-5495-9D32-9723F5FC1D48}"/>
                  </a:ext>
                </a:extLst>
              </p14:cNvPr>
              <p14:cNvContentPartPr/>
              <p14:nvPr/>
            </p14:nvContentPartPr>
            <p14:xfrm>
              <a:off x="8910375" y="2828895"/>
              <a:ext cx="62280" cy="257400"/>
            </p14:xfrm>
          </p:contentPart>
        </mc:Choice>
        <mc:Fallback xmlns="">
          <p:pic>
            <p:nvPicPr>
              <p:cNvPr id="37" name="Ink 36">
                <a:extLst>
                  <a:ext uri="{FF2B5EF4-FFF2-40B4-BE49-F238E27FC236}">
                    <a16:creationId xmlns:a16="http://schemas.microsoft.com/office/drawing/2014/main" id="{95ED505F-2F41-5495-9D32-9723F5FC1D48}"/>
                  </a:ext>
                </a:extLst>
              </p:cNvPr>
              <p:cNvPicPr/>
              <p:nvPr/>
            </p:nvPicPr>
            <p:blipFill>
              <a:blip r:embed="rId41"/>
              <a:stretch>
                <a:fillRect/>
              </a:stretch>
            </p:blipFill>
            <p:spPr>
              <a:xfrm>
                <a:off x="8847375" y="2766255"/>
                <a:ext cx="18792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8" name="Ink 37">
                <a:extLst>
                  <a:ext uri="{FF2B5EF4-FFF2-40B4-BE49-F238E27FC236}">
                    <a16:creationId xmlns:a16="http://schemas.microsoft.com/office/drawing/2014/main" id="{D720D2E4-37D2-C428-30FA-EC0AB8A7939D}"/>
                  </a:ext>
                </a:extLst>
              </p14:cNvPr>
              <p14:cNvContentPartPr/>
              <p14:nvPr/>
            </p14:nvContentPartPr>
            <p14:xfrm>
              <a:off x="8896335" y="4076295"/>
              <a:ext cx="69480" cy="279360"/>
            </p14:xfrm>
          </p:contentPart>
        </mc:Choice>
        <mc:Fallback xmlns="">
          <p:pic>
            <p:nvPicPr>
              <p:cNvPr id="38" name="Ink 37">
                <a:extLst>
                  <a:ext uri="{FF2B5EF4-FFF2-40B4-BE49-F238E27FC236}">
                    <a16:creationId xmlns:a16="http://schemas.microsoft.com/office/drawing/2014/main" id="{D720D2E4-37D2-C428-30FA-EC0AB8A7939D}"/>
                  </a:ext>
                </a:extLst>
              </p:cNvPr>
              <p:cNvPicPr/>
              <p:nvPr/>
            </p:nvPicPr>
            <p:blipFill>
              <a:blip r:embed="rId43"/>
              <a:stretch>
                <a:fillRect/>
              </a:stretch>
            </p:blipFill>
            <p:spPr>
              <a:xfrm>
                <a:off x="8833335" y="4013655"/>
                <a:ext cx="195120" cy="405000"/>
              </a:xfrm>
              <a:prstGeom prst="rect">
                <a:avLst/>
              </a:prstGeom>
            </p:spPr>
          </p:pic>
        </mc:Fallback>
      </mc:AlternateContent>
    </p:spTree>
    <p:extLst>
      <p:ext uri="{BB962C8B-B14F-4D97-AF65-F5344CB8AC3E}">
        <p14:creationId xmlns:p14="http://schemas.microsoft.com/office/powerpoint/2010/main" val="42920499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05470" y="770552"/>
            <a:ext cx="10017456" cy="5324535"/>
          </a:xfrm>
          <a:prstGeom prst="rect">
            <a:avLst/>
          </a:prstGeom>
        </p:spPr>
        <p:txBody>
          <a:bodyPr wrap="square">
            <a:spAutoFit/>
          </a:bodyPr>
          <a:lstStyle/>
          <a:p>
            <a:pPr marL="457200" indent="-457200" algn="just">
              <a:buFont typeface="Arial" panose="020B0604020202020204" pitchFamily="34" charset="0"/>
              <a:buChar char="•"/>
            </a:pPr>
            <a:r>
              <a:rPr lang="en-US" sz="2000" dirty="0">
                <a:highlight>
                  <a:srgbClr val="FFFF00"/>
                </a:highlight>
                <a:latin typeface="TimesTenLTStd-Roman"/>
              </a:rPr>
              <a:t>When the input clock in the positive-edge-triggered flip-flop makes a positive transition, the value of </a:t>
            </a:r>
            <a:r>
              <a:rPr lang="en-US" sz="2000" i="1" dirty="0">
                <a:highlight>
                  <a:srgbClr val="FFFF00"/>
                </a:highlight>
                <a:latin typeface="TimesTenLTStd-Italic"/>
              </a:rPr>
              <a:t>D </a:t>
            </a:r>
            <a:r>
              <a:rPr lang="en-US" sz="2000" dirty="0">
                <a:highlight>
                  <a:srgbClr val="FFFF00"/>
                </a:highlight>
                <a:latin typeface="TimesTenLTStd-Roman"/>
              </a:rPr>
              <a:t>is transferred to </a:t>
            </a:r>
            <a:r>
              <a:rPr lang="en-US" sz="2000" i="1" dirty="0">
                <a:highlight>
                  <a:srgbClr val="FFFF00"/>
                </a:highlight>
                <a:latin typeface="TimesTenLTStd-Italic"/>
              </a:rPr>
              <a:t>Q </a:t>
            </a:r>
            <a:r>
              <a:rPr lang="en-US" sz="2000" dirty="0">
                <a:highlight>
                  <a:srgbClr val="FFFF00"/>
                </a:highlight>
                <a:latin typeface="TimesTenLTStd-Roman"/>
              </a:rPr>
              <a:t>. A negative transition of the clock (i.e., from 1 to 0) does not affect the output, nor is the output affected by changes in </a:t>
            </a:r>
            <a:r>
              <a:rPr lang="en-US" sz="2000" i="1" dirty="0">
                <a:highlight>
                  <a:srgbClr val="FFFF00"/>
                </a:highlight>
                <a:latin typeface="TimesTenLTStd-Italic"/>
              </a:rPr>
              <a:t>D </a:t>
            </a:r>
            <a:r>
              <a:rPr lang="en-US" sz="2000" dirty="0">
                <a:highlight>
                  <a:srgbClr val="FFFF00"/>
                </a:highlight>
                <a:latin typeface="TimesTenLTStd-Roman"/>
              </a:rPr>
              <a:t>when </a:t>
            </a:r>
            <a:r>
              <a:rPr lang="en-US" sz="2000" i="1" dirty="0">
                <a:highlight>
                  <a:srgbClr val="FFFF00"/>
                </a:highlight>
                <a:latin typeface="TimesTenLTStd-Italic"/>
              </a:rPr>
              <a:t>Clock </a:t>
            </a:r>
            <a:r>
              <a:rPr lang="en-US" sz="2000" dirty="0">
                <a:highlight>
                  <a:srgbClr val="FFFF00"/>
                </a:highlight>
                <a:latin typeface="TimesTenLTStd-Roman"/>
              </a:rPr>
              <a:t>is in the steady logic-1 level or the logic-0 level. Hence, this type of flip-flop responds to the transition from 0 to 1 and nothing else.</a:t>
            </a:r>
          </a:p>
          <a:p>
            <a:pPr marL="457200" indent="-457200" algn="just">
              <a:buFont typeface="Arial" panose="020B0604020202020204" pitchFamily="34" charset="0"/>
              <a:buChar char="•"/>
            </a:pPr>
            <a:r>
              <a:rPr lang="en-US" sz="2000" dirty="0">
                <a:latin typeface="TimesTenLTStd-Roman"/>
              </a:rPr>
              <a:t>There is a minimum time called the </a:t>
            </a:r>
            <a:r>
              <a:rPr lang="en-US" sz="2000" i="1" dirty="0">
                <a:latin typeface="TimesTenLTStd-Italic"/>
              </a:rPr>
              <a:t>setup time </a:t>
            </a:r>
            <a:r>
              <a:rPr lang="en-US" sz="2000" dirty="0">
                <a:latin typeface="TimesTenLTStd-Roman"/>
              </a:rPr>
              <a:t>during which the </a:t>
            </a:r>
            <a:r>
              <a:rPr lang="en-US" sz="2000" i="1" dirty="0">
                <a:latin typeface="TimesTenLTStd-Italic"/>
              </a:rPr>
              <a:t>D </a:t>
            </a:r>
            <a:r>
              <a:rPr lang="en-US" sz="2000" dirty="0">
                <a:latin typeface="TimesTenLTStd-Roman"/>
              </a:rPr>
              <a:t>input must be maintained at a constant value prior to the occurrence of the clock transition. It is equal to the propagation delay through the gates 4 and 1 since a  change in D causes a change in the outputs of these two gates  </a:t>
            </a:r>
          </a:p>
          <a:p>
            <a:pPr marL="457200" indent="-457200" algn="just">
              <a:buFont typeface="Arial" panose="020B0604020202020204" pitchFamily="34" charset="0"/>
              <a:buChar char="•"/>
            </a:pPr>
            <a:r>
              <a:rPr lang="en-US" sz="2000" dirty="0">
                <a:latin typeface="TimesTenLTStd-Roman"/>
              </a:rPr>
              <a:t>Similarly, there is a minimum time called the </a:t>
            </a:r>
            <a:r>
              <a:rPr lang="en-US" sz="2000" i="1" dirty="0">
                <a:latin typeface="TimesTenLTStd-Italic"/>
              </a:rPr>
              <a:t>hold time </a:t>
            </a:r>
            <a:r>
              <a:rPr lang="en-US" sz="2000" dirty="0">
                <a:latin typeface="TimesTenLTStd-Roman"/>
              </a:rPr>
              <a:t>during which the </a:t>
            </a:r>
            <a:r>
              <a:rPr lang="en-US" sz="2000" i="1" dirty="0">
                <a:latin typeface="TimesTenLTStd-Italic"/>
              </a:rPr>
              <a:t>D </a:t>
            </a:r>
            <a:r>
              <a:rPr lang="en-US" sz="2000" dirty="0">
                <a:latin typeface="TimesTenLTStd-Roman"/>
              </a:rPr>
              <a:t>input must not change after the application of the positive transition of the clock. When D=0, it is the propagation delay of gate 3, since it must be ensured that R becomes 0 in order to maintain the output of gate 4 at 1, regardless the value of D. When D=1, it is the propagation delay of gate 2, since it must be ensured that S becomes 0 in order to maintain the output of gate 1 at 1, regardless the value of D</a:t>
            </a:r>
          </a:p>
          <a:p>
            <a:pPr marL="457200" indent="-457200" algn="just">
              <a:buFont typeface="Arial" panose="020B0604020202020204" pitchFamily="34" charset="0"/>
              <a:buChar char="•"/>
            </a:pPr>
            <a:r>
              <a:rPr lang="en-US" sz="2000" dirty="0">
                <a:latin typeface="TimesTenLTStd-Roman"/>
              </a:rPr>
              <a:t>The propagation delay time of the flip-flop is defined as the interval between the trigger edge and the stabilization of the output to a new state</a:t>
            </a:r>
            <a:endParaRPr lang="en-US" sz="2000" dirty="0"/>
          </a:p>
        </p:txBody>
      </p:sp>
    </p:spTree>
    <p:extLst>
      <p:ext uri="{BB962C8B-B14F-4D97-AF65-F5344CB8AC3E}">
        <p14:creationId xmlns:p14="http://schemas.microsoft.com/office/powerpoint/2010/main" val="36872390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4E623A-A49B-6717-1466-5B3C5971D514}"/>
              </a:ext>
            </a:extLst>
          </p:cNvPr>
          <p:cNvPicPr>
            <a:picLocks noChangeAspect="1"/>
          </p:cNvPicPr>
          <p:nvPr/>
        </p:nvPicPr>
        <p:blipFill>
          <a:blip r:embed="rId2"/>
          <a:stretch>
            <a:fillRect/>
          </a:stretch>
        </p:blipFill>
        <p:spPr>
          <a:xfrm>
            <a:off x="404618" y="352521"/>
            <a:ext cx="11351953" cy="2660029"/>
          </a:xfrm>
          <a:prstGeom prst="rect">
            <a:avLst/>
          </a:prstGeom>
        </p:spPr>
      </p:pic>
      <p:pic>
        <p:nvPicPr>
          <p:cNvPr id="7" name="Picture 6">
            <a:extLst>
              <a:ext uri="{FF2B5EF4-FFF2-40B4-BE49-F238E27FC236}">
                <a16:creationId xmlns:a16="http://schemas.microsoft.com/office/drawing/2014/main" id="{C73F444F-EE54-4E4B-0AFA-711253135CF5}"/>
              </a:ext>
            </a:extLst>
          </p:cNvPr>
          <p:cNvPicPr>
            <a:picLocks noChangeAspect="1"/>
          </p:cNvPicPr>
          <p:nvPr/>
        </p:nvPicPr>
        <p:blipFill>
          <a:blip r:embed="rId3"/>
          <a:srcRect b="47609"/>
          <a:stretch>
            <a:fillRect/>
          </a:stretch>
        </p:blipFill>
        <p:spPr>
          <a:xfrm>
            <a:off x="404617" y="3331029"/>
            <a:ext cx="9326657" cy="2985795"/>
          </a:xfrm>
          <a:prstGeom prst="rect">
            <a:avLst/>
          </a:prstGeom>
        </p:spPr>
      </p:pic>
      <p:pic>
        <p:nvPicPr>
          <p:cNvPr id="8" name="Picture 7">
            <a:extLst>
              <a:ext uri="{FF2B5EF4-FFF2-40B4-BE49-F238E27FC236}">
                <a16:creationId xmlns:a16="http://schemas.microsoft.com/office/drawing/2014/main" id="{03992A38-5F77-865F-2A67-82D5E0A01F35}"/>
              </a:ext>
            </a:extLst>
          </p:cNvPr>
          <p:cNvPicPr>
            <a:picLocks noChangeAspect="1"/>
          </p:cNvPicPr>
          <p:nvPr/>
        </p:nvPicPr>
        <p:blipFill>
          <a:blip r:embed="rId3"/>
          <a:srcRect t="73179" r="59380"/>
          <a:stretch>
            <a:fillRect/>
          </a:stretch>
        </p:blipFill>
        <p:spPr>
          <a:xfrm>
            <a:off x="6892290" y="5269777"/>
            <a:ext cx="4640347" cy="1412959"/>
          </a:xfrm>
          <a:prstGeom prst="rect">
            <a:avLst/>
          </a:prstGeom>
        </p:spPr>
      </p:pic>
    </p:spTree>
    <p:extLst>
      <p:ext uri="{BB962C8B-B14F-4D97-AF65-F5344CB8AC3E}">
        <p14:creationId xmlns:p14="http://schemas.microsoft.com/office/powerpoint/2010/main" val="36260485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5F539D-1C95-EDD1-BD94-119F385E3B4B}"/>
              </a:ext>
            </a:extLst>
          </p:cNvPr>
          <p:cNvPicPr>
            <a:picLocks noChangeAspect="1"/>
          </p:cNvPicPr>
          <p:nvPr/>
        </p:nvPicPr>
        <p:blipFill>
          <a:blip r:embed="rId2"/>
          <a:stretch>
            <a:fillRect/>
          </a:stretch>
        </p:blipFill>
        <p:spPr>
          <a:xfrm>
            <a:off x="1547177" y="828312"/>
            <a:ext cx="9097645" cy="5201376"/>
          </a:xfrm>
          <a:prstGeom prst="rect">
            <a:avLst/>
          </a:prstGeom>
        </p:spPr>
      </p:pic>
    </p:spTree>
    <p:extLst>
      <p:ext uri="{BB962C8B-B14F-4D97-AF65-F5344CB8AC3E}">
        <p14:creationId xmlns:p14="http://schemas.microsoft.com/office/powerpoint/2010/main" val="21597453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187B8A-0A3B-B012-972A-EA4B768FB09F}"/>
              </a:ext>
            </a:extLst>
          </p:cNvPr>
          <p:cNvSpPr>
            <a:spLocks noGrp="1"/>
          </p:cNvSpPr>
          <p:nvPr>
            <p:ph idx="1"/>
          </p:nvPr>
        </p:nvSpPr>
        <p:spPr>
          <a:xfrm>
            <a:off x="563880" y="430371"/>
            <a:ext cx="10515600" cy="3095149"/>
          </a:xfrm>
        </p:spPr>
        <p:txBody>
          <a:bodyPr/>
          <a:lstStyle/>
          <a:p>
            <a:r>
              <a:rPr lang="en-US" dirty="0"/>
              <a:t>In sum, when the input clock in the positive-edge-triggered flip-flop makes a positive transition, the value of </a:t>
            </a:r>
            <a:r>
              <a:rPr lang="en-US" i="1" dirty="0"/>
              <a:t>D </a:t>
            </a:r>
            <a:r>
              <a:rPr lang="en-US" dirty="0"/>
              <a:t>is transferred to </a:t>
            </a:r>
            <a:r>
              <a:rPr lang="en-US" i="1" dirty="0"/>
              <a:t>Q </a:t>
            </a:r>
            <a:r>
              <a:rPr lang="en-US" dirty="0"/>
              <a:t>. </a:t>
            </a:r>
          </a:p>
          <a:p>
            <a:r>
              <a:rPr lang="en-US" dirty="0">
                <a:highlight>
                  <a:srgbClr val="FFFF00"/>
                </a:highlight>
              </a:rPr>
              <a:t>A negative transition of the clock (i.e., from 1 to 0) does not affect the output, nor is the output affected by changes in </a:t>
            </a:r>
            <a:r>
              <a:rPr lang="en-US" i="1" dirty="0">
                <a:highlight>
                  <a:srgbClr val="FFFF00"/>
                </a:highlight>
              </a:rPr>
              <a:t>D </a:t>
            </a:r>
            <a:r>
              <a:rPr lang="en-US" dirty="0">
                <a:highlight>
                  <a:srgbClr val="FFFF00"/>
                </a:highlight>
              </a:rPr>
              <a:t>when </a:t>
            </a:r>
            <a:r>
              <a:rPr lang="en-US" i="1" dirty="0" err="1">
                <a:highlight>
                  <a:srgbClr val="FFFF00"/>
                </a:highlight>
              </a:rPr>
              <a:t>Clk</a:t>
            </a:r>
            <a:r>
              <a:rPr lang="en-US" i="1" dirty="0">
                <a:highlight>
                  <a:srgbClr val="FFFF00"/>
                </a:highlight>
              </a:rPr>
              <a:t> </a:t>
            </a:r>
            <a:r>
              <a:rPr lang="en-US" dirty="0">
                <a:highlight>
                  <a:srgbClr val="FFFF00"/>
                </a:highlight>
              </a:rPr>
              <a:t>is in the steady logic-1 level or the logic-0 level.</a:t>
            </a:r>
          </a:p>
          <a:p>
            <a:r>
              <a:rPr lang="en-US" dirty="0"/>
              <a:t> Hence, this type of flip-flop responds to the transition from 0 to 1 and nothing else.</a:t>
            </a:r>
          </a:p>
        </p:txBody>
      </p:sp>
      <p:pic>
        <p:nvPicPr>
          <p:cNvPr id="5" name="Picture 4">
            <a:extLst>
              <a:ext uri="{FF2B5EF4-FFF2-40B4-BE49-F238E27FC236}">
                <a16:creationId xmlns:a16="http://schemas.microsoft.com/office/drawing/2014/main" id="{3B271EE3-9E4B-7DAF-9905-93999F4D073F}"/>
              </a:ext>
            </a:extLst>
          </p:cNvPr>
          <p:cNvPicPr>
            <a:picLocks noChangeAspect="1"/>
          </p:cNvPicPr>
          <p:nvPr/>
        </p:nvPicPr>
        <p:blipFill>
          <a:blip r:embed="rId2"/>
          <a:stretch>
            <a:fillRect/>
          </a:stretch>
        </p:blipFill>
        <p:spPr>
          <a:xfrm>
            <a:off x="1739648" y="3614550"/>
            <a:ext cx="8164064" cy="2676899"/>
          </a:xfrm>
          <a:prstGeom prst="rect">
            <a:avLst/>
          </a:prstGeom>
        </p:spPr>
      </p:pic>
    </p:spTree>
    <p:extLst>
      <p:ext uri="{BB962C8B-B14F-4D97-AF65-F5344CB8AC3E}">
        <p14:creationId xmlns:p14="http://schemas.microsoft.com/office/powerpoint/2010/main" val="41354853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456455"/>
            <a:ext cx="10973212" cy="307777"/>
          </a:xfrm>
        </p:spPr>
        <p:txBody>
          <a:bodyPr>
            <a:normAutofit fontScale="90000"/>
          </a:bodyPr>
          <a:lstStyle/>
          <a:p>
            <a:r>
              <a:rPr lang="en-IN" sz="2000" dirty="0">
                <a:latin typeface="Times New Roman" panose="02020603050405020304" pitchFamily="18" charset="0"/>
                <a:cs typeface="Times New Roman" panose="02020603050405020304" pitchFamily="18" charset="0"/>
              </a:rPr>
              <a:t>D Flip Flop</a:t>
            </a:r>
          </a:p>
        </p:txBody>
      </p:sp>
      <p:graphicFrame>
        <p:nvGraphicFramePr>
          <p:cNvPr id="4" name="Table 3"/>
          <p:cNvGraphicFramePr>
            <a:graphicFrameLocks noGrp="1"/>
          </p:cNvGraphicFramePr>
          <p:nvPr/>
        </p:nvGraphicFramePr>
        <p:xfrm>
          <a:off x="6934200" y="2438400"/>
          <a:ext cx="2489199" cy="1188720"/>
        </p:xfrm>
        <a:graphic>
          <a:graphicData uri="http://schemas.openxmlformats.org/drawingml/2006/table">
            <a:tbl>
              <a:tblPr firstRow="1" bandRow="1">
                <a:tableStyleId>{5C22544A-7EE6-4342-B048-85BDC9FD1C3A}</a:tableStyleId>
              </a:tblPr>
              <a:tblGrid>
                <a:gridCol w="993639">
                  <a:extLst>
                    <a:ext uri="{9D8B030D-6E8A-4147-A177-3AD203B41FA5}">
                      <a16:colId xmlns:a16="http://schemas.microsoft.com/office/drawing/2014/main" val="4212301647"/>
                    </a:ext>
                  </a:extLst>
                </a:gridCol>
                <a:gridCol w="612639">
                  <a:extLst>
                    <a:ext uri="{9D8B030D-6E8A-4147-A177-3AD203B41FA5}">
                      <a16:colId xmlns:a16="http://schemas.microsoft.com/office/drawing/2014/main" val="421026001"/>
                    </a:ext>
                  </a:extLst>
                </a:gridCol>
                <a:gridCol w="882921">
                  <a:extLst>
                    <a:ext uri="{9D8B030D-6E8A-4147-A177-3AD203B41FA5}">
                      <a16:colId xmlns:a16="http://schemas.microsoft.com/office/drawing/2014/main" val="831406173"/>
                    </a:ext>
                  </a:extLst>
                </a:gridCol>
              </a:tblGrid>
              <a:tr h="24765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CLK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Q</a:t>
                      </a:r>
                      <a:r>
                        <a:rPr lang="en-IN" sz="2000" baseline="30000" dirty="0">
                          <a:solidFill>
                            <a:schemeClr val="tx1"/>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0424295"/>
                  </a:ext>
                </a:extLst>
              </a:tr>
              <a:tr h="247650">
                <a:tc>
                  <a:txBody>
                    <a:bodyPr/>
                    <a:lstStyle/>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1005405"/>
                  </a:ext>
                </a:extLst>
              </a:tr>
              <a:tr h="247650">
                <a:tc>
                  <a:txBody>
                    <a:bodyPr/>
                    <a:lstStyle/>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5780573"/>
                  </a:ext>
                </a:extLst>
              </a:tr>
            </a:tbl>
          </a:graphicData>
        </a:graphic>
      </p:graphicFrame>
      <p:pic>
        <p:nvPicPr>
          <p:cNvPr id="5" name="Picture 4"/>
          <p:cNvPicPr>
            <a:picLocks noChangeAspect="1"/>
          </p:cNvPicPr>
          <p:nvPr/>
        </p:nvPicPr>
        <p:blipFill rotWithShape="1">
          <a:blip r:embed="rId2"/>
          <a:srcRect l="11960" t="38938" r="53488" b="15044"/>
          <a:stretch/>
        </p:blipFill>
        <p:spPr>
          <a:xfrm>
            <a:off x="1752600" y="2057400"/>
            <a:ext cx="2819400" cy="2900680"/>
          </a:xfrm>
          <a:prstGeom prst="rect">
            <a:avLst/>
          </a:prstGeom>
        </p:spPr>
      </p:pic>
      <p:cxnSp>
        <p:nvCxnSpPr>
          <p:cNvPr id="6" name="Straight Arrow Connector 5"/>
          <p:cNvCxnSpPr/>
          <p:nvPr/>
        </p:nvCxnSpPr>
        <p:spPr>
          <a:xfrm flipV="1">
            <a:off x="7467600" y="2895600"/>
            <a:ext cx="0" cy="228600"/>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Straight Arrow Connector 6"/>
          <p:cNvCxnSpPr/>
          <p:nvPr/>
        </p:nvCxnSpPr>
        <p:spPr>
          <a:xfrm flipV="1">
            <a:off x="7467600" y="3276600"/>
            <a:ext cx="0" cy="228600"/>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TextBox 2">
            <a:extLst>
              <a:ext uri="{FF2B5EF4-FFF2-40B4-BE49-F238E27FC236}">
                <a16:creationId xmlns:a16="http://schemas.microsoft.com/office/drawing/2014/main" id="{257BD6FD-6BB6-3E59-4056-D9E3F26686CF}"/>
              </a:ext>
            </a:extLst>
          </p:cNvPr>
          <p:cNvSpPr txBox="1"/>
          <p:nvPr/>
        </p:nvSpPr>
        <p:spPr>
          <a:xfrm>
            <a:off x="2462768" y="4253726"/>
            <a:ext cx="1866345" cy="369332"/>
          </a:xfrm>
          <a:prstGeom prst="rect">
            <a:avLst/>
          </a:prstGeom>
          <a:noFill/>
        </p:spPr>
        <p:txBody>
          <a:bodyPr wrap="none" rtlCol="0">
            <a:spAutoFit/>
          </a:bodyPr>
          <a:lstStyle/>
          <a:p>
            <a:r>
              <a:rPr lang="en-US" dirty="0"/>
              <a:t> Graphical Symbol</a:t>
            </a:r>
          </a:p>
        </p:txBody>
      </p:sp>
    </p:spTree>
    <p:extLst>
      <p:ext uri="{BB962C8B-B14F-4D97-AF65-F5344CB8AC3E}">
        <p14:creationId xmlns:p14="http://schemas.microsoft.com/office/powerpoint/2010/main" val="39874963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rcRect r="34072" b="26010"/>
          <a:stretch>
            <a:fillRect/>
          </a:stretch>
        </p:blipFill>
        <p:spPr>
          <a:xfrm>
            <a:off x="1670984" y="1946367"/>
            <a:ext cx="6314776" cy="2737393"/>
          </a:xfrm>
          <a:prstGeom prst="rect">
            <a:avLst/>
          </a:prstGeom>
        </p:spPr>
      </p:pic>
    </p:spTree>
    <p:extLst>
      <p:ext uri="{BB962C8B-B14F-4D97-AF65-F5344CB8AC3E}">
        <p14:creationId xmlns:p14="http://schemas.microsoft.com/office/powerpoint/2010/main" val="15771944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456455"/>
            <a:ext cx="10973212" cy="307777"/>
          </a:xfrm>
        </p:spPr>
        <p:txBody>
          <a:bodyPr>
            <a:normAutofit fontScale="90000"/>
          </a:bodyPr>
          <a:lstStyle/>
          <a:p>
            <a:r>
              <a:rPr lang="en-IN" sz="2000" dirty="0">
                <a:latin typeface="Times New Roman" panose="02020603050405020304" pitchFamily="18" charset="0"/>
                <a:cs typeface="Times New Roman" panose="02020603050405020304" pitchFamily="18" charset="0"/>
              </a:rPr>
              <a:t>S R Flip Flop</a:t>
            </a:r>
          </a:p>
        </p:txBody>
      </p:sp>
      <p:pic>
        <p:nvPicPr>
          <p:cNvPr id="4" name="Picture 3"/>
          <p:cNvPicPr>
            <a:picLocks noChangeAspect="1"/>
          </p:cNvPicPr>
          <p:nvPr/>
        </p:nvPicPr>
        <p:blipFill>
          <a:blip r:embed="rId2"/>
          <a:stretch>
            <a:fillRect/>
          </a:stretch>
        </p:blipFill>
        <p:spPr>
          <a:xfrm>
            <a:off x="2133600" y="1600200"/>
            <a:ext cx="3574681" cy="2871863"/>
          </a:xfrm>
          <a:prstGeom prst="rect">
            <a:avLst/>
          </a:prstGeom>
        </p:spPr>
      </p:pic>
      <p:graphicFrame>
        <p:nvGraphicFramePr>
          <p:cNvPr id="5" name="Table 4"/>
          <p:cNvGraphicFramePr>
            <a:graphicFrameLocks noGrp="1"/>
          </p:cNvGraphicFramePr>
          <p:nvPr/>
        </p:nvGraphicFramePr>
        <p:xfrm>
          <a:off x="6934201" y="1905000"/>
          <a:ext cx="3657599" cy="1981200"/>
        </p:xfrm>
        <a:graphic>
          <a:graphicData uri="http://schemas.openxmlformats.org/drawingml/2006/table">
            <a:tbl>
              <a:tblPr firstRow="1" bandRow="1">
                <a:tableStyleId>{5C22544A-7EE6-4342-B048-85BDC9FD1C3A}</a:tableStyleId>
              </a:tblPr>
              <a:tblGrid>
                <a:gridCol w="1050147">
                  <a:extLst>
                    <a:ext uri="{9D8B030D-6E8A-4147-A177-3AD203B41FA5}">
                      <a16:colId xmlns:a16="http://schemas.microsoft.com/office/drawing/2014/main" val="2180523390"/>
                    </a:ext>
                  </a:extLst>
                </a:gridCol>
                <a:gridCol w="669147">
                  <a:extLst>
                    <a:ext uri="{9D8B030D-6E8A-4147-A177-3AD203B41FA5}">
                      <a16:colId xmlns:a16="http://schemas.microsoft.com/office/drawing/2014/main" val="421026001"/>
                    </a:ext>
                  </a:extLst>
                </a:gridCol>
                <a:gridCol w="669147">
                  <a:extLst>
                    <a:ext uri="{9D8B030D-6E8A-4147-A177-3AD203B41FA5}">
                      <a16:colId xmlns:a16="http://schemas.microsoft.com/office/drawing/2014/main" val="12829497"/>
                    </a:ext>
                  </a:extLst>
                </a:gridCol>
                <a:gridCol w="1269158">
                  <a:extLst>
                    <a:ext uri="{9D8B030D-6E8A-4147-A177-3AD203B41FA5}">
                      <a16:colId xmlns:a16="http://schemas.microsoft.com/office/drawing/2014/main" val="831406173"/>
                    </a:ext>
                  </a:extLst>
                </a:gridCol>
              </a:tblGrid>
              <a:tr h="24765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CLK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Q</a:t>
                      </a:r>
                      <a:r>
                        <a:rPr lang="en-IN" sz="2000" baseline="30000" dirty="0">
                          <a:solidFill>
                            <a:schemeClr val="tx1"/>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0424295"/>
                  </a:ext>
                </a:extLst>
              </a:tr>
              <a:tr h="247650">
                <a:tc>
                  <a:txBody>
                    <a:bodyPr/>
                    <a:lstStyle/>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1005405"/>
                  </a:ext>
                </a:extLst>
              </a:tr>
              <a:tr h="247650">
                <a:tc>
                  <a:txBody>
                    <a:bodyPr/>
                    <a:lstStyle/>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5780573"/>
                  </a:ext>
                </a:extLst>
              </a:tr>
              <a:tr h="247650">
                <a:tc>
                  <a:txBody>
                    <a:bodyPr/>
                    <a:lstStyle/>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9601950"/>
                  </a:ext>
                </a:extLst>
              </a:tr>
              <a:tr h="247650">
                <a:tc>
                  <a:txBody>
                    <a:bodyPr/>
                    <a:lstStyle/>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Forbidden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7131803"/>
                  </a:ext>
                </a:extLst>
              </a:tr>
            </a:tbl>
          </a:graphicData>
        </a:graphic>
      </p:graphicFrame>
      <p:cxnSp>
        <p:nvCxnSpPr>
          <p:cNvPr id="7" name="Straight Arrow Connector 6"/>
          <p:cNvCxnSpPr/>
          <p:nvPr/>
        </p:nvCxnSpPr>
        <p:spPr>
          <a:xfrm flipV="1">
            <a:off x="7467600" y="2438400"/>
            <a:ext cx="0" cy="228600"/>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 name="Straight Arrow Connector 7"/>
          <p:cNvCxnSpPr/>
          <p:nvPr/>
        </p:nvCxnSpPr>
        <p:spPr>
          <a:xfrm flipV="1">
            <a:off x="7467600" y="2743200"/>
            <a:ext cx="0" cy="228600"/>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 name="Straight Arrow Connector 8"/>
          <p:cNvCxnSpPr/>
          <p:nvPr/>
        </p:nvCxnSpPr>
        <p:spPr>
          <a:xfrm flipV="1">
            <a:off x="7467600" y="3124200"/>
            <a:ext cx="0" cy="228600"/>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Straight Arrow Connector 9"/>
          <p:cNvCxnSpPr/>
          <p:nvPr/>
        </p:nvCxnSpPr>
        <p:spPr>
          <a:xfrm flipV="1">
            <a:off x="7467600" y="3581400"/>
            <a:ext cx="0" cy="228600"/>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TextBox 2"/>
          <p:cNvSpPr txBox="1"/>
          <p:nvPr/>
        </p:nvSpPr>
        <p:spPr>
          <a:xfrm>
            <a:off x="3031728" y="4395966"/>
            <a:ext cx="1866345" cy="369332"/>
          </a:xfrm>
          <a:prstGeom prst="rect">
            <a:avLst/>
          </a:prstGeom>
          <a:noFill/>
        </p:spPr>
        <p:txBody>
          <a:bodyPr wrap="none" rtlCol="0">
            <a:spAutoFit/>
          </a:bodyPr>
          <a:lstStyle/>
          <a:p>
            <a:r>
              <a:rPr lang="en-US" dirty="0"/>
              <a:t> Graphical Symbol</a:t>
            </a:r>
          </a:p>
        </p:txBody>
      </p:sp>
    </p:spTree>
    <p:extLst>
      <p:ext uri="{BB962C8B-B14F-4D97-AF65-F5344CB8AC3E}">
        <p14:creationId xmlns:p14="http://schemas.microsoft.com/office/powerpoint/2010/main" val="26533049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6178734" y="563949"/>
            <a:ext cx="4236972" cy="3394832"/>
          </a:xfrm>
          <a:prstGeom prst="rect">
            <a:avLst/>
          </a:prstGeom>
        </p:spPr>
      </p:pic>
      <p:graphicFrame>
        <p:nvGraphicFramePr>
          <p:cNvPr id="2" name="Table 1"/>
          <p:cNvGraphicFramePr>
            <a:graphicFrameLocks noGrp="1"/>
          </p:cNvGraphicFramePr>
          <p:nvPr/>
        </p:nvGraphicFramePr>
        <p:xfrm>
          <a:off x="941694" y="855972"/>
          <a:ext cx="3780433" cy="3497873"/>
        </p:xfrm>
        <a:graphic>
          <a:graphicData uri="http://schemas.openxmlformats.org/drawingml/2006/table">
            <a:tbl>
              <a:tblPr firstRow="1" bandRow="1">
                <a:tableStyleId>{2D5ABB26-0587-4C30-8999-92F81FD0307C}</a:tableStyleId>
              </a:tblPr>
              <a:tblGrid>
                <a:gridCol w="709685">
                  <a:extLst>
                    <a:ext uri="{9D8B030D-6E8A-4147-A177-3AD203B41FA5}">
                      <a16:colId xmlns:a16="http://schemas.microsoft.com/office/drawing/2014/main" val="3532652905"/>
                    </a:ext>
                  </a:extLst>
                </a:gridCol>
                <a:gridCol w="764275">
                  <a:extLst>
                    <a:ext uri="{9D8B030D-6E8A-4147-A177-3AD203B41FA5}">
                      <a16:colId xmlns:a16="http://schemas.microsoft.com/office/drawing/2014/main" val="767842071"/>
                    </a:ext>
                  </a:extLst>
                </a:gridCol>
                <a:gridCol w="764274">
                  <a:extLst>
                    <a:ext uri="{9D8B030D-6E8A-4147-A177-3AD203B41FA5}">
                      <a16:colId xmlns:a16="http://schemas.microsoft.com/office/drawing/2014/main" val="2424804416"/>
                    </a:ext>
                  </a:extLst>
                </a:gridCol>
                <a:gridCol w="1542199">
                  <a:extLst>
                    <a:ext uri="{9D8B030D-6E8A-4147-A177-3AD203B41FA5}">
                      <a16:colId xmlns:a16="http://schemas.microsoft.com/office/drawing/2014/main" val="1950164896"/>
                    </a:ext>
                  </a:extLst>
                </a:gridCol>
              </a:tblGrid>
              <a:tr h="345262">
                <a:tc>
                  <a:txBody>
                    <a:bodyPr/>
                    <a:lstStyle/>
                    <a:p>
                      <a:pPr algn="ctr"/>
                      <a:r>
                        <a:rPr lang="en-US" dirty="0"/>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Qt+1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6504479"/>
                  </a:ext>
                </a:extLst>
              </a:tr>
              <a:tr h="345262">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8559653"/>
                  </a:ext>
                </a:extLst>
              </a:tr>
              <a:tr h="345262">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5955128"/>
                  </a:ext>
                </a:extLst>
              </a:tr>
              <a:tr h="345262">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8745182"/>
                  </a:ext>
                </a:extLst>
              </a:tr>
              <a:tr h="345262">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Indeterminate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6861667"/>
                  </a:ext>
                </a:extLst>
              </a:tr>
              <a:tr h="345262">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400016"/>
                  </a:ext>
                </a:extLst>
              </a:tr>
              <a:tr h="345262">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629624"/>
                  </a:ext>
                </a:extLst>
              </a:tr>
              <a:tr h="345262">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7755198"/>
                  </a:ext>
                </a:extLst>
              </a:tr>
              <a:tr h="571793">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Indeterminate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177224"/>
                  </a:ext>
                </a:extLst>
              </a:tr>
            </a:tbl>
          </a:graphicData>
        </a:graphic>
      </p:graphicFrame>
      <p:sp>
        <p:nvSpPr>
          <p:cNvPr id="3" name="TextBox 2"/>
          <p:cNvSpPr txBox="1"/>
          <p:nvPr/>
        </p:nvSpPr>
        <p:spPr>
          <a:xfrm>
            <a:off x="1364776" y="4694830"/>
            <a:ext cx="2255169" cy="369332"/>
          </a:xfrm>
          <a:prstGeom prst="rect">
            <a:avLst/>
          </a:prstGeom>
          <a:noFill/>
        </p:spPr>
        <p:txBody>
          <a:bodyPr wrap="none" rtlCol="0">
            <a:spAutoFit/>
          </a:bodyPr>
          <a:lstStyle/>
          <a:p>
            <a:r>
              <a:rPr lang="en-US" dirty="0"/>
              <a:t>b) Characteristic Table</a:t>
            </a:r>
          </a:p>
        </p:txBody>
      </p:sp>
    </p:spTree>
    <p:extLst>
      <p:ext uri="{BB962C8B-B14F-4D97-AF65-F5344CB8AC3E}">
        <p14:creationId xmlns:p14="http://schemas.microsoft.com/office/powerpoint/2010/main" val="25189395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4F80F-CEEF-C2FB-02A0-D014072CA066}"/>
              </a:ext>
            </a:extLst>
          </p:cNvPr>
          <p:cNvSpPr>
            <a:spLocks noGrp="1"/>
          </p:cNvSpPr>
          <p:nvPr>
            <p:ph type="title"/>
          </p:nvPr>
        </p:nvSpPr>
        <p:spPr/>
        <p:txBody>
          <a:bodyPr/>
          <a:lstStyle/>
          <a:p>
            <a:r>
              <a:rPr lang="en-IN" dirty="0"/>
              <a:t>JK Flip flop</a:t>
            </a:r>
          </a:p>
        </p:txBody>
      </p:sp>
      <p:pic>
        <p:nvPicPr>
          <p:cNvPr id="5" name="Content Placeholder 4">
            <a:extLst>
              <a:ext uri="{FF2B5EF4-FFF2-40B4-BE49-F238E27FC236}">
                <a16:creationId xmlns:a16="http://schemas.microsoft.com/office/drawing/2014/main" id="{C30DA5D6-7447-7A96-5302-4E455A46BD8F}"/>
              </a:ext>
            </a:extLst>
          </p:cNvPr>
          <p:cNvPicPr>
            <a:picLocks noGrp="1" noChangeAspect="1"/>
          </p:cNvPicPr>
          <p:nvPr>
            <p:ph idx="1"/>
          </p:nvPr>
        </p:nvPicPr>
        <p:blipFill>
          <a:blip r:embed="rId2"/>
          <a:stretch>
            <a:fillRect/>
          </a:stretch>
        </p:blipFill>
        <p:spPr>
          <a:xfrm>
            <a:off x="150772" y="1427480"/>
            <a:ext cx="8049975" cy="4351338"/>
          </a:xfrm>
          <a:prstGeom prst="rect">
            <a:avLst/>
          </a:prstGeom>
        </p:spPr>
      </p:pic>
      <p:pic>
        <p:nvPicPr>
          <p:cNvPr id="7" name="Picture 6">
            <a:extLst>
              <a:ext uri="{FF2B5EF4-FFF2-40B4-BE49-F238E27FC236}">
                <a16:creationId xmlns:a16="http://schemas.microsoft.com/office/drawing/2014/main" id="{1108B144-118B-8297-5F64-A0EAEF20CED1}"/>
              </a:ext>
            </a:extLst>
          </p:cNvPr>
          <p:cNvPicPr>
            <a:picLocks noChangeAspect="1"/>
          </p:cNvPicPr>
          <p:nvPr/>
        </p:nvPicPr>
        <p:blipFill>
          <a:blip r:embed="rId3"/>
          <a:stretch>
            <a:fillRect/>
          </a:stretch>
        </p:blipFill>
        <p:spPr>
          <a:xfrm>
            <a:off x="8661504" y="1527621"/>
            <a:ext cx="3057952" cy="2705478"/>
          </a:xfrm>
          <a:prstGeom prst="rect">
            <a:avLst/>
          </a:prstGeom>
        </p:spPr>
      </p:pic>
    </p:spTree>
    <p:extLst>
      <p:ext uri="{BB962C8B-B14F-4D97-AF65-F5344CB8AC3E}">
        <p14:creationId xmlns:p14="http://schemas.microsoft.com/office/powerpoint/2010/main" val="18301686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456455"/>
            <a:ext cx="10973212" cy="307777"/>
          </a:xfrm>
        </p:spPr>
        <p:txBody>
          <a:bodyPr>
            <a:normAutofit fontScale="90000"/>
          </a:bodyPr>
          <a:lstStyle/>
          <a:p>
            <a:r>
              <a:rPr lang="en-IN" sz="2000" dirty="0">
                <a:latin typeface="Times New Roman" panose="02020603050405020304" pitchFamily="18" charset="0"/>
                <a:cs typeface="Times New Roman" panose="02020603050405020304" pitchFamily="18" charset="0"/>
              </a:rPr>
              <a:t>J K Flip Flop</a:t>
            </a:r>
          </a:p>
        </p:txBody>
      </p:sp>
      <p:pic>
        <p:nvPicPr>
          <p:cNvPr id="4" name="Picture 3"/>
          <p:cNvPicPr>
            <a:picLocks noChangeAspect="1"/>
          </p:cNvPicPr>
          <p:nvPr/>
        </p:nvPicPr>
        <p:blipFill>
          <a:blip r:embed="rId2"/>
          <a:stretch>
            <a:fillRect/>
          </a:stretch>
        </p:blipFill>
        <p:spPr>
          <a:xfrm>
            <a:off x="1600200" y="1561969"/>
            <a:ext cx="3392570" cy="2667262"/>
          </a:xfrm>
          <a:prstGeom prst="rect">
            <a:avLst/>
          </a:prstGeom>
        </p:spPr>
      </p:pic>
      <p:graphicFrame>
        <p:nvGraphicFramePr>
          <p:cNvPr id="5" name="Table 4"/>
          <p:cNvGraphicFramePr>
            <a:graphicFrameLocks noGrp="1"/>
          </p:cNvGraphicFramePr>
          <p:nvPr/>
        </p:nvGraphicFramePr>
        <p:xfrm>
          <a:off x="6934200" y="1981200"/>
          <a:ext cx="3352800" cy="1981200"/>
        </p:xfrm>
        <a:graphic>
          <a:graphicData uri="http://schemas.openxmlformats.org/drawingml/2006/table">
            <a:tbl>
              <a:tblPr firstRow="1" bandRow="1">
                <a:tableStyleId>{5C22544A-7EE6-4342-B048-85BDC9FD1C3A}</a:tableStyleId>
              </a:tblPr>
              <a:tblGrid>
                <a:gridCol w="1050147">
                  <a:extLst>
                    <a:ext uri="{9D8B030D-6E8A-4147-A177-3AD203B41FA5}">
                      <a16:colId xmlns:a16="http://schemas.microsoft.com/office/drawing/2014/main" val="655297244"/>
                    </a:ext>
                  </a:extLst>
                </a:gridCol>
                <a:gridCol w="669147">
                  <a:extLst>
                    <a:ext uri="{9D8B030D-6E8A-4147-A177-3AD203B41FA5}">
                      <a16:colId xmlns:a16="http://schemas.microsoft.com/office/drawing/2014/main" val="421026001"/>
                    </a:ext>
                  </a:extLst>
                </a:gridCol>
                <a:gridCol w="669147">
                  <a:extLst>
                    <a:ext uri="{9D8B030D-6E8A-4147-A177-3AD203B41FA5}">
                      <a16:colId xmlns:a16="http://schemas.microsoft.com/office/drawing/2014/main" val="12829497"/>
                    </a:ext>
                  </a:extLst>
                </a:gridCol>
                <a:gridCol w="964359">
                  <a:extLst>
                    <a:ext uri="{9D8B030D-6E8A-4147-A177-3AD203B41FA5}">
                      <a16:colId xmlns:a16="http://schemas.microsoft.com/office/drawing/2014/main" val="831406173"/>
                    </a:ext>
                  </a:extLst>
                </a:gridCol>
              </a:tblGrid>
              <a:tr h="24765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CLK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Q</a:t>
                      </a:r>
                      <a:r>
                        <a:rPr lang="en-IN" sz="2000" baseline="30000" dirty="0">
                          <a:solidFill>
                            <a:schemeClr val="tx1"/>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0424295"/>
                  </a:ext>
                </a:extLst>
              </a:tr>
              <a:tr h="247650">
                <a:tc>
                  <a:txBody>
                    <a:bodyPr/>
                    <a:lstStyle/>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1005405"/>
                  </a:ext>
                </a:extLst>
              </a:tr>
              <a:tr h="247650">
                <a:tc>
                  <a:txBody>
                    <a:bodyPr/>
                    <a:lstStyle/>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5780573"/>
                  </a:ext>
                </a:extLst>
              </a:tr>
              <a:tr h="247650">
                <a:tc>
                  <a:txBody>
                    <a:bodyPr/>
                    <a:lstStyle/>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9601950"/>
                  </a:ext>
                </a:extLst>
              </a:tr>
              <a:tr h="247650">
                <a:tc>
                  <a:txBody>
                    <a:bodyPr/>
                    <a:lstStyle/>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7131803"/>
                  </a:ext>
                </a:extLst>
              </a:tr>
            </a:tbl>
          </a:graphicData>
        </a:graphic>
      </p:graphicFrame>
      <p:graphicFrame>
        <p:nvGraphicFramePr>
          <p:cNvPr id="6" name="Object 5"/>
          <p:cNvGraphicFramePr>
            <a:graphicFrameLocks noChangeAspect="1"/>
          </p:cNvGraphicFramePr>
          <p:nvPr/>
        </p:nvGraphicFramePr>
        <p:xfrm>
          <a:off x="9677400" y="3600450"/>
          <a:ext cx="228600" cy="361950"/>
        </p:xfrm>
        <a:graphic>
          <a:graphicData uri="http://schemas.openxmlformats.org/presentationml/2006/ole">
            <mc:AlternateContent xmlns:mc="http://schemas.openxmlformats.org/markup-compatibility/2006">
              <mc:Choice xmlns:v="urn:schemas-microsoft-com:vml" Requires="v">
                <p:oleObj name="Equation" r:id="rId3" imgW="152280" imgH="241200" progId="Equation.3">
                  <p:embed/>
                </p:oleObj>
              </mc:Choice>
              <mc:Fallback>
                <p:oleObj name="Equation" r:id="rId3" imgW="152280" imgH="241200" progId="Equation.3">
                  <p:embed/>
                  <p:pic>
                    <p:nvPicPr>
                      <p:cNvPr id="6" name="Object 5"/>
                      <p:cNvPicPr/>
                      <p:nvPr/>
                    </p:nvPicPr>
                    <p:blipFill>
                      <a:blip r:embed="rId4"/>
                      <a:stretch>
                        <a:fillRect/>
                      </a:stretch>
                    </p:blipFill>
                    <p:spPr>
                      <a:xfrm>
                        <a:off x="9677400" y="3600450"/>
                        <a:ext cx="228600" cy="361950"/>
                      </a:xfrm>
                      <a:prstGeom prst="rect">
                        <a:avLst/>
                      </a:prstGeom>
                    </p:spPr>
                  </p:pic>
                </p:oleObj>
              </mc:Fallback>
            </mc:AlternateContent>
          </a:graphicData>
        </a:graphic>
      </p:graphicFrame>
      <p:cxnSp>
        <p:nvCxnSpPr>
          <p:cNvPr id="7" name="Straight Arrow Connector 6"/>
          <p:cNvCxnSpPr/>
          <p:nvPr/>
        </p:nvCxnSpPr>
        <p:spPr>
          <a:xfrm flipV="1">
            <a:off x="7467600" y="2438400"/>
            <a:ext cx="0" cy="228600"/>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 name="Straight Arrow Connector 7"/>
          <p:cNvCxnSpPr/>
          <p:nvPr/>
        </p:nvCxnSpPr>
        <p:spPr>
          <a:xfrm flipV="1">
            <a:off x="7467600" y="2819400"/>
            <a:ext cx="0" cy="228600"/>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 name="Straight Arrow Connector 8"/>
          <p:cNvCxnSpPr/>
          <p:nvPr/>
        </p:nvCxnSpPr>
        <p:spPr>
          <a:xfrm flipV="1">
            <a:off x="7467600" y="3200400"/>
            <a:ext cx="0" cy="228600"/>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Straight Arrow Connector 9"/>
          <p:cNvCxnSpPr/>
          <p:nvPr/>
        </p:nvCxnSpPr>
        <p:spPr>
          <a:xfrm flipV="1">
            <a:off x="7467600" y="3657600"/>
            <a:ext cx="0" cy="228600"/>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TextBox 2">
            <a:extLst>
              <a:ext uri="{FF2B5EF4-FFF2-40B4-BE49-F238E27FC236}">
                <a16:creationId xmlns:a16="http://schemas.microsoft.com/office/drawing/2014/main" id="{EBE1A2E4-3F15-221E-D0B6-955006BA0E9F}"/>
              </a:ext>
            </a:extLst>
          </p:cNvPr>
          <p:cNvSpPr txBox="1"/>
          <p:nvPr/>
        </p:nvSpPr>
        <p:spPr>
          <a:xfrm>
            <a:off x="2544048" y="4229231"/>
            <a:ext cx="1866345" cy="369332"/>
          </a:xfrm>
          <a:prstGeom prst="rect">
            <a:avLst/>
          </a:prstGeom>
          <a:noFill/>
        </p:spPr>
        <p:txBody>
          <a:bodyPr wrap="none" rtlCol="0">
            <a:spAutoFit/>
          </a:bodyPr>
          <a:lstStyle/>
          <a:p>
            <a:r>
              <a:rPr lang="en-US" dirty="0"/>
              <a:t> Graphical Symbol</a:t>
            </a:r>
          </a:p>
        </p:txBody>
      </p:sp>
    </p:spTree>
    <p:extLst>
      <p:ext uri="{BB962C8B-B14F-4D97-AF65-F5344CB8AC3E}">
        <p14:creationId xmlns:p14="http://schemas.microsoft.com/office/powerpoint/2010/main" val="29990738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JK Flip flop</a:t>
            </a:r>
          </a:p>
        </p:txBody>
      </p:sp>
      <p:pic>
        <p:nvPicPr>
          <p:cNvPr id="5" name="Picture 4"/>
          <p:cNvPicPr>
            <a:picLocks noChangeAspect="1"/>
          </p:cNvPicPr>
          <p:nvPr/>
        </p:nvPicPr>
        <p:blipFill>
          <a:blip r:embed="rId2"/>
          <a:stretch>
            <a:fillRect/>
          </a:stretch>
        </p:blipFill>
        <p:spPr>
          <a:xfrm>
            <a:off x="7614927" y="1253458"/>
            <a:ext cx="4585753" cy="4374728"/>
          </a:xfrm>
          <a:prstGeom prst="rect">
            <a:avLst/>
          </a:prstGeom>
        </p:spPr>
      </p:pic>
      <p:pic>
        <p:nvPicPr>
          <p:cNvPr id="6" name="Picture 5">
            <a:extLst>
              <a:ext uri="{FF2B5EF4-FFF2-40B4-BE49-F238E27FC236}">
                <a16:creationId xmlns:a16="http://schemas.microsoft.com/office/drawing/2014/main" id="{2C42729F-12AE-E1B7-3D0F-ABBF2D98601D}"/>
              </a:ext>
            </a:extLst>
          </p:cNvPr>
          <p:cNvPicPr>
            <a:picLocks noChangeAspect="1"/>
          </p:cNvPicPr>
          <p:nvPr/>
        </p:nvPicPr>
        <p:blipFill>
          <a:blip r:embed="rId3"/>
          <a:stretch>
            <a:fillRect/>
          </a:stretch>
        </p:blipFill>
        <p:spPr>
          <a:xfrm>
            <a:off x="1080946" y="2386222"/>
            <a:ext cx="6187975" cy="2998578"/>
          </a:xfrm>
          <a:prstGeom prst="rect">
            <a:avLst/>
          </a:prstGeom>
        </p:spPr>
      </p:pic>
    </p:spTree>
    <p:extLst>
      <p:ext uri="{BB962C8B-B14F-4D97-AF65-F5344CB8AC3E}">
        <p14:creationId xmlns:p14="http://schemas.microsoft.com/office/powerpoint/2010/main" val="37131222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66800" y="1438243"/>
            <a:ext cx="4585753" cy="4374728"/>
          </a:xfrm>
          <a:prstGeom prst="rect">
            <a:avLst/>
          </a:prstGeom>
        </p:spPr>
      </p:pic>
      <p:pic>
        <p:nvPicPr>
          <p:cNvPr id="5" name="Picture 4"/>
          <p:cNvPicPr>
            <a:picLocks noChangeAspect="1"/>
          </p:cNvPicPr>
          <p:nvPr/>
        </p:nvPicPr>
        <p:blipFill>
          <a:blip r:embed="rId3"/>
          <a:stretch>
            <a:fillRect/>
          </a:stretch>
        </p:blipFill>
        <p:spPr>
          <a:xfrm>
            <a:off x="5955638" y="1658231"/>
            <a:ext cx="5247939" cy="3934752"/>
          </a:xfrm>
          <a:prstGeom prst="rect">
            <a:avLst/>
          </a:prstGeom>
        </p:spPr>
      </p:pic>
    </p:spTree>
    <p:extLst>
      <p:ext uri="{BB962C8B-B14F-4D97-AF65-F5344CB8AC3E}">
        <p14:creationId xmlns:p14="http://schemas.microsoft.com/office/powerpoint/2010/main" val="24063896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456455"/>
            <a:ext cx="10973212" cy="307777"/>
          </a:xfrm>
        </p:spPr>
        <p:txBody>
          <a:bodyPr>
            <a:normAutofit fontScale="90000"/>
          </a:bodyPr>
          <a:lstStyle/>
          <a:p>
            <a:r>
              <a:rPr lang="en-IN" sz="2000" dirty="0">
                <a:latin typeface="Times New Roman" panose="02020603050405020304" pitchFamily="18" charset="0"/>
                <a:cs typeface="Times New Roman" panose="02020603050405020304" pitchFamily="18" charset="0"/>
              </a:rPr>
              <a:t>T Flip Flop</a:t>
            </a:r>
          </a:p>
        </p:txBody>
      </p:sp>
      <p:graphicFrame>
        <p:nvGraphicFramePr>
          <p:cNvPr id="4" name="Table 3"/>
          <p:cNvGraphicFramePr>
            <a:graphicFrameLocks noGrp="1"/>
          </p:cNvGraphicFramePr>
          <p:nvPr/>
        </p:nvGraphicFramePr>
        <p:xfrm>
          <a:off x="6934200" y="2438400"/>
          <a:ext cx="2489199" cy="1188720"/>
        </p:xfrm>
        <a:graphic>
          <a:graphicData uri="http://schemas.openxmlformats.org/drawingml/2006/table">
            <a:tbl>
              <a:tblPr firstRow="1" bandRow="1">
                <a:tableStyleId>{5C22544A-7EE6-4342-B048-85BDC9FD1C3A}</a:tableStyleId>
              </a:tblPr>
              <a:tblGrid>
                <a:gridCol w="993639">
                  <a:extLst>
                    <a:ext uri="{9D8B030D-6E8A-4147-A177-3AD203B41FA5}">
                      <a16:colId xmlns:a16="http://schemas.microsoft.com/office/drawing/2014/main" val="4212301647"/>
                    </a:ext>
                  </a:extLst>
                </a:gridCol>
                <a:gridCol w="612639">
                  <a:extLst>
                    <a:ext uri="{9D8B030D-6E8A-4147-A177-3AD203B41FA5}">
                      <a16:colId xmlns:a16="http://schemas.microsoft.com/office/drawing/2014/main" val="421026001"/>
                    </a:ext>
                  </a:extLst>
                </a:gridCol>
                <a:gridCol w="882921">
                  <a:extLst>
                    <a:ext uri="{9D8B030D-6E8A-4147-A177-3AD203B41FA5}">
                      <a16:colId xmlns:a16="http://schemas.microsoft.com/office/drawing/2014/main" val="831406173"/>
                    </a:ext>
                  </a:extLst>
                </a:gridCol>
              </a:tblGrid>
              <a:tr h="24765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CLK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Q</a:t>
                      </a:r>
                      <a:r>
                        <a:rPr lang="en-IN" sz="2000" baseline="30000" dirty="0">
                          <a:solidFill>
                            <a:schemeClr val="tx1"/>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0424295"/>
                  </a:ext>
                </a:extLst>
              </a:tr>
              <a:tr h="247650">
                <a:tc>
                  <a:txBody>
                    <a:bodyPr/>
                    <a:lstStyle/>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1005405"/>
                  </a:ext>
                </a:extLst>
              </a:tr>
              <a:tr h="247650">
                <a:tc>
                  <a:txBody>
                    <a:bodyPr/>
                    <a:lstStyle/>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5780573"/>
                  </a:ext>
                </a:extLst>
              </a:tr>
            </a:tbl>
          </a:graphicData>
        </a:graphic>
      </p:graphicFrame>
      <p:cxnSp>
        <p:nvCxnSpPr>
          <p:cNvPr id="6" name="Straight Arrow Connector 5"/>
          <p:cNvCxnSpPr/>
          <p:nvPr/>
        </p:nvCxnSpPr>
        <p:spPr>
          <a:xfrm flipV="1">
            <a:off x="7467600" y="2895600"/>
            <a:ext cx="0" cy="228600"/>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Straight Arrow Connector 6"/>
          <p:cNvCxnSpPr/>
          <p:nvPr/>
        </p:nvCxnSpPr>
        <p:spPr>
          <a:xfrm flipV="1">
            <a:off x="7467600" y="3276600"/>
            <a:ext cx="0" cy="228600"/>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3" name="Picture 2"/>
          <p:cNvPicPr>
            <a:picLocks noChangeAspect="1"/>
          </p:cNvPicPr>
          <p:nvPr/>
        </p:nvPicPr>
        <p:blipFill>
          <a:blip r:embed="rId2"/>
          <a:stretch>
            <a:fillRect/>
          </a:stretch>
        </p:blipFill>
        <p:spPr>
          <a:xfrm>
            <a:off x="2362200" y="2305050"/>
            <a:ext cx="2486025" cy="2247900"/>
          </a:xfrm>
          <a:prstGeom prst="rect">
            <a:avLst/>
          </a:prstGeom>
        </p:spPr>
      </p:pic>
      <p:graphicFrame>
        <p:nvGraphicFramePr>
          <p:cNvPr id="8" name="Object 7"/>
          <p:cNvGraphicFramePr>
            <a:graphicFrameLocks noChangeAspect="1"/>
          </p:cNvGraphicFramePr>
          <p:nvPr/>
        </p:nvGraphicFramePr>
        <p:xfrm>
          <a:off x="8839200" y="3276600"/>
          <a:ext cx="228600" cy="361950"/>
        </p:xfrm>
        <a:graphic>
          <a:graphicData uri="http://schemas.openxmlformats.org/presentationml/2006/ole">
            <mc:AlternateContent xmlns:mc="http://schemas.openxmlformats.org/markup-compatibility/2006">
              <mc:Choice xmlns:v="urn:schemas-microsoft-com:vml" Requires="v">
                <p:oleObj name="Equation" r:id="rId3" imgW="152280" imgH="241200" progId="Equation.3">
                  <p:embed/>
                </p:oleObj>
              </mc:Choice>
              <mc:Fallback>
                <p:oleObj name="Equation" r:id="rId3" imgW="152280" imgH="241200" progId="Equation.3">
                  <p:embed/>
                  <p:pic>
                    <p:nvPicPr>
                      <p:cNvPr id="8" name="Object 7"/>
                      <p:cNvPicPr/>
                      <p:nvPr/>
                    </p:nvPicPr>
                    <p:blipFill>
                      <a:blip r:embed="rId4"/>
                      <a:stretch>
                        <a:fillRect/>
                      </a:stretch>
                    </p:blipFill>
                    <p:spPr>
                      <a:xfrm>
                        <a:off x="8839200" y="3276600"/>
                        <a:ext cx="228600" cy="361950"/>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6C967A15-B885-71E0-2238-4A08C3D58CE6}"/>
              </a:ext>
            </a:extLst>
          </p:cNvPr>
          <p:cNvSpPr txBox="1"/>
          <p:nvPr/>
        </p:nvSpPr>
        <p:spPr>
          <a:xfrm>
            <a:off x="2574528" y="4552950"/>
            <a:ext cx="1866345" cy="369332"/>
          </a:xfrm>
          <a:prstGeom prst="rect">
            <a:avLst/>
          </a:prstGeom>
          <a:noFill/>
        </p:spPr>
        <p:txBody>
          <a:bodyPr wrap="none" rtlCol="0">
            <a:spAutoFit/>
          </a:bodyPr>
          <a:lstStyle/>
          <a:p>
            <a:r>
              <a:rPr lang="en-US" dirty="0"/>
              <a:t> Graphical Symbol</a:t>
            </a:r>
          </a:p>
        </p:txBody>
      </p:sp>
    </p:spTree>
    <p:extLst>
      <p:ext uri="{BB962C8B-B14F-4D97-AF65-F5344CB8AC3E}">
        <p14:creationId xmlns:p14="http://schemas.microsoft.com/office/powerpoint/2010/main" val="37154780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 Flip flop</a:t>
            </a:r>
          </a:p>
        </p:txBody>
      </p:sp>
      <p:sp>
        <p:nvSpPr>
          <p:cNvPr id="5" name="TextBox 4"/>
          <p:cNvSpPr txBox="1"/>
          <p:nvPr/>
        </p:nvSpPr>
        <p:spPr>
          <a:xfrm>
            <a:off x="4101737" y="5956663"/>
            <a:ext cx="3331029" cy="369332"/>
          </a:xfrm>
          <a:prstGeom prst="rect">
            <a:avLst/>
          </a:prstGeom>
          <a:noFill/>
        </p:spPr>
        <p:txBody>
          <a:bodyPr wrap="square" rtlCol="0">
            <a:spAutoFit/>
          </a:bodyPr>
          <a:lstStyle/>
          <a:p>
            <a:pPr algn="ctr"/>
            <a:r>
              <a:rPr lang="en-IN" dirty="0"/>
              <a:t>T FF Logic Diagram</a:t>
            </a:r>
          </a:p>
        </p:txBody>
      </p:sp>
      <p:pic>
        <p:nvPicPr>
          <p:cNvPr id="6" name="Content Placeholder 3"/>
          <p:cNvPicPr>
            <a:picLocks noChangeAspect="1"/>
          </p:cNvPicPr>
          <p:nvPr/>
        </p:nvPicPr>
        <p:blipFill>
          <a:blip r:embed="rId2"/>
          <a:stretch>
            <a:fillRect/>
          </a:stretch>
        </p:blipFill>
        <p:spPr>
          <a:xfrm>
            <a:off x="8323217" y="1956113"/>
            <a:ext cx="3868783" cy="3018409"/>
          </a:xfrm>
          <a:prstGeom prst="rect">
            <a:avLst/>
          </a:prstGeom>
        </p:spPr>
      </p:pic>
      <p:pic>
        <p:nvPicPr>
          <p:cNvPr id="9" name="Picture 8">
            <a:extLst>
              <a:ext uri="{FF2B5EF4-FFF2-40B4-BE49-F238E27FC236}">
                <a16:creationId xmlns:a16="http://schemas.microsoft.com/office/drawing/2014/main" id="{374E4CAA-73FE-8B36-1D6A-0127045D8891}"/>
              </a:ext>
            </a:extLst>
          </p:cNvPr>
          <p:cNvPicPr>
            <a:picLocks noChangeAspect="1"/>
          </p:cNvPicPr>
          <p:nvPr/>
        </p:nvPicPr>
        <p:blipFill>
          <a:blip r:embed="rId3"/>
          <a:stretch>
            <a:fillRect/>
          </a:stretch>
        </p:blipFill>
        <p:spPr>
          <a:xfrm>
            <a:off x="838199" y="1956114"/>
            <a:ext cx="6960039" cy="2869886"/>
          </a:xfrm>
          <a:prstGeom prst="rect">
            <a:avLst/>
          </a:prstGeom>
        </p:spPr>
      </p:pic>
    </p:spTree>
    <p:extLst>
      <p:ext uri="{BB962C8B-B14F-4D97-AF65-F5344CB8AC3E}">
        <p14:creationId xmlns:p14="http://schemas.microsoft.com/office/powerpoint/2010/main" val="8271409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6022" y="1455344"/>
            <a:ext cx="3868783" cy="3018409"/>
          </a:xfrm>
          <a:prstGeom prst="rect">
            <a:avLst/>
          </a:prstGeom>
        </p:spPr>
      </p:pic>
      <p:pic>
        <p:nvPicPr>
          <p:cNvPr id="5" name="Picture 4"/>
          <p:cNvPicPr>
            <a:picLocks noChangeAspect="1"/>
          </p:cNvPicPr>
          <p:nvPr/>
        </p:nvPicPr>
        <p:blipFill>
          <a:blip r:embed="rId3"/>
          <a:stretch>
            <a:fillRect/>
          </a:stretch>
        </p:blipFill>
        <p:spPr>
          <a:xfrm>
            <a:off x="7072448" y="1455344"/>
            <a:ext cx="3874227" cy="3804386"/>
          </a:xfrm>
          <a:prstGeom prst="rect">
            <a:avLst/>
          </a:prstGeom>
        </p:spPr>
      </p:pic>
    </p:spTree>
    <p:extLst>
      <p:ext uri="{BB962C8B-B14F-4D97-AF65-F5344CB8AC3E}">
        <p14:creationId xmlns:p14="http://schemas.microsoft.com/office/powerpoint/2010/main" val="3665627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456455"/>
            <a:ext cx="10973212" cy="307777"/>
          </a:xfrm>
        </p:spPr>
        <p:txBody>
          <a:bodyPr>
            <a:normAutofit fontScale="90000"/>
          </a:bodyPr>
          <a:lstStyle/>
          <a:p>
            <a:r>
              <a:rPr lang="en-IN" sz="2000" dirty="0">
                <a:latin typeface="Times New Roman" panose="02020603050405020304" pitchFamily="18" charset="0"/>
                <a:cs typeface="Times New Roman" panose="02020603050405020304" pitchFamily="18" charset="0"/>
              </a:rPr>
              <a:t>Excitation Table</a:t>
            </a:r>
          </a:p>
        </p:txBody>
      </p:sp>
      <p:graphicFrame>
        <p:nvGraphicFramePr>
          <p:cNvPr id="4" name="Table 3"/>
          <p:cNvGraphicFramePr>
            <a:graphicFrameLocks noGrp="1"/>
          </p:cNvGraphicFramePr>
          <p:nvPr/>
        </p:nvGraphicFramePr>
        <p:xfrm>
          <a:off x="7467600" y="1905000"/>
          <a:ext cx="2800352" cy="2042160"/>
        </p:xfrm>
        <a:graphic>
          <a:graphicData uri="http://schemas.openxmlformats.org/drawingml/2006/table">
            <a:tbl>
              <a:tblPr firstRow="1" bandRow="1">
                <a:tableStyleId>{5C22544A-7EE6-4342-B048-85BDC9FD1C3A}</a:tableStyleId>
              </a:tblPr>
              <a:tblGrid>
                <a:gridCol w="700088">
                  <a:extLst>
                    <a:ext uri="{9D8B030D-6E8A-4147-A177-3AD203B41FA5}">
                      <a16:colId xmlns:a16="http://schemas.microsoft.com/office/drawing/2014/main" val="600426757"/>
                    </a:ext>
                  </a:extLst>
                </a:gridCol>
                <a:gridCol w="700088">
                  <a:extLst>
                    <a:ext uri="{9D8B030D-6E8A-4147-A177-3AD203B41FA5}">
                      <a16:colId xmlns:a16="http://schemas.microsoft.com/office/drawing/2014/main" val="879319583"/>
                    </a:ext>
                  </a:extLst>
                </a:gridCol>
                <a:gridCol w="700088">
                  <a:extLst>
                    <a:ext uri="{9D8B030D-6E8A-4147-A177-3AD203B41FA5}">
                      <a16:colId xmlns:a16="http://schemas.microsoft.com/office/drawing/2014/main" val="2054890486"/>
                    </a:ext>
                  </a:extLst>
                </a:gridCol>
                <a:gridCol w="700088">
                  <a:extLst>
                    <a:ext uri="{9D8B030D-6E8A-4147-A177-3AD203B41FA5}">
                      <a16:colId xmlns:a16="http://schemas.microsoft.com/office/drawing/2014/main" val="446676443"/>
                    </a:ext>
                  </a:extLst>
                </a:gridCol>
              </a:tblGrid>
              <a:tr h="457200">
                <a:tc>
                  <a:txBody>
                    <a:bodyPr/>
                    <a:lstStyle/>
                    <a:p>
                      <a:pPr algn="ctr"/>
                      <a:r>
                        <a:rPr lang="en-IN" sz="2000" dirty="0" err="1">
                          <a:solidFill>
                            <a:schemeClr val="tx1"/>
                          </a:solidFill>
                          <a:latin typeface="Times New Roman" panose="02020603050405020304" pitchFamily="18" charset="0"/>
                          <a:cs typeface="Times New Roman" panose="02020603050405020304" pitchFamily="18" charset="0"/>
                        </a:rPr>
                        <a:t>Q</a:t>
                      </a:r>
                      <a:r>
                        <a:rPr lang="en-IN" sz="2000" baseline="-25000" dirty="0" err="1">
                          <a:solidFill>
                            <a:schemeClr val="tx1"/>
                          </a:solidFill>
                          <a:latin typeface="Times New Roman" panose="02020603050405020304" pitchFamily="18" charset="0"/>
                          <a:cs typeface="Times New Roman" panose="02020603050405020304" pitchFamily="18" charset="0"/>
                        </a:rPr>
                        <a:t>n</a:t>
                      </a:r>
                      <a:endParaRPr lang="en-IN" sz="2000" baseline="-25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Q</a:t>
                      </a:r>
                      <a:r>
                        <a:rPr lang="en-IN" sz="2000" baseline="-25000" dirty="0">
                          <a:solidFill>
                            <a:schemeClr val="tx1"/>
                          </a:solidFill>
                          <a:latin typeface="Times New Roman" panose="02020603050405020304" pitchFamily="18" charset="0"/>
                          <a:cs typeface="Times New Roman" panose="02020603050405020304" pitchFamily="18" charset="0"/>
                        </a:rPr>
                        <a:t>n+1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J</a:t>
                      </a:r>
                      <a:endParaRPr lang="en-IN" sz="2000" baseline="30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1" baseline="0" dirty="0">
                          <a:solidFill>
                            <a:schemeClr val="tx1"/>
                          </a:solidFill>
                          <a:latin typeface="Times New Roman" panose="02020603050405020304" pitchFamily="18" charset="0"/>
                          <a:cs typeface="Times New Roman" panose="02020603050405020304" pitchFamily="18" charset="0"/>
                        </a:rPr>
                        <a:t>K</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9422852"/>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dirty="0">
                          <a:solidFill>
                            <a:schemeClr val="tx1"/>
                          </a:solidFill>
                          <a:latin typeface="Times New Roman" panose="02020603050405020304" pitchFamily="18" charset="0"/>
                          <a:cs typeface="Times New Roman" panose="02020603050405020304" pitchFamily="18" charset="0"/>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05155164"/>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dirty="0">
                          <a:solidFill>
                            <a:schemeClr val="tx1"/>
                          </a:solidFill>
                          <a:latin typeface="Times New Roman" panose="02020603050405020304" pitchFamily="18" charset="0"/>
                          <a:cs typeface="Times New Roman" panose="02020603050405020304" pitchFamily="18" charset="0"/>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5019140"/>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6346424"/>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9215534"/>
                  </a:ext>
                </a:extLst>
              </a:tr>
            </a:tbl>
          </a:graphicData>
        </a:graphic>
      </p:graphicFrame>
      <p:graphicFrame>
        <p:nvGraphicFramePr>
          <p:cNvPr id="5" name="Table 4"/>
          <p:cNvGraphicFramePr>
            <a:graphicFrameLocks noGrp="1"/>
          </p:cNvGraphicFramePr>
          <p:nvPr/>
        </p:nvGraphicFramePr>
        <p:xfrm>
          <a:off x="838200" y="1295400"/>
          <a:ext cx="3733800" cy="3566160"/>
        </p:xfrm>
        <a:graphic>
          <a:graphicData uri="http://schemas.openxmlformats.org/drawingml/2006/table">
            <a:tbl>
              <a:tblPr firstRow="1" bandRow="1">
                <a:tableStyleId>{5C22544A-7EE6-4342-B048-85BDC9FD1C3A}</a:tableStyleId>
              </a:tblPr>
              <a:tblGrid>
                <a:gridCol w="933450">
                  <a:extLst>
                    <a:ext uri="{9D8B030D-6E8A-4147-A177-3AD203B41FA5}">
                      <a16:colId xmlns:a16="http://schemas.microsoft.com/office/drawing/2014/main" val="2232989651"/>
                    </a:ext>
                  </a:extLst>
                </a:gridCol>
                <a:gridCol w="933450">
                  <a:extLst>
                    <a:ext uri="{9D8B030D-6E8A-4147-A177-3AD203B41FA5}">
                      <a16:colId xmlns:a16="http://schemas.microsoft.com/office/drawing/2014/main" val="600426757"/>
                    </a:ext>
                  </a:extLst>
                </a:gridCol>
                <a:gridCol w="933450">
                  <a:extLst>
                    <a:ext uri="{9D8B030D-6E8A-4147-A177-3AD203B41FA5}">
                      <a16:colId xmlns:a16="http://schemas.microsoft.com/office/drawing/2014/main" val="879319583"/>
                    </a:ext>
                  </a:extLst>
                </a:gridCol>
                <a:gridCol w="933450">
                  <a:extLst>
                    <a:ext uri="{9D8B030D-6E8A-4147-A177-3AD203B41FA5}">
                      <a16:colId xmlns:a16="http://schemas.microsoft.com/office/drawing/2014/main" val="2054890486"/>
                    </a:ext>
                  </a:extLst>
                </a:gridCol>
              </a:tblGrid>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Q</a:t>
                      </a:r>
                      <a:r>
                        <a:rPr lang="en-IN" sz="2000" baseline="30000" dirty="0">
                          <a:solidFill>
                            <a:schemeClr val="tx1"/>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9422852"/>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05155164"/>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5019140"/>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6346424"/>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9215534"/>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2298826"/>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5989978"/>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08298311"/>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76160169"/>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1018080" y="2009160"/>
              <a:ext cx="3286440" cy="2813400"/>
            </p14:xfrm>
          </p:contentPart>
        </mc:Choice>
        <mc:Fallback xmlns="">
          <p:pic>
            <p:nvPicPr>
              <p:cNvPr id="3" name="Ink 2"/>
              <p:cNvPicPr/>
              <p:nvPr/>
            </p:nvPicPr>
            <p:blipFill>
              <a:blip r:embed="rId3"/>
              <a:stretch>
                <a:fillRect/>
              </a:stretch>
            </p:blipFill>
            <p:spPr>
              <a:xfrm>
                <a:off x="1008720" y="1999800"/>
                <a:ext cx="3305160" cy="2832120"/>
              </a:xfrm>
              <a:prstGeom prst="rect">
                <a:avLst/>
              </a:prstGeom>
            </p:spPr>
          </p:pic>
        </mc:Fallback>
      </mc:AlternateContent>
    </p:spTree>
    <p:extLst>
      <p:ext uri="{BB962C8B-B14F-4D97-AF65-F5344CB8AC3E}">
        <p14:creationId xmlns:p14="http://schemas.microsoft.com/office/powerpoint/2010/main" val="4177584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295400" y="1752600"/>
          <a:ext cx="2800352" cy="2042160"/>
        </p:xfrm>
        <a:graphic>
          <a:graphicData uri="http://schemas.openxmlformats.org/drawingml/2006/table">
            <a:tbl>
              <a:tblPr firstRow="1" bandRow="1">
                <a:tableStyleId>{5C22544A-7EE6-4342-B048-85BDC9FD1C3A}</a:tableStyleId>
              </a:tblPr>
              <a:tblGrid>
                <a:gridCol w="700088">
                  <a:extLst>
                    <a:ext uri="{9D8B030D-6E8A-4147-A177-3AD203B41FA5}">
                      <a16:colId xmlns:a16="http://schemas.microsoft.com/office/drawing/2014/main" val="600426757"/>
                    </a:ext>
                  </a:extLst>
                </a:gridCol>
                <a:gridCol w="700088">
                  <a:extLst>
                    <a:ext uri="{9D8B030D-6E8A-4147-A177-3AD203B41FA5}">
                      <a16:colId xmlns:a16="http://schemas.microsoft.com/office/drawing/2014/main" val="879319583"/>
                    </a:ext>
                  </a:extLst>
                </a:gridCol>
                <a:gridCol w="700088">
                  <a:extLst>
                    <a:ext uri="{9D8B030D-6E8A-4147-A177-3AD203B41FA5}">
                      <a16:colId xmlns:a16="http://schemas.microsoft.com/office/drawing/2014/main" val="2054890486"/>
                    </a:ext>
                  </a:extLst>
                </a:gridCol>
                <a:gridCol w="700088">
                  <a:extLst>
                    <a:ext uri="{9D8B030D-6E8A-4147-A177-3AD203B41FA5}">
                      <a16:colId xmlns:a16="http://schemas.microsoft.com/office/drawing/2014/main" val="446676443"/>
                    </a:ext>
                  </a:extLst>
                </a:gridCol>
              </a:tblGrid>
              <a:tr h="457200">
                <a:tc>
                  <a:txBody>
                    <a:bodyPr/>
                    <a:lstStyle/>
                    <a:p>
                      <a:pPr algn="ctr"/>
                      <a:r>
                        <a:rPr lang="en-IN" sz="2000" dirty="0" err="1">
                          <a:solidFill>
                            <a:schemeClr val="tx1"/>
                          </a:solidFill>
                          <a:latin typeface="Times New Roman" panose="02020603050405020304" pitchFamily="18" charset="0"/>
                          <a:cs typeface="Times New Roman" panose="02020603050405020304" pitchFamily="18" charset="0"/>
                        </a:rPr>
                        <a:t>Q</a:t>
                      </a:r>
                      <a:r>
                        <a:rPr lang="en-IN" sz="2000" baseline="-25000" dirty="0" err="1">
                          <a:solidFill>
                            <a:schemeClr val="tx1"/>
                          </a:solidFill>
                          <a:latin typeface="Times New Roman" panose="02020603050405020304" pitchFamily="18" charset="0"/>
                          <a:cs typeface="Times New Roman" panose="02020603050405020304" pitchFamily="18" charset="0"/>
                        </a:rPr>
                        <a:t>n</a:t>
                      </a:r>
                      <a:endParaRPr lang="en-IN" sz="2000" baseline="-25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Q</a:t>
                      </a:r>
                      <a:r>
                        <a:rPr lang="en-IN" sz="2000" baseline="-25000" dirty="0">
                          <a:solidFill>
                            <a:schemeClr val="tx1"/>
                          </a:solidFill>
                          <a:latin typeface="Times New Roman" panose="02020603050405020304" pitchFamily="18" charset="0"/>
                          <a:cs typeface="Times New Roman" panose="02020603050405020304" pitchFamily="18" charset="0"/>
                        </a:rPr>
                        <a:t>n+1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S</a:t>
                      </a:r>
                      <a:endParaRPr lang="en-IN" sz="2000" baseline="30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1" baseline="0" dirty="0">
                          <a:solidFill>
                            <a:schemeClr val="tx1"/>
                          </a:solidFill>
                          <a:latin typeface="Times New Roman" panose="02020603050405020304" pitchFamily="18" charset="0"/>
                          <a:cs typeface="Times New Roman" panose="02020603050405020304" pitchFamily="18" charset="0"/>
                        </a:rPr>
                        <a:t>R</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9422852"/>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dirty="0">
                          <a:solidFill>
                            <a:schemeClr val="tx1"/>
                          </a:solidFill>
                          <a:latin typeface="Times New Roman" panose="02020603050405020304" pitchFamily="18" charset="0"/>
                          <a:cs typeface="Times New Roman" panose="02020603050405020304" pitchFamily="18" charset="0"/>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05155164"/>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5019140"/>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6346424"/>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9215534"/>
                  </a:ext>
                </a:extLst>
              </a:tr>
            </a:tbl>
          </a:graphicData>
        </a:graphic>
      </p:graphicFrame>
      <p:sp>
        <p:nvSpPr>
          <p:cNvPr id="5" name="Title 1"/>
          <p:cNvSpPr>
            <a:spLocks noGrp="1"/>
          </p:cNvSpPr>
          <p:nvPr>
            <p:ph type="title"/>
          </p:nvPr>
        </p:nvSpPr>
        <p:spPr>
          <a:xfrm>
            <a:off x="609602" y="456455"/>
            <a:ext cx="10973212" cy="307777"/>
          </a:xfrm>
        </p:spPr>
        <p:txBody>
          <a:bodyPr>
            <a:normAutofit fontScale="90000"/>
          </a:bodyPr>
          <a:lstStyle/>
          <a:p>
            <a:r>
              <a:rPr lang="en-IN" sz="2000" dirty="0">
                <a:latin typeface="Times New Roman" panose="02020603050405020304" pitchFamily="18" charset="0"/>
                <a:cs typeface="Times New Roman" panose="02020603050405020304" pitchFamily="18" charset="0"/>
              </a:rPr>
              <a:t>Excitation Table</a:t>
            </a:r>
          </a:p>
        </p:txBody>
      </p:sp>
      <p:graphicFrame>
        <p:nvGraphicFramePr>
          <p:cNvPr id="6" name="Table 5"/>
          <p:cNvGraphicFramePr>
            <a:graphicFrameLocks noGrp="1"/>
          </p:cNvGraphicFramePr>
          <p:nvPr/>
        </p:nvGraphicFramePr>
        <p:xfrm>
          <a:off x="5645944" y="1752600"/>
          <a:ext cx="2100264" cy="2042160"/>
        </p:xfrm>
        <a:graphic>
          <a:graphicData uri="http://schemas.openxmlformats.org/drawingml/2006/table">
            <a:tbl>
              <a:tblPr firstRow="1" bandRow="1">
                <a:tableStyleId>{5C22544A-7EE6-4342-B048-85BDC9FD1C3A}</a:tableStyleId>
              </a:tblPr>
              <a:tblGrid>
                <a:gridCol w="700088">
                  <a:extLst>
                    <a:ext uri="{9D8B030D-6E8A-4147-A177-3AD203B41FA5}">
                      <a16:colId xmlns:a16="http://schemas.microsoft.com/office/drawing/2014/main" val="600426757"/>
                    </a:ext>
                  </a:extLst>
                </a:gridCol>
                <a:gridCol w="700088">
                  <a:extLst>
                    <a:ext uri="{9D8B030D-6E8A-4147-A177-3AD203B41FA5}">
                      <a16:colId xmlns:a16="http://schemas.microsoft.com/office/drawing/2014/main" val="879319583"/>
                    </a:ext>
                  </a:extLst>
                </a:gridCol>
                <a:gridCol w="700088">
                  <a:extLst>
                    <a:ext uri="{9D8B030D-6E8A-4147-A177-3AD203B41FA5}">
                      <a16:colId xmlns:a16="http://schemas.microsoft.com/office/drawing/2014/main" val="2054890486"/>
                    </a:ext>
                  </a:extLst>
                </a:gridCol>
              </a:tblGrid>
              <a:tr h="457200">
                <a:tc>
                  <a:txBody>
                    <a:bodyPr/>
                    <a:lstStyle/>
                    <a:p>
                      <a:pPr algn="ctr"/>
                      <a:r>
                        <a:rPr lang="en-IN" sz="2000" dirty="0" err="1">
                          <a:solidFill>
                            <a:schemeClr val="tx1"/>
                          </a:solidFill>
                          <a:latin typeface="Times New Roman" panose="02020603050405020304" pitchFamily="18" charset="0"/>
                          <a:cs typeface="Times New Roman" panose="02020603050405020304" pitchFamily="18" charset="0"/>
                        </a:rPr>
                        <a:t>Q</a:t>
                      </a:r>
                      <a:r>
                        <a:rPr lang="en-IN" sz="2000" baseline="-25000" dirty="0" err="1">
                          <a:solidFill>
                            <a:schemeClr val="tx1"/>
                          </a:solidFill>
                          <a:latin typeface="Times New Roman" panose="02020603050405020304" pitchFamily="18" charset="0"/>
                          <a:cs typeface="Times New Roman" panose="02020603050405020304" pitchFamily="18" charset="0"/>
                        </a:rPr>
                        <a:t>n</a:t>
                      </a:r>
                      <a:endParaRPr lang="en-IN" sz="2000" baseline="-25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Q</a:t>
                      </a:r>
                      <a:r>
                        <a:rPr lang="en-IN" sz="2000" baseline="-25000" dirty="0">
                          <a:solidFill>
                            <a:schemeClr val="tx1"/>
                          </a:solidFill>
                          <a:latin typeface="Times New Roman" panose="02020603050405020304" pitchFamily="18" charset="0"/>
                          <a:cs typeface="Times New Roman" panose="02020603050405020304" pitchFamily="18" charset="0"/>
                        </a:rPr>
                        <a:t>n+1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D</a:t>
                      </a:r>
                      <a:endParaRPr lang="en-IN" sz="2000" baseline="30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9422852"/>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05155164"/>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5019140"/>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6346424"/>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9215534"/>
                  </a:ext>
                </a:extLst>
              </a:tr>
            </a:tbl>
          </a:graphicData>
        </a:graphic>
      </p:graphicFrame>
      <p:graphicFrame>
        <p:nvGraphicFramePr>
          <p:cNvPr id="7" name="Table 6"/>
          <p:cNvGraphicFramePr>
            <a:graphicFrameLocks noGrp="1"/>
          </p:cNvGraphicFramePr>
          <p:nvPr/>
        </p:nvGraphicFramePr>
        <p:xfrm>
          <a:off x="9296400" y="1731818"/>
          <a:ext cx="2100264" cy="2042160"/>
        </p:xfrm>
        <a:graphic>
          <a:graphicData uri="http://schemas.openxmlformats.org/drawingml/2006/table">
            <a:tbl>
              <a:tblPr firstRow="1" bandRow="1">
                <a:tableStyleId>{5C22544A-7EE6-4342-B048-85BDC9FD1C3A}</a:tableStyleId>
              </a:tblPr>
              <a:tblGrid>
                <a:gridCol w="700088">
                  <a:extLst>
                    <a:ext uri="{9D8B030D-6E8A-4147-A177-3AD203B41FA5}">
                      <a16:colId xmlns:a16="http://schemas.microsoft.com/office/drawing/2014/main" val="600426757"/>
                    </a:ext>
                  </a:extLst>
                </a:gridCol>
                <a:gridCol w="700088">
                  <a:extLst>
                    <a:ext uri="{9D8B030D-6E8A-4147-A177-3AD203B41FA5}">
                      <a16:colId xmlns:a16="http://schemas.microsoft.com/office/drawing/2014/main" val="879319583"/>
                    </a:ext>
                  </a:extLst>
                </a:gridCol>
                <a:gridCol w="700088">
                  <a:extLst>
                    <a:ext uri="{9D8B030D-6E8A-4147-A177-3AD203B41FA5}">
                      <a16:colId xmlns:a16="http://schemas.microsoft.com/office/drawing/2014/main" val="2054890486"/>
                    </a:ext>
                  </a:extLst>
                </a:gridCol>
              </a:tblGrid>
              <a:tr h="457200">
                <a:tc>
                  <a:txBody>
                    <a:bodyPr/>
                    <a:lstStyle/>
                    <a:p>
                      <a:pPr algn="ctr"/>
                      <a:r>
                        <a:rPr lang="en-IN" sz="2000" dirty="0" err="1">
                          <a:solidFill>
                            <a:schemeClr val="tx1"/>
                          </a:solidFill>
                          <a:latin typeface="Times New Roman" panose="02020603050405020304" pitchFamily="18" charset="0"/>
                          <a:cs typeface="Times New Roman" panose="02020603050405020304" pitchFamily="18" charset="0"/>
                        </a:rPr>
                        <a:t>Q</a:t>
                      </a:r>
                      <a:r>
                        <a:rPr lang="en-IN" sz="2000" baseline="-25000" dirty="0" err="1">
                          <a:solidFill>
                            <a:schemeClr val="tx1"/>
                          </a:solidFill>
                          <a:latin typeface="Times New Roman" panose="02020603050405020304" pitchFamily="18" charset="0"/>
                          <a:cs typeface="Times New Roman" panose="02020603050405020304" pitchFamily="18" charset="0"/>
                        </a:rPr>
                        <a:t>n</a:t>
                      </a:r>
                      <a:endParaRPr lang="en-IN" sz="2000" baseline="-25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Q</a:t>
                      </a:r>
                      <a:r>
                        <a:rPr lang="en-IN" sz="2000" baseline="-25000" dirty="0">
                          <a:solidFill>
                            <a:schemeClr val="tx1"/>
                          </a:solidFill>
                          <a:latin typeface="Times New Roman" panose="02020603050405020304" pitchFamily="18" charset="0"/>
                          <a:cs typeface="Times New Roman" panose="02020603050405020304" pitchFamily="18" charset="0"/>
                        </a:rPr>
                        <a:t>n+1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T</a:t>
                      </a:r>
                      <a:endParaRPr lang="en-IN" sz="2000" baseline="30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9422852"/>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05155164"/>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5019140"/>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6346424"/>
                  </a:ext>
                </a:extLst>
              </a:tr>
              <a:tr h="33020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9215534"/>
                  </a:ext>
                </a:extLst>
              </a:tr>
            </a:tbl>
          </a:graphicData>
        </a:graphic>
      </p:graphicFrame>
    </p:spTree>
    <p:extLst>
      <p:ext uri="{BB962C8B-B14F-4D97-AF65-F5344CB8AC3E}">
        <p14:creationId xmlns:p14="http://schemas.microsoft.com/office/powerpoint/2010/main" val="4209118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11691</TotalTime>
  <Words>2698</Words>
  <Application>Microsoft Office PowerPoint</Application>
  <PresentationFormat>Widescreen</PresentationFormat>
  <Paragraphs>310</Paragraphs>
  <Slides>49</Slides>
  <Notes>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61" baseType="lpstr">
      <vt:lpstr>Arial</vt:lpstr>
      <vt:lpstr>Arial Unicode MS</vt:lpstr>
      <vt:lpstr>Calibri</vt:lpstr>
      <vt:lpstr>Calibri Light</vt:lpstr>
      <vt:lpstr>Cambria Math</vt:lpstr>
      <vt:lpstr>MathematicalPi-One</vt:lpstr>
      <vt:lpstr>PearsonMATH08</vt:lpstr>
      <vt:lpstr>Times New Roman</vt:lpstr>
      <vt:lpstr>TimesTenLTStd-Italic</vt:lpstr>
      <vt:lpstr>TimesTenLTStd-Roman</vt:lpstr>
      <vt:lpstr>Office Theme</vt:lpstr>
      <vt:lpstr>Equation</vt:lpstr>
      <vt:lpstr>Synchronous Sequential Circuits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Storage Elements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SR latch with Control input</vt:lpstr>
      <vt:lpstr>PowerPoint Presentation</vt:lpstr>
      <vt:lpstr>Storage Element : Flip Flop</vt:lpstr>
      <vt:lpstr>PowerPoint Presentation</vt:lpstr>
      <vt:lpstr>Flip Flop</vt:lpstr>
      <vt:lpstr>PowerPoint Presentation</vt:lpstr>
      <vt:lpstr>Edge Triggered D Flip Flop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 Flip Flop</vt:lpstr>
      <vt:lpstr>PowerPoint Presentation</vt:lpstr>
      <vt:lpstr>S R Flip Flop</vt:lpstr>
      <vt:lpstr>PowerPoint Presentation</vt:lpstr>
      <vt:lpstr>JK Flip flop</vt:lpstr>
      <vt:lpstr>J K Flip Flop</vt:lpstr>
      <vt:lpstr>JK Flip flop</vt:lpstr>
      <vt:lpstr>PowerPoint Presentation</vt:lpstr>
      <vt:lpstr>T Flip Flop</vt:lpstr>
      <vt:lpstr>T Flip flop</vt:lpstr>
      <vt:lpstr>PowerPoint Presentation</vt:lpstr>
      <vt:lpstr>Excitation Table</vt:lpstr>
      <vt:lpstr>Excitation Table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Synchronous Sequential Circuits</dc:title>
  <dc:creator>Varadaraj K B</dc:creator>
  <cp:lastModifiedBy>Shashank Nandan</cp:lastModifiedBy>
  <cp:revision>126</cp:revision>
  <dcterms:created xsi:type="dcterms:W3CDTF">2020-09-30T04:28:55Z</dcterms:created>
  <dcterms:modified xsi:type="dcterms:W3CDTF">2025-11-06T05:51:22Z</dcterms:modified>
</cp:coreProperties>
</file>