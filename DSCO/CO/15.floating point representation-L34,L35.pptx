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341" r:id="rId4"/>
    <p:sldId id="339" r:id="rId5"/>
    <p:sldId id="258" r:id="rId6"/>
    <p:sldId id="342" r:id="rId7"/>
    <p:sldId id="374" r:id="rId8"/>
    <p:sldId id="375" r:id="rId9"/>
    <p:sldId id="376" r:id="rId10"/>
    <p:sldId id="343" r:id="rId11"/>
    <p:sldId id="344" r:id="rId12"/>
    <p:sldId id="345" r:id="rId13"/>
    <p:sldId id="346" r:id="rId14"/>
    <p:sldId id="347" r:id="rId15"/>
    <p:sldId id="348" r:id="rId16"/>
    <p:sldId id="349" r:id="rId17"/>
    <p:sldId id="350" r:id="rId18"/>
    <p:sldId id="351" r:id="rId19"/>
    <p:sldId id="352" r:id="rId20"/>
    <p:sldId id="353" r:id="rId21"/>
    <p:sldId id="354" r:id="rId22"/>
    <p:sldId id="377" r:id="rId23"/>
    <p:sldId id="365" r:id="rId24"/>
    <p:sldId id="355" r:id="rId25"/>
    <p:sldId id="368" r:id="rId26"/>
    <p:sldId id="366" r:id="rId27"/>
    <p:sldId id="367" r:id="rId28"/>
    <p:sldId id="369" r:id="rId29"/>
    <p:sldId id="370" r:id="rId30"/>
    <p:sldId id="371" r:id="rId31"/>
    <p:sldId id="372" r:id="rId32"/>
    <p:sldId id="373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3F00F5-094F-4EA4-AEC1-A2C592BC7AA2}" type="datetimeFigureOut">
              <a:rPr lang="en-IN" smtClean="0"/>
              <a:t>13-10-2025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109FEA-F736-4F2C-B69D-E308C83D8C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72094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109FEA-F736-4F2C-B69D-E308C83D8C97}" type="slidenum">
              <a:rPr lang="en-IN" smtClean="0"/>
              <a:t>29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55217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CD54FE-0EC1-1B9C-7687-7E97AD5A82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9E846C-9B6D-27BE-C2A8-6B2E9D6E4B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A4D51B-AE63-5CB3-C476-CDDF7400A7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DA895-5A83-46E8-8D57-9177DC375D90}" type="datetimeFigureOut">
              <a:rPr lang="en-IN" smtClean="0"/>
              <a:t>13-10-2025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AA46B8-343D-8DB8-39D2-10534D79A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0A2BB9-6695-0EC1-D50F-2B6D0A54E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BC2D4-CDDC-46D4-8873-A25D52FB60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53214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7AA5A-7FD3-A118-09E7-5B79F15E4F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BC9658-FC01-95A8-6039-C76685FBD7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58B1DD-BCBE-56B4-5E45-4827690E90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DA895-5A83-46E8-8D57-9177DC375D90}" type="datetimeFigureOut">
              <a:rPr lang="en-IN" smtClean="0"/>
              <a:t>13-10-2025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939FF0-E126-C29D-EABB-2C9F093DD1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CE4330-B250-C7AD-4F0C-E3CDC9467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BC2D4-CDDC-46D4-8873-A25D52FB60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11765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6FB7B-FE88-F25F-E3DD-9A29BF3DD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7E7F35-CD7F-CCFA-A23B-68710DDA21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97F963-F694-1D73-D263-8F8180A81F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DA895-5A83-46E8-8D57-9177DC375D90}" type="datetimeFigureOut">
              <a:rPr lang="en-IN" smtClean="0"/>
              <a:t>13-10-2025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6B950D-2D53-3B8A-F066-DAFFEA3874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11A938-5614-05B7-CA76-0B15B87F9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BC2D4-CDDC-46D4-8873-A25D52FB60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9324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761D3-BEA6-C8F2-82AD-99BF088772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8504B8-57BF-0A12-8013-303AA020A6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A181F1-477A-6D7D-7B17-9D565DA6DB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7BF258-CF45-0E5C-48C4-D110E22DCA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DA895-5A83-46E8-8D57-9177DC375D90}" type="datetimeFigureOut">
              <a:rPr lang="en-IN" smtClean="0"/>
              <a:t>13-10-2025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486E68-6F21-3AE2-5B3B-47C9850981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FD21DA-885B-44F8-E64F-69F0F68B63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BC2D4-CDDC-46D4-8873-A25D52FB60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65945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5968BE-B5CB-7F58-24CB-DBB20EEC31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AF2534-CEA6-0A78-EDD3-1F86DE181C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2A2E8E-3F62-64BA-E07A-F41A29EAD4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63E897-4E94-BD4E-4729-E20741961E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B7F7CDE-917A-C937-53EC-A27974880B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E099534-7A67-6D9C-30F5-2B4F1FB419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DA895-5A83-46E8-8D57-9177DC375D90}" type="datetimeFigureOut">
              <a:rPr lang="en-IN" smtClean="0"/>
              <a:t>13-10-2025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96BBFFE-7E50-5901-96D0-9835811595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FE118C8-C4B4-4C31-7E07-1537881A3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BC2D4-CDDC-46D4-8873-A25D52FB60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43982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7C8F2-5D65-8518-7E15-8E1B9DA9DC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D1101F9-E337-F321-FC54-04316833A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DA895-5A83-46E8-8D57-9177DC375D90}" type="datetimeFigureOut">
              <a:rPr lang="en-IN" smtClean="0"/>
              <a:t>13-10-2025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D0C35F-4B25-6505-FF53-06EAB96634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584F1A-72E1-DD6C-C448-536FC6F7D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BC2D4-CDDC-46D4-8873-A25D52FB60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48953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EB59A58-5DC3-E07F-401A-F35F899F5D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DA895-5A83-46E8-8D57-9177DC375D90}" type="datetimeFigureOut">
              <a:rPr lang="en-IN" smtClean="0"/>
              <a:t>13-10-2025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3C9A5D-673F-991D-998D-5FD9637AD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2CD65C-CA13-00C3-CEA1-D3C30A6E9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BC2D4-CDDC-46D4-8873-A25D52FB60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88788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3E7AA4-FD4B-BF68-4706-26D822019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BE2BF8-2D52-315C-8DE5-AAD122A2AC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D31059-2AFE-862D-3DC4-9D1D8FB06F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C4BE7C-FAA2-924D-5A38-9F76BC5465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DA895-5A83-46E8-8D57-9177DC375D90}" type="datetimeFigureOut">
              <a:rPr lang="en-IN" smtClean="0"/>
              <a:t>13-10-2025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4523ED-28C4-3F90-F515-76ADF0D598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253D73-C70F-2453-033C-0901EE3DD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BC2D4-CDDC-46D4-8873-A25D52FB60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58045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C2A2E-EBA9-5D3D-5732-A84971620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2CCEEAD-A583-A1A4-A65E-3290FA59F6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E88492-C8B8-E6F3-31BB-B925CCC14E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0ECEE0-B654-F0B4-303D-C66CAF5BEC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DA895-5A83-46E8-8D57-9177DC375D90}" type="datetimeFigureOut">
              <a:rPr lang="en-IN" smtClean="0"/>
              <a:t>13-10-2025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6B492E-24DF-0FBC-B7CD-1D3D5FF1C7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8A7A5F-A5BC-2432-6CCF-48CA16D78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BC2D4-CDDC-46D4-8873-A25D52FB60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28605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496C6D-2EE3-6287-2ABD-669FC49FF0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E4DADE-D229-536A-70EE-6B6F314B2D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24E05F-56F7-0955-C8D3-1C06226BD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DA895-5A83-46E8-8D57-9177DC375D90}" type="datetimeFigureOut">
              <a:rPr lang="en-IN" smtClean="0"/>
              <a:t>13-10-2025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A54E07-7A0B-4231-0F1D-E0833D7C3C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2BEFAF-9F61-C6E9-8978-88208E3D4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BC2D4-CDDC-46D4-8873-A25D52FB60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43291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C185F2D-5EF0-E47A-C00D-E9B2DC0291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C5C946-2CB9-AA54-19E6-AD2C199F94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7BE020-6174-F7A3-7763-2C49ED70FD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DA895-5A83-46E8-8D57-9177DC375D90}" type="datetimeFigureOut">
              <a:rPr lang="en-IN" smtClean="0"/>
              <a:t>13-10-2025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1185B1-891F-FE90-534C-D5BDD1DB8B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4E7018-860C-2BB1-EB63-F7B725C46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BC2D4-CDDC-46D4-8873-A25D52FB60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98757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A8D29EA-969C-E334-66BB-46ACA92B0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DF288C-C5D2-E903-EE1D-F15674E798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D161ED-C133-4ECE-1AA9-3158A6CF34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DDA895-5A83-46E8-8D57-9177DC375D90}" type="datetimeFigureOut">
              <a:rPr lang="en-IN" smtClean="0"/>
              <a:t>13-10-2025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928EAB-A6AA-9F01-A772-035D6AB9C9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468803-0AA0-40AA-5CC0-5C488332BE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1BC2D4-CDDC-46D4-8873-A25D52FB60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34715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739CC-7602-7417-C157-17A9F0F3A0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120094"/>
          </a:xfrm>
        </p:spPr>
        <p:txBody>
          <a:bodyPr>
            <a:normAutofit fontScale="90000"/>
          </a:bodyPr>
          <a:lstStyle/>
          <a:p>
            <a:r>
              <a:rPr lang="en-IN" dirty="0"/>
              <a:t>Normalization of floating point numbers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43A5A0-6B85-BF45-8839-6839B0DB7B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242457"/>
            <a:ext cx="9383486" cy="4093029"/>
          </a:xfrm>
        </p:spPr>
        <p:txBody>
          <a:bodyPr/>
          <a:lstStyle/>
          <a:p>
            <a:r>
              <a:rPr lang="en-US" b="1" dirty="0"/>
              <a:t>Normalization</a:t>
            </a:r>
            <a:r>
              <a:rPr lang="en-US" dirty="0"/>
              <a:t> means </a:t>
            </a:r>
            <a:r>
              <a:rPr lang="en-US" b="1" dirty="0"/>
              <a:t>adjusting</a:t>
            </a:r>
            <a:r>
              <a:rPr lang="en-US" dirty="0"/>
              <a:t> a floating-point number so that there is </a:t>
            </a:r>
            <a:r>
              <a:rPr lang="en-US" b="1" dirty="0"/>
              <a:t>exactly one non-zero digit (1)</a:t>
            </a:r>
            <a:r>
              <a:rPr lang="en-US" dirty="0"/>
              <a:t> to the </a:t>
            </a:r>
            <a:r>
              <a:rPr lang="en-US" b="1" dirty="0"/>
              <a:t>left</a:t>
            </a:r>
            <a:r>
              <a:rPr lang="en-US" dirty="0"/>
              <a:t> of the binary point.</a:t>
            </a:r>
          </a:p>
          <a:p>
            <a:endParaRPr lang="en-US" dirty="0"/>
          </a:p>
          <a:p>
            <a:endParaRPr lang="en-US" b="1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763067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43DAC6-D06F-2731-7B3B-1E4422997C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11B1C94-A1F5-9F0D-11B7-8D2FAB9ADF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710633"/>
            <a:ext cx="10979430" cy="5782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82983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3DF97C-797E-44D3-8E2F-BB36F2E70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4990"/>
            <a:ext cx="10058400" cy="1609344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sz="4400" dirty="0"/>
              <a:t>Floating-Point Numbers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05274E-2D8D-4093-9176-5A028AD84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7357C-FBB4-4C9C-B696-E390146DED39}" type="slidenum">
              <a:rPr lang="en-US" smtClean="0"/>
              <a:t>3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DCE2CF0-B48A-4A81-BE80-98990CFEAC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9842" y="1484025"/>
            <a:ext cx="11523372" cy="5153883"/>
          </a:xfrm>
        </p:spPr>
        <p:txBody>
          <a:bodyPr>
            <a:normAutofit/>
          </a:bodyPr>
          <a:lstStyle/>
          <a:p>
            <a:endParaRPr lang="en-US" sz="2400" dirty="0"/>
          </a:p>
          <a:p>
            <a:r>
              <a:rPr lang="en-US" sz="2400" dirty="0"/>
              <a:t>A binary floating-point number is represented by (2008 version of IEEE Standard 754):</a:t>
            </a:r>
          </a:p>
          <a:p>
            <a:pPr lvl="1"/>
            <a:r>
              <a:rPr lang="en-US" sz="2400" dirty="0"/>
              <a:t>a sign for the number</a:t>
            </a:r>
          </a:p>
          <a:p>
            <a:pPr lvl="1"/>
            <a:r>
              <a:rPr lang="en-US" sz="2400" dirty="0"/>
              <a:t>some significant bits</a:t>
            </a:r>
          </a:p>
          <a:p>
            <a:pPr lvl="1"/>
            <a:r>
              <a:rPr lang="en-US" sz="2400" dirty="0"/>
              <a:t>a signed scale factor exponent for an implied base of 2</a:t>
            </a:r>
          </a:p>
        </p:txBody>
      </p:sp>
    </p:spTree>
    <p:extLst>
      <p:ext uri="{BB962C8B-B14F-4D97-AF65-F5344CB8AC3E}">
        <p14:creationId xmlns:p14="http://schemas.microsoft.com/office/powerpoint/2010/main" val="26725478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3DF97C-797E-44D3-8E2F-BB36F2E70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4990"/>
            <a:ext cx="10058400" cy="1609344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sz="4400" dirty="0"/>
              <a:t>IEEE standard floating-point formats (32 bit)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05274E-2D8D-4093-9176-5A028AD84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7357C-FBB4-4C9C-B696-E390146DED39}" type="slidenum">
              <a:rPr lang="en-US" smtClean="0"/>
              <a:t>4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DCE2CF0-B48A-4A81-BE80-98990CFEAC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9842" y="1364105"/>
            <a:ext cx="11071286" cy="5153883"/>
          </a:xfrm>
        </p:spPr>
        <p:txBody>
          <a:bodyPr>
            <a:normAutofit/>
          </a:bodyPr>
          <a:lstStyle/>
          <a:p>
            <a:r>
              <a:rPr lang="en-US" sz="2400" dirty="0"/>
              <a:t>The basic IEEE format is a 32-bit representation that comprises of</a:t>
            </a:r>
          </a:p>
          <a:p>
            <a:pPr lvl="1"/>
            <a:r>
              <a:rPr lang="en-US" sz="2400" dirty="0"/>
              <a:t>a sign bit, </a:t>
            </a:r>
          </a:p>
          <a:p>
            <a:pPr lvl="1"/>
            <a:r>
              <a:rPr lang="en-US" sz="2400" dirty="0"/>
              <a:t>23 significant bits, and </a:t>
            </a:r>
          </a:p>
          <a:p>
            <a:pPr lvl="1"/>
            <a:r>
              <a:rPr lang="en-US" sz="2400" dirty="0"/>
              <a:t>8 bits for a signed exponent of the scale factor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D2E50D8-AC62-4BE5-A10D-C72B9BEC34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645" y="3641420"/>
            <a:ext cx="9124722" cy="2765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6343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96E6FB-8D5C-FEF7-0E91-4107E68D2F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847064A-FC24-2A20-743E-A37013A000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365125"/>
            <a:ext cx="10080171" cy="4188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50355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89F43-2E6B-FD2D-9654-9BD73DC7A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DADD780-DE1A-799B-1BDC-0179F39694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365125"/>
            <a:ext cx="9971314" cy="6442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57564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7A04F-4096-C9AF-CFB9-F379F129A9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60EFDE0-7D6C-C389-3809-F6C0F78067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6770" y="14784"/>
            <a:ext cx="10707029" cy="6397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06802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AF0CE-1191-66AD-1DF6-F34411640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4C3CFE7-0708-E187-F6AA-60BE4C7EEC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41194" y="437733"/>
            <a:ext cx="8890864" cy="4417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40237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06C237-1BF5-1617-297D-6D7E34943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84FA6AF-7D58-F23E-AB40-AA09E02AE5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0486" y="199147"/>
            <a:ext cx="10842171" cy="6474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02106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FBC0D0-0D90-89F7-BA09-DF11E8ED16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3FFC3F9-BF2F-38A8-F256-7A72CE7727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2217" y="365125"/>
            <a:ext cx="10515600" cy="5811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02673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81481908-5873-7AD2-CE1B-F672A71FDAF2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 fontScale="90000"/>
              </a:bodyPr>
              <a:lstStyle/>
              <a:p>
                <a:pPr/>
                <a:br>
                  <a:rPr lang="en-IN" b="1" dirty="0"/>
                </a:br>
                <a:br>
                  <a:rPr lang="en-IN" b="1" dirty="0"/>
                </a:br>
                <a:br>
                  <a:rPr lang="en-IN" b="1" dirty="0"/>
                </a:br>
                <a:br>
                  <a:rPr lang="en-IN" b="1" dirty="0"/>
                </a:br>
                <a:br>
                  <a:rPr lang="en-IN" b="1" dirty="0"/>
                </a:br>
                <a:br>
                  <a:rPr lang="en-IN" b="1" dirty="0"/>
                </a:br>
                <a:br>
                  <a:rPr lang="en-IN" b="1" dirty="0"/>
                </a:br>
                <a:br>
                  <a:rPr lang="en-IN" b="1" dirty="0"/>
                </a:br>
                <a:r>
                  <a:rPr lang="en-IN" b="1" dirty="0"/>
                  <a:t>Convert</a:t>
                </a:r>
                <a:br>
                  <a:rPr lang="en-IN" b="1" dirty="0"/>
                </a:br>
                <a:br>
                  <a:rPr lang="en-IN" b="0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IN" b="0"/>
                        <m:t>Binary</m:t>
                      </m:r>
                      <m:r>
                        <m:rPr>
                          <m:nor/>
                        </m:rPr>
                        <a:rPr lang="en-IN" b="0" i="0" smtClean="0"/>
                        <m:t>   </m:t>
                      </m:r>
                      <m:r>
                        <m:rPr>
                          <m:nor/>
                        </m:rPr>
                        <a:rPr lang="en-IN" b="0" i="0" smtClean="0"/>
                        <m:t>N</m:t>
                      </m:r>
                      <m:r>
                        <a:rPr lang="en-IN" b="0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b="0" i="0">
                              <a:latin typeface="Cambria Math" panose="02040503050406030204" pitchFamily="18" charset="0"/>
                            </a:rPr>
                            <m:t>110010</m:t>
                          </m:r>
                          <m:r>
                            <a:rPr lang="ar-AE" b="0" i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ar-AE" b="0" i="0">
                              <a:latin typeface="Cambria Math" panose="02040503050406030204" pitchFamily="18" charset="0"/>
                            </a:rPr>
                            <m:t>1011</m:t>
                          </m:r>
                        </m:e>
                        <m:sub>
                          <m:r>
                            <a:rPr lang="ar-AE" b="0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br>
                  <a:rPr lang="ar-AE" b="0" dirty="0"/>
                </a:br>
                <a:r>
                  <a:rPr lang="en-IN" dirty="0"/>
                  <a:t>into </a:t>
                </a:r>
                <a:r>
                  <a:rPr lang="en-IN" b="1" dirty="0"/>
                  <a:t>IEEE 754 single precision (32-bit)</a:t>
                </a:r>
                <a:r>
                  <a:rPr lang="en-IN" dirty="0"/>
                  <a:t> format.</a:t>
                </a:r>
                <a:br>
                  <a:rPr lang="en-IN" dirty="0"/>
                </a:br>
                <a:endParaRPr lang="en-IN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81481908-5873-7AD2-CE1B-F672A71FDAF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087" b="-20184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776531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A8F28C-95DF-C7C3-0CAD-37FDB6C18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59801A8-A718-8E33-6833-F631124FE78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934404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US" dirty="0"/>
                  <a:t>Step 1️⃣ : Identify the sign bit</a:t>
                </a:r>
              </a:p>
              <a:p>
                <a:r>
                  <a:rPr lang="en-US" dirty="0"/>
                  <a:t>It ’s a </a:t>
                </a:r>
                <a:r>
                  <a:rPr lang="en-US" b="1" dirty="0"/>
                  <a:t>positive number</a:t>
                </a:r>
                <a:r>
                  <a:rPr lang="en-US" dirty="0"/>
                  <a:t>, so</a:t>
                </a:r>
                <a:br>
                  <a:rPr lang="en-US" dirty="0"/>
                </a:br>
                <a:r>
                  <a:rPr lang="en-US" dirty="0"/>
                  <a:t> </a:t>
                </a:r>
                <a:r>
                  <a:rPr lang="en-US" b="1" dirty="0"/>
                  <a:t>Sign bit = 0</a:t>
                </a:r>
              </a:p>
              <a:p>
                <a:endParaRPr lang="en-US" b="1" dirty="0"/>
              </a:p>
              <a:p>
                <a:pPr>
                  <a:buNone/>
                </a:pPr>
                <a:r>
                  <a:rPr lang="en-IN" b="1" dirty="0"/>
                  <a:t>Step 2️⃣ : Normalize the binary number</a:t>
                </a:r>
              </a:p>
              <a:p>
                <a:pPr>
                  <a:buNone/>
                </a:pPr>
                <a:r>
                  <a:rPr lang="en-IN" dirty="0"/>
                  <a:t>We want the number in the form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𝑥𝑥𝑥𝑥𝑥𝑥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𝐸</m:t>
                          </m:r>
                        </m:sup>
                      </m:sSup>
                    </m:oMath>
                  </m:oMathPara>
                </a14:m>
                <a:endParaRPr lang="ar-AE" dirty="0"/>
              </a:p>
              <a:p>
                <a:pPr>
                  <a:buNone/>
                </a:pPr>
                <a:r>
                  <a:rPr lang="en-IN" dirty="0"/>
                  <a:t>Move the binary point so there is </a:t>
                </a:r>
                <a:r>
                  <a:rPr lang="en-IN" b="1" dirty="0"/>
                  <a:t>one 1 before the point</a:t>
                </a:r>
                <a:r>
                  <a:rPr lang="en-IN" dirty="0"/>
                  <a:t>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110010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1011</m:t>
                          </m:r>
                        </m:e>
                        <m:sub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100101011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</m:sSup>
                    </m:oMath>
                  </m:oMathPara>
                </a14:m>
                <a:endParaRPr lang="ar-AE" dirty="0"/>
              </a:p>
              <a:p>
                <a:pPr>
                  <a:buNone/>
                </a:pPr>
                <a:r>
                  <a:rPr lang="en-IN" dirty="0"/>
                  <a:t>So: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b="1" dirty="0"/>
                  <a:t>Mantissa fraction bits</a:t>
                </a:r>
                <a:r>
                  <a:rPr lang="en-IN" dirty="0"/>
                  <a:t> = </a:t>
                </a:r>
                <a:r>
                  <a:rPr lang="en-IN" dirty="0">
                    <a:latin typeface="Courier New" panose="02070309020205020404" pitchFamily="49" charset="0"/>
                  </a:rPr>
                  <a:t>100101011</a:t>
                </a:r>
                <a:endParaRPr lang="en-IN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b="1" dirty="0"/>
                  <a:t>Exponent (E)</a:t>
                </a:r>
                <a:r>
                  <a:rPr lang="en-IN" dirty="0"/>
                  <a:t> = 5</a:t>
                </a: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59801A8-A718-8E33-6833-F631124FE78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934404"/>
              </a:xfrm>
              <a:blipFill>
                <a:blip r:embed="rId2"/>
                <a:stretch>
                  <a:fillRect l="-1043" t="-33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866980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482453-E43E-7928-CA1F-610293EDE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957104B-99DF-5011-5ED0-CE64E29ACE3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buNone/>
                </a:pPr>
                <a:r>
                  <a:rPr lang="en-IN" b="1" dirty="0"/>
                  <a:t>Step 3️⃣ : Add bias (127)</a:t>
                </a:r>
              </a:p>
              <a:p>
                <a:pPr>
                  <a:buNone/>
                </a:pPr>
                <a:r>
                  <a:rPr lang="en-IN" dirty="0"/>
                  <a:t>IEEE single precision bias = </a:t>
                </a:r>
                <a:r>
                  <a:rPr lang="en-IN" b="1" dirty="0"/>
                  <a:t>127</a:t>
                </a:r>
                <a:endParaRPr lang="en-IN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IN" b="0"/>
                        <m:t>Stored</m:t>
                      </m:r>
                      <m:r>
                        <m:rPr>
                          <m:nor/>
                        </m:rPr>
                        <a:rPr lang="en-IN" b="0" i="1"/>
                        <m:t> </m:t>
                      </m:r>
                      <m:r>
                        <m:rPr>
                          <m:nor/>
                        </m:rPr>
                        <a:rPr lang="en-IN" b="0" i="1"/>
                        <m:t>exponent</m:t>
                      </m:r>
                      <m:r>
                        <a:rPr lang="en-IN" b="0" i="0">
                          <a:latin typeface="Cambria Math" panose="02040503050406030204" pitchFamily="18" charset="0"/>
                        </a:rPr>
                        <m:t>=127+5=132</m:t>
                      </m:r>
                    </m:oMath>
                  </m:oMathPara>
                </a14:m>
                <a:endParaRPr lang="en-IN" b="0" dirty="0"/>
              </a:p>
              <a:p>
                <a:pPr>
                  <a:buNone/>
                </a:pPr>
                <a:r>
                  <a:rPr lang="en-IN" dirty="0"/>
                  <a:t>Convert 132 → binary →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>
                          <a:latin typeface="Cambria Math" panose="02040503050406030204" pitchFamily="18" charset="0"/>
                        </a:rPr>
                        <m:t>132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10000100</m:t>
                          </m:r>
                        </m:e>
                        <m:sub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ar-AE" dirty="0"/>
              </a:p>
              <a:p>
                <a:pPr>
                  <a:buNone/>
                </a:pPr>
                <a:r>
                  <a:rPr lang="en-US" b="1" dirty="0"/>
                  <a:t>🟩 Step 4️⃣ : Form mantissa bits (23 bits total)</a:t>
                </a:r>
              </a:p>
              <a:p>
                <a:pPr>
                  <a:buNone/>
                </a:pPr>
                <a:r>
                  <a:rPr lang="en-US" dirty="0"/>
                  <a:t>Take the bits after the binary point (</a:t>
                </a:r>
                <a:r>
                  <a:rPr lang="en-US" dirty="0">
                    <a:latin typeface="Courier New" panose="02070309020205020404" pitchFamily="49" charset="0"/>
                  </a:rPr>
                  <a:t>100101011</a:t>
                </a:r>
                <a:r>
                  <a:rPr lang="en-US" dirty="0"/>
                  <a:t>) and fill with zeros to make 23 bits:</a:t>
                </a:r>
              </a:p>
              <a:p>
                <a:pPr rtl="0">
                  <a:buNone/>
                </a:pPr>
                <a:r>
                  <a:rPr lang="en-US" dirty="0">
                    <a:latin typeface="Courier New" panose="02070309020205020404" pitchFamily="49" charset="0"/>
                  </a:rPr>
                  <a:t>10010101100000000000000</a:t>
                </a: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957104B-99DF-5011-5ED0-CE64E29ACE3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661" b="-14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851434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EF791E-39EE-7A60-13DB-417DE8A93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729C5AE-0C68-4010-B77B-4B94547E2B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04613" y="729344"/>
            <a:ext cx="10418584" cy="5447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21062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887C0DD-9C26-3A77-C3CD-DF88AB807C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56265"/>
            <a:ext cx="10439400" cy="303581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C2CD8D5-7E1A-31D3-7149-A42B454BDAD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013" b="10804"/>
          <a:stretch>
            <a:fillRect/>
          </a:stretch>
        </p:blipFill>
        <p:spPr>
          <a:xfrm>
            <a:off x="2460171" y="387928"/>
            <a:ext cx="4223657" cy="1268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81069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56AAAB-BB94-C46D-6E77-A2FB91A74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49275"/>
          </a:xfrm>
        </p:spPr>
        <p:txBody>
          <a:bodyPr>
            <a:normAutofit fontScale="90000"/>
          </a:bodyPr>
          <a:lstStyle/>
          <a:p>
            <a:r>
              <a:rPr lang="en-US" dirty="0"/>
              <a:t>Steps to convert 32-bit representation to decimal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CECFEC-01A8-C8B6-F149-07E837F8AD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9228" y="1052739"/>
            <a:ext cx="10515600" cy="4351338"/>
          </a:xfrm>
        </p:spPr>
        <p:txBody>
          <a:bodyPr/>
          <a:lstStyle/>
          <a:p>
            <a:r>
              <a:rPr lang="en-IN" sz="2400" dirty="0"/>
              <a:t>Given IEEE 32 bit representation of a number</a:t>
            </a:r>
          </a:p>
          <a:p>
            <a:pPr marL="0" indent="0">
              <a:buNone/>
            </a:pPr>
            <a:r>
              <a:rPr lang="en-IN" sz="2400" dirty="0"/>
              <a:t>0100 0010 0100 1010 1000 0000 0000 0000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2DFC6F-AE1A-FF37-A7A7-F78F18FE4C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3477" y="1074510"/>
            <a:ext cx="4820323" cy="5468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01634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BFE077-2904-C3D2-20A1-38B8C82977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462A17F-1AE4-67A8-0A18-42D7D49B41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0486" y="365125"/>
            <a:ext cx="9535885" cy="6024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84302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71E947-63D3-6DC4-B199-5F68BEE48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AE32530-6396-A8EB-4930-D5B690CA75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47285" y="477459"/>
            <a:ext cx="7495632" cy="462794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D7173AF-43D0-8FCD-8F21-A0400CA716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0407" y="2976486"/>
            <a:ext cx="6115904" cy="3210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60145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8D188-CACE-B429-C79C-583536B64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Given  decimal number -0.09375, represent in in IEEE754 format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FDFB80C-6EAF-C109-D985-252A443857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25625"/>
            <a:ext cx="9557657" cy="5238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4040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F1F41B-72F0-D1E0-94E9-DD85BF8AD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064008E-2992-66C3-6AD0-F624667578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8972" y="256299"/>
            <a:ext cx="9644743" cy="468581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E7950C7-1658-90CB-94BF-0B1D25E1DC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592" y="5511490"/>
            <a:ext cx="6182588" cy="1190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2403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88D668-BAA0-2B29-1E11-97D9AFCA0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A52626-E503-BF69-8A24-CA86C2D002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058400" cy="3813175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07FE97-3DB6-9F9F-1A98-ACFEB16C22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244440"/>
            <a:ext cx="10058400" cy="5709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03830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1D9F5-D0F8-AF43-BB7B-621B0D6F03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EA336C-1105-4AA1-2ECC-6D6103378E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31263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3DF97C-797E-44D3-8E2F-BB36F2E70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4990"/>
            <a:ext cx="10058400" cy="779667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IEEE standard floating-point formats (64 bit)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05274E-2D8D-4093-9176-5A028AD84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7357C-FBB4-4C9C-B696-E390146DED39}" type="slidenum">
              <a:rPr lang="en-US" smtClean="0"/>
              <a:t>23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DCE2CF0-B48A-4A81-BE80-98990CFEAC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7813" y="656711"/>
            <a:ext cx="11071286" cy="5153883"/>
          </a:xfrm>
        </p:spPr>
        <p:txBody>
          <a:bodyPr>
            <a:normAutofit/>
          </a:bodyPr>
          <a:lstStyle/>
          <a:p>
            <a:r>
              <a:rPr lang="en-US" sz="2400" dirty="0"/>
              <a:t>IEEE standard also defines a 64-bit representation to accommodate </a:t>
            </a:r>
          </a:p>
          <a:p>
            <a:pPr lvl="1"/>
            <a:r>
              <a:rPr lang="en-US" sz="2400" dirty="0"/>
              <a:t>more significant bits, and </a:t>
            </a:r>
          </a:p>
          <a:p>
            <a:pPr lvl="1"/>
            <a:r>
              <a:rPr lang="en-US" sz="2400" dirty="0"/>
              <a:t>more bits for the signed exponent, resulting in much higher precision and a much larger range of values</a:t>
            </a:r>
          </a:p>
          <a:p>
            <a:r>
              <a:rPr lang="en-US" sz="2400" dirty="0"/>
              <a:t>The 11-bit excess-1023 exponent E’ has the</a:t>
            </a:r>
          </a:p>
          <a:p>
            <a:pPr lvl="1"/>
            <a:r>
              <a:rPr lang="en-US" sz="2400" dirty="0"/>
              <a:t>range 1 ≤ E’ ≤ 2046 for normal values, with 0 and 2047 used to indicate special values,</a:t>
            </a:r>
          </a:p>
          <a:p>
            <a:pPr lvl="1"/>
            <a:r>
              <a:rPr lang="en-US" sz="2400" dirty="0"/>
              <a:t>The actual exponent E is in the range −1022 ≤ E ≤ 1023</a:t>
            </a:r>
          </a:p>
          <a:p>
            <a:pPr lvl="1"/>
            <a:r>
              <a:rPr lang="en-US" sz="2400" dirty="0"/>
              <a:t>providing scale factors of 2</a:t>
            </a:r>
            <a:r>
              <a:rPr lang="en-US" sz="2400" baseline="30000" dirty="0"/>
              <a:t>−1022</a:t>
            </a:r>
            <a:r>
              <a:rPr lang="en-US" sz="2400" dirty="0"/>
              <a:t> to 2</a:t>
            </a:r>
            <a:r>
              <a:rPr lang="en-US" sz="2400" baseline="30000" dirty="0"/>
              <a:t>1023 </a:t>
            </a:r>
            <a:r>
              <a:rPr lang="en-US" sz="2400" dirty="0"/>
              <a:t>(approximately 10</a:t>
            </a:r>
            <a:r>
              <a:rPr lang="en-US" sz="2400" baseline="30000" dirty="0"/>
              <a:t>±308</a:t>
            </a:r>
            <a:r>
              <a:rPr lang="en-US" sz="2400" dirty="0"/>
              <a:t>) </a:t>
            </a:r>
          </a:p>
          <a:p>
            <a:pPr lvl="1"/>
            <a:endParaRPr lang="en-US" sz="2400" dirty="0"/>
          </a:p>
          <a:p>
            <a:endParaRPr lang="en-US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BF040A0-1C97-4787-84C9-C913BD4692C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5643"/>
          <a:stretch/>
        </p:blipFill>
        <p:spPr>
          <a:xfrm>
            <a:off x="1294987" y="4858367"/>
            <a:ext cx="7468425" cy="2135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365630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17A7CB1-2300-6480-87AA-E0918E5DD5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918" y="1235021"/>
            <a:ext cx="10498222" cy="1176630"/>
          </a:xfrm>
          <a:prstGeom prst="rect">
            <a:avLst/>
          </a:prstGeom>
        </p:spPr>
      </p:pic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FBA1590-8797-C5AC-82A7-F4C1F49C539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3132614"/>
          <a:ext cx="10515600" cy="173736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32204648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449217958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85518052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Field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Bits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Purpose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94798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Sign bit (S)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 bit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 → positive, 1 → negative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11866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Exponent (E’)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11 bits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Stores exponent (with bias 1023)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86703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Mantissa / Fraction (M)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52 bits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Stores significant digits (after the binary point)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73336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2070002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3DF97C-797E-44D3-8E2F-BB36F2E70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4990"/>
            <a:ext cx="10058400" cy="1609344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sz="4400" dirty="0"/>
              <a:t>Add/Subtract Rule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05274E-2D8D-4093-9176-5A028AD84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7357C-FBB4-4C9C-B696-E390146DED39}" type="slidenum">
              <a:rPr lang="en-US" smtClean="0"/>
              <a:t>25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DCE2CF0-B48A-4A81-BE80-98990CFEAC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14" y="1301463"/>
            <a:ext cx="11897294" cy="5336446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/>
              <a:t>Choose the number with the smaller exponent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Shift its mantissa right to the number of steps equal to the difference in exponents. (Shift point to left)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Set the exponent of the result equal to the larger exponent.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Perform addition/subtraction on the mantissas and determine the sign of the result.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Normalize the resulting value, if necessary.</a:t>
            </a:r>
          </a:p>
          <a:p>
            <a:pPr lvl="2"/>
            <a:endParaRPr lang="en-US" sz="2400" baseline="-25000" dirty="0"/>
          </a:p>
          <a:p>
            <a:pPr lvl="1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60382850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613B812-771C-32F9-0CB8-886081591527}"/>
              </a:ext>
            </a:extLst>
          </p:cNvPr>
          <p:cNvSpPr txBox="1">
            <a:spLocks/>
          </p:cNvSpPr>
          <p:nvPr/>
        </p:nvSpPr>
        <p:spPr>
          <a:xfrm>
            <a:off x="598715" y="533786"/>
            <a:ext cx="10058400" cy="58175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</a:rPr>
              <a:t>Addition example 1 binary   A= 96.625  and B= 12.125 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F718F701-9E94-906D-59C5-E7C12D3EFD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8715" y="1268276"/>
            <a:ext cx="8249801" cy="357237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81F133E-5540-5214-A8E5-4B484125B91F}"/>
              </a:ext>
            </a:extLst>
          </p:cNvPr>
          <p:cNvSpPr txBox="1"/>
          <p:nvPr/>
        </p:nvSpPr>
        <p:spPr>
          <a:xfrm>
            <a:off x="2100942" y="5405058"/>
            <a:ext cx="75002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In IEEE 32-bit format: A= 0  10000101    10000010100000…….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8266091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64AB0-5AA9-CDB8-A8B1-1564C297A6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6660C54-1BE8-794C-BD89-C5E2088437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39773" y="365125"/>
            <a:ext cx="10101613" cy="479418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AEB9EB1-3CE2-A330-FEE9-397242EDFE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0105" y="5355772"/>
            <a:ext cx="7960606" cy="682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409248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7AD23F-E8C9-BB07-26F4-34D79BD274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6E99BF9-E93A-278F-BF3B-059B41F488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5220" y="365125"/>
            <a:ext cx="11285205" cy="6127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298437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E991096F-4E37-7320-784D-8C728746ED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86198" y="511629"/>
            <a:ext cx="11298991" cy="597625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7E37090-239C-66C1-63F3-34FCEBE576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0529" y="2723999"/>
            <a:ext cx="7543024" cy="182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032861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F2B430-6C46-9505-5B56-E8205261AB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5DD6453-3B17-3653-0E70-1864EC1104A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>
              <a:lnSpc>
                <a:spcPct val="100000"/>
              </a:lnSpc>
              <a:spcAft>
                <a:spcPts val="600"/>
              </a:spcAft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</a:rPr>
              <a:t>Addition example 2 binary   </a:t>
            </a:r>
            <a:r>
              <a:rPr lang="en-US" dirty="0"/>
              <a:t>A=15.5    +      B=15.5</a:t>
            </a:r>
            <a:br>
              <a:rPr lang="en-US" dirty="0"/>
            </a:b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rgbClr val="90C226"/>
              </a:solidFill>
              <a:effectLst/>
              <a:uLnTx/>
              <a:uFillTx/>
              <a:latin typeface="Arial" panose="020B0604020202020204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8616310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3DF97C-797E-44D3-8E2F-BB36F2E70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4990"/>
            <a:ext cx="10058400" cy="1609344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sz="4400" dirty="0"/>
              <a:t>Addition example- binary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05274E-2D8D-4093-9176-5A028AD84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7357C-FBB4-4C9C-B696-E390146DED39}" type="slidenum">
              <a:rPr lang="en-US" smtClean="0"/>
              <a:t>31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DCE2CF0-B48A-4A81-BE80-98990CFEAC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4706" y="887478"/>
            <a:ext cx="11897294" cy="5336446"/>
          </a:xfrm>
        </p:spPr>
        <p:txBody>
          <a:bodyPr>
            <a:noAutofit/>
          </a:bodyPr>
          <a:lstStyle/>
          <a:p>
            <a:r>
              <a:rPr lang="en-US" dirty="0"/>
              <a:t>A=15.5    +      B=15.5</a:t>
            </a:r>
          </a:p>
          <a:p>
            <a:r>
              <a:rPr lang="en-US" b="1" dirty="0"/>
              <a:t>Step i:</a:t>
            </a:r>
            <a:r>
              <a:rPr lang="en-US" dirty="0"/>
              <a:t> Convert A to binary representation</a:t>
            </a:r>
          </a:p>
          <a:p>
            <a:pPr lvl="1"/>
            <a:r>
              <a:rPr lang="en-US" sz="1800" dirty="0"/>
              <a:t>1111.1 </a:t>
            </a:r>
            <a:r>
              <a:rPr lang="en-US" sz="1800" dirty="0">
                <a:sym typeface="Wingdings" panose="05000000000000000000" pitchFamily="2" charset="2"/>
              </a:rPr>
              <a:t></a:t>
            </a:r>
            <a:r>
              <a:rPr lang="en-US" sz="1800" dirty="0"/>
              <a:t>After normalizing we get 1.1111 X 2</a:t>
            </a:r>
            <a:r>
              <a:rPr lang="en-US" sz="1800" baseline="30000" dirty="0"/>
              <a:t>3</a:t>
            </a:r>
          </a:p>
          <a:p>
            <a:pPr lvl="1"/>
            <a:r>
              <a:rPr lang="en-US" sz="1800" dirty="0"/>
              <a:t>E’= 3+127=130 =10000010</a:t>
            </a:r>
          </a:p>
          <a:p>
            <a:pPr lvl="1"/>
            <a:r>
              <a:rPr lang="en-US" sz="1800" dirty="0"/>
              <a:t>In IEEE 32-bit format: A= 0</a:t>
            </a:r>
            <a:r>
              <a:rPr lang="en-US" sz="1800" dirty="0">
                <a:solidFill>
                  <a:srgbClr val="0070C0"/>
                </a:solidFill>
              </a:rPr>
              <a:t>10000010</a:t>
            </a:r>
            <a:r>
              <a:rPr lang="en-US" sz="1800" dirty="0"/>
              <a:t>11110000000000000000000</a:t>
            </a:r>
          </a:p>
          <a:p>
            <a:r>
              <a:rPr lang="en-US" b="1" dirty="0"/>
              <a:t>Step ii: </a:t>
            </a:r>
            <a:r>
              <a:rPr lang="en-US" dirty="0"/>
              <a:t>Convert B to binary representation</a:t>
            </a:r>
          </a:p>
          <a:p>
            <a:pPr lvl="1"/>
            <a:r>
              <a:rPr lang="en-US" sz="1800" dirty="0"/>
              <a:t>1111.1 </a:t>
            </a:r>
            <a:r>
              <a:rPr lang="en-US" sz="1800" dirty="0">
                <a:sym typeface="Wingdings" panose="05000000000000000000" pitchFamily="2" charset="2"/>
              </a:rPr>
              <a:t></a:t>
            </a:r>
            <a:r>
              <a:rPr lang="en-US" sz="1800" dirty="0"/>
              <a:t>After normalizing we get 1.1111 X 2</a:t>
            </a:r>
            <a:r>
              <a:rPr lang="en-US" sz="1800" baseline="30000" dirty="0"/>
              <a:t>3</a:t>
            </a:r>
          </a:p>
          <a:p>
            <a:pPr lvl="1"/>
            <a:r>
              <a:rPr lang="en-US" sz="1800" dirty="0"/>
              <a:t>E’= 3+127=130 =10000010</a:t>
            </a:r>
          </a:p>
          <a:p>
            <a:pPr lvl="1"/>
            <a:r>
              <a:rPr lang="en-US" sz="1800" dirty="0"/>
              <a:t>In IEEE 32-bit format: B= 0</a:t>
            </a:r>
            <a:r>
              <a:rPr lang="en-US" sz="1800" dirty="0">
                <a:solidFill>
                  <a:srgbClr val="0070C0"/>
                </a:solidFill>
              </a:rPr>
              <a:t>10000010</a:t>
            </a:r>
            <a:r>
              <a:rPr lang="en-US" sz="1800" dirty="0"/>
              <a:t>11110000000000000000000</a:t>
            </a:r>
          </a:p>
          <a:p>
            <a:r>
              <a:rPr lang="en-US" b="1" dirty="0"/>
              <a:t>Step 1: </a:t>
            </a:r>
            <a:r>
              <a:rPr lang="en-US" dirty="0"/>
              <a:t>Choose the number with the smaller exponent and shift its mantissa right a number of steps equal to the difference in exponents.</a:t>
            </a:r>
          </a:p>
          <a:p>
            <a:pPr lvl="1"/>
            <a:r>
              <a:rPr lang="en-US" sz="1800" dirty="0"/>
              <a:t>Both are of equal exponent. Hence no shift</a:t>
            </a:r>
          </a:p>
          <a:p>
            <a:r>
              <a:rPr lang="en-US" b="1" dirty="0"/>
              <a:t>Step 2: </a:t>
            </a:r>
          </a:p>
          <a:p>
            <a:pPr lvl="1"/>
            <a:r>
              <a:rPr lang="en-US" sz="1800" dirty="0"/>
              <a:t>Set the exponent of the result equal to the larger exponent </a:t>
            </a:r>
          </a:p>
          <a:p>
            <a:pPr lvl="2"/>
            <a:r>
              <a:rPr lang="en-US" sz="1800" dirty="0"/>
              <a:t>10000010 </a:t>
            </a:r>
            <a:r>
              <a:rPr lang="en-US" sz="1800" dirty="0">
                <a:solidFill>
                  <a:srgbClr val="FF0000"/>
                </a:solidFill>
              </a:rPr>
              <a:t>(exponent of A or B)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1790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3DF97C-797E-44D3-8E2F-BB36F2E70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4990"/>
            <a:ext cx="10058400" cy="1609344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sz="4400" dirty="0"/>
              <a:t>Addition example- binary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05274E-2D8D-4093-9176-5A028AD84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7357C-FBB4-4C9C-B696-E390146DED39}" type="slidenum">
              <a:rPr lang="en-US" smtClean="0"/>
              <a:t>32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DCE2CF0-B48A-4A81-BE80-98990CFEAC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4706" y="1202466"/>
            <a:ext cx="11897294" cy="5336446"/>
          </a:xfrm>
        </p:spPr>
        <p:txBody>
          <a:bodyPr>
            <a:noAutofit/>
          </a:bodyPr>
          <a:lstStyle/>
          <a:p>
            <a:r>
              <a:rPr lang="en-US" sz="2000" b="1" dirty="0"/>
              <a:t>Step 3:</a:t>
            </a:r>
          </a:p>
          <a:p>
            <a:pPr lvl="1"/>
            <a:r>
              <a:rPr lang="en-US" sz="2000" dirty="0"/>
              <a:t>Perform addition on the mantissas and determine the sign of the result </a:t>
            </a:r>
          </a:p>
          <a:p>
            <a:pPr marL="274320" lvl="1" indent="0">
              <a:buNone/>
            </a:pPr>
            <a:r>
              <a:rPr lang="en-US" sz="2000" dirty="0"/>
              <a:t>	  1.11110000000000000000000  +</a:t>
            </a:r>
          </a:p>
          <a:p>
            <a:pPr marL="274320" lvl="1" indent="0">
              <a:buNone/>
            </a:pPr>
            <a:r>
              <a:rPr lang="en-US" sz="2000" dirty="0"/>
              <a:t>	</a:t>
            </a:r>
            <a:r>
              <a:rPr lang="en-US" sz="2000" u="sng" dirty="0"/>
              <a:t>  1.11110000000000000000000</a:t>
            </a:r>
          </a:p>
          <a:p>
            <a:pPr marL="274320" lvl="1" indent="0">
              <a:buNone/>
            </a:pPr>
            <a:r>
              <a:rPr lang="en-US" sz="2000" dirty="0"/>
              <a:t>	11.11100000000000000000000</a:t>
            </a:r>
          </a:p>
          <a:p>
            <a:r>
              <a:rPr lang="en-US" sz="2000" b="1" dirty="0"/>
              <a:t>Step 4:</a:t>
            </a:r>
          </a:p>
          <a:p>
            <a:pPr lvl="1"/>
            <a:r>
              <a:rPr lang="en-US" sz="2000" dirty="0"/>
              <a:t>Normalize the resulting value, if necessary</a:t>
            </a:r>
          </a:p>
          <a:p>
            <a:pPr lvl="2"/>
            <a:r>
              <a:rPr lang="en-US" sz="2000" dirty="0"/>
              <a:t>1.111100000000000000000000 </a:t>
            </a:r>
            <a:r>
              <a:rPr lang="en-US" sz="2000" dirty="0">
                <a:cs typeface="Times New Roman" panose="02020603050405020304" pitchFamily="18" charset="0"/>
              </a:rPr>
              <a:t>× 2</a:t>
            </a:r>
            <a:r>
              <a:rPr lang="en-US" sz="2000" baseline="30000" dirty="0">
                <a:cs typeface="Times New Roman" panose="02020603050405020304" pitchFamily="18" charset="0"/>
              </a:rPr>
              <a:t>1</a:t>
            </a:r>
          </a:p>
          <a:p>
            <a:pPr lvl="1"/>
            <a:r>
              <a:rPr lang="en-US" sz="2000" dirty="0"/>
              <a:t>Adjust resultant exponent E’ by adding exponent from the normalized resultant mantissa</a:t>
            </a:r>
          </a:p>
          <a:p>
            <a:pPr marL="274320" lvl="1" indent="0">
              <a:buNone/>
            </a:pPr>
            <a:r>
              <a:rPr lang="en-US" sz="2000" dirty="0"/>
              <a:t>	  10000010  +	</a:t>
            </a:r>
            <a:r>
              <a:rPr lang="en-US" sz="2000" dirty="0">
                <a:cs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cs typeface="Times New Roman" panose="02020603050405020304" pitchFamily="18" charset="0"/>
              </a:rPr>
              <a:t>(if the exponent is –</a:t>
            </a:r>
            <a:r>
              <a:rPr lang="en-US" sz="2000" dirty="0" err="1">
                <a:solidFill>
                  <a:srgbClr val="FF0000"/>
                </a:solidFill>
                <a:cs typeface="Times New Roman" panose="02020603050405020304" pitchFamily="18" charset="0"/>
              </a:rPr>
              <a:t>ve</a:t>
            </a:r>
            <a:r>
              <a:rPr lang="en-US" sz="2000" dirty="0">
                <a:solidFill>
                  <a:srgbClr val="FF0000"/>
                </a:solidFill>
                <a:cs typeface="Times New Roman" panose="02020603050405020304" pitchFamily="18" charset="0"/>
              </a:rPr>
              <a:t>, subtract it from resultant E’)</a:t>
            </a:r>
            <a:endParaRPr lang="en-US" sz="2000" dirty="0">
              <a:solidFill>
                <a:srgbClr val="FF0000"/>
              </a:solidFill>
            </a:endParaRPr>
          </a:p>
          <a:p>
            <a:pPr marL="274320" lvl="1" indent="0">
              <a:buNone/>
            </a:pPr>
            <a:r>
              <a:rPr lang="en-US" sz="2000" dirty="0"/>
              <a:t>	</a:t>
            </a:r>
            <a:r>
              <a:rPr lang="en-US" sz="2000" u="sng" dirty="0"/>
              <a:t>  00000001</a:t>
            </a:r>
          </a:p>
          <a:p>
            <a:pPr marL="274320" lvl="1" indent="0">
              <a:buNone/>
            </a:pPr>
            <a:r>
              <a:rPr lang="en-US" sz="2000" dirty="0"/>
              <a:t>	  10000011</a:t>
            </a:r>
          </a:p>
          <a:p>
            <a:r>
              <a:rPr lang="en-US" sz="2000" dirty="0"/>
              <a:t>In 32-bit format: 0 10000011 111100000000000000000000</a:t>
            </a:r>
          </a:p>
          <a:p>
            <a:r>
              <a:rPr lang="en-US" sz="2000" dirty="0"/>
              <a:t>which is 31.0 in decimal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1004185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2119</TotalTime>
  <Words>764</Words>
  <Application>Microsoft Office PowerPoint</Application>
  <PresentationFormat>Widescreen</PresentationFormat>
  <Paragraphs>107</Paragraphs>
  <Slides>32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40" baseType="lpstr">
      <vt:lpstr>Aptos</vt:lpstr>
      <vt:lpstr>Aptos Display</vt:lpstr>
      <vt:lpstr>Arial</vt:lpstr>
      <vt:lpstr>Cambria Math</vt:lpstr>
      <vt:lpstr>Courier New</vt:lpstr>
      <vt:lpstr>Times New Roman</vt:lpstr>
      <vt:lpstr>Wingdings</vt:lpstr>
      <vt:lpstr>Office Theme</vt:lpstr>
      <vt:lpstr>Normalization of floating point numbers</vt:lpstr>
      <vt:lpstr>PowerPoint Presentation</vt:lpstr>
      <vt:lpstr>Floating-Point Numbers</vt:lpstr>
      <vt:lpstr>IEEE standard floating-point formats (32 bit)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       Convert  "Binary   N"=〖110010.1011〗_2 into IEEE 754 single precision (32-bit) format. </vt:lpstr>
      <vt:lpstr>PowerPoint Presentation</vt:lpstr>
      <vt:lpstr>PowerPoint Presentation</vt:lpstr>
      <vt:lpstr>PowerPoint Presentation</vt:lpstr>
      <vt:lpstr>PowerPoint Presentation</vt:lpstr>
      <vt:lpstr>Steps to convert 32-bit representation to decimal</vt:lpstr>
      <vt:lpstr>PowerPoint Presentation</vt:lpstr>
      <vt:lpstr>PowerPoint Presentation</vt:lpstr>
      <vt:lpstr>Given  decimal number -0.09375, represent in in IEEE754 format</vt:lpstr>
      <vt:lpstr>PowerPoint Presentation</vt:lpstr>
      <vt:lpstr>PowerPoint Presentation</vt:lpstr>
      <vt:lpstr>PowerPoint Presentation</vt:lpstr>
      <vt:lpstr>IEEE standard floating-point formats (64 bit)</vt:lpstr>
      <vt:lpstr>PowerPoint Presentation</vt:lpstr>
      <vt:lpstr>Add/Subtract Rule</vt:lpstr>
      <vt:lpstr>PowerPoint Presentation</vt:lpstr>
      <vt:lpstr>PowerPoint Presentation</vt:lpstr>
      <vt:lpstr>PowerPoint Presentation</vt:lpstr>
      <vt:lpstr>PowerPoint Presentation</vt:lpstr>
      <vt:lpstr>Addition example 2 binary   A=15.5    +      B=15.5 </vt:lpstr>
      <vt:lpstr>Addition example- binary</vt:lpstr>
      <vt:lpstr>Addition example- binary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Vinayak G Pai [MAHE-MIT]</dc:creator>
  <cp:lastModifiedBy>Vinayak G Pai [MAHE-MIT]</cp:lastModifiedBy>
  <cp:revision>40</cp:revision>
  <dcterms:created xsi:type="dcterms:W3CDTF">2025-10-07T07:54:33Z</dcterms:created>
  <dcterms:modified xsi:type="dcterms:W3CDTF">2025-10-13T03:34:25Z</dcterms:modified>
</cp:coreProperties>
</file>