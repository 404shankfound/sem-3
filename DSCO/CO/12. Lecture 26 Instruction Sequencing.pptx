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397" r:id="rId2"/>
    <p:sldId id="384" r:id="rId3"/>
    <p:sldId id="398" r:id="rId4"/>
    <p:sldId id="399" r:id="rId5"/>
    <p:sldId id="400" r:id="rId6"/>
    <p:sldId id="401" r:id="rId7"/>
    <p:sldId id="385" r:id="rId8"/>
    <p:sldId id="386" r:id="rId9"/>
    <p:sldId id="402" r:id="rId10"/>
    <p:sldId id="414" r:id="rId11"/>
    <p:sldId id="403" r:id="rId12"/>
    <p:sldId id="404" r:id="rId13"/>
    <p:sldId id="387" r:id="rId14"/>
    <p:sldId id="405" r:id="rId15"/>
    <p:sldId id="413" r:id="rId16"/>
    <p:sldId id="389" r:id="rId17"/>
    <p:sldId id="406" r:id="rId18"/>
    <p:sldId id="391" r:id="rId19"/>
    <p:sldId id="407" r:id="rId20"/>
    <p:sldId id="408" r:id="rId21"/>
    <p:sldId id="409" r:id="rId22"/>
    <p:sldId id="392" r:id="rId23"/>
    <p:sldId id="410" r:id="rId24"/>
    <p:sldId id="393" r:id="rId25"/>
    <p:sldId id="394" r:id="rId26"/>
    <p:sldId id="396" r:id="rId27"/>
    <p:sldId id="41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35" autoAdjust="0"/>
    <p:restoredTop sz="94249" autoAdjust="0"/>
  </p:normalViewPr>
  <p:slideViewPr>
    <p:cSldViewPr snapToGrid="0">
      <p:cViewPr varScale="1">
        <p:scale>
          <a:sx n="78" d="100"/>
          <a:sy n="78" d="100"/>
        </p:scale>
        <p:origin x="38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7D046-A8A1-44AA-9225-52BE844244A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FC263-4F31-4686-BA2E-F79A19B1A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1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F4296-AADA-4765-9908-95ED79072977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325-29BE-475F-9B2C-D7512155DE3F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CSS 2104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fld id="{D497357C-FBB4-4C9C-B696-E390146DED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2322E-74A9-E4CA-A5D9-E05081597663}"/>
              </a:ext>
            </a:extLst>
          </p:cNvPr>
          <p:cNvSpPr/>
          <p:nvPr userDrawn="1"/>
        </p:nvSpPr>
        <p:spPr>
          <a:xfrm>
            <a:off x="0" y="0"/>
            <a:ext cx="12192000" cy="1302327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0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535E-F719-4C1A-A324-CE4D9FBE38D8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32A8-89E6-4923-BA2A-A5F2910D8975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8166-8744-449F-ACCA-12416E515A31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6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1E-1C89-49E0-B193-010DF0A322E9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9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2143-BB12-484A-BCAD-73BBFEEE42BC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7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64E-8E38-4384-B594-38CB4321BE99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1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F380-4523-422A-81D3-9A92ADB379F0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766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52508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740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98208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6674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80-52BA-4EEA-A6A1-BAB1E6E5E08B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70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79210-F412-45A3-941C-C70DB09B81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2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9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CAA8-CB1C-C72F-1A6B-E50BA34E7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542" y="1782698"/>
            <a:ext cx="10472057" cy="1646302"/>
          </a:xfrm>
        </p:spPr>
        <p:txBody>
          <a:bodyPr/>
          <a:lstStyle/>
          <a:p>
            <a:r>
              <a:rPr lang="en-US" altLang="zh-CN" sz="4400" dirty="0">
                <a:ea typeface="SimSun" panose="02010600030101010101" pitchFamily="2" charset="-122"/>
              </a:rPr>
              <a:t>Instruction and Instruction Sequencing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15318-73D5-86B6-2FCC-2B56B735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286E4D-EA7F-C713-C64E-DC9CEDCCC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538" y="4051300"/>
            <a:ext cx="9019948" cy="1096963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 Hamacher, Zvonko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Vranesic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Safwat Zaky, Computer Organization and Embedded Systems, (6e), McGraw Hill Publication, 2017.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1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Instruction and Instruction Sequencing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11897294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tasks carried out by a computer program consist of a sequence of small steps, such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adding two numbers, testing for a particular condition, reading a character from the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keyboard, or sending a character to be displayed on a display screen.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computer must have instructions capable of performing four types of operations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“Must-Perform” Operations:-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Data transfers between the memory and the processor registers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Arithmetic and logic operations on data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Program sequencing and control</a:t>
            </a:r>
          </a:p>
          <a:p>
            <a:pPr lvl="1"/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I/O transfers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9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6E2E-2F54-8703-6343-B78F1905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Instruction and Instruction Sequencing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6849-227A-4D4D-3E08-9E75A55C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2923" cy="4087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1. Data transfers between memory and processor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Purpose: Move data around inside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Load data from memory into a CPU register.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Store data from a CPU register back to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Transfer data between registers.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Why needed: </a:t>
            </a:r>
            <a:r>
              <a:rPr lang="en-US" sz="2400" dirty="0">
                <a:highlight>
                  <a:srgbClr val="FFFF00"/>
                </a:highlight>
              </a:rPr>
              <a:t>The CPU cannot directly perform arithmetic on memory; it must first bring the data into registers.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365C6-4950-C66F-CE31-5CBBE71C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8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B0777-C471-8DBE-5344-C8AAF757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4F44-2095-1C8C-785D-A59AF761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Instruction and Instruction Sequencing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15B1-F042-C195-3E9E-E747BF92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2923" cy="4087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2. Arithmetic and logic operations 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Purpose: Perform computations and </a:t>
            </a:r>
            <a:r>
              <a:rPr lang="en-US" sz="2400" dirty="0">
                <a:highlight>
                  <a:srgbClr val="FFFF00"/>
                </a:highlight>
              </a:rPr>
              <a:t>decision-making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Arithmetic operations: </a:t>
            </a:r>
            <a:r>
              <a:rPr lang="en-US" sz="2400" dirty="0"/>
              <a:t>addition, subtraction, multiplication, division.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Logic operations: </a:t>
            </a:r>
            <a:r>
              <a:rPr lang="en-US" sz="2400" dirty="0"/>
              <a:t>AND, OR, NOT, XOR, shifts, comparisons.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R1 ← R2 + R3</a:t>
            </a:r>
            <a:r>
              <a:rPr lang="en-US" sz="2400" dirty="0"/>
              <a:t> (add contents of R2 and R3, store in R1).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if (R1 &gt; R2)</a:t>
            </a:r>
            <a:r>
              <a:rPr lang="en-US" sz="2400" dirty="0"/>
              <a:t> → set a flag for branching.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Why needed: To process information, solve problems, and make decisions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CD626-E33F-7DB7-5B35-25E54B34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2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1C43-D085-2721-FA1A-E707671F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0D64-14DE-15F5-EB97-B51F56F2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Instruction and Instruction Sequencing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CDDC-EC0C-5FBC-A800-500D74BE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2923" cy="4087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3. </a:t>
            </a:r>
            <a:r>
              <a:rPr lang="en-US" sz="2000" b="1" dirty="0">
                <a:highlight>
                  <a:srgbClr val="00FFFF"/>
                </a:highlight>
              </a:rPr>
              <a:t>Program sequencing and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Purpose: Decide the </a:t>
            </a:r>
            <a:r>
              <a:rPr lang="en-US" sz="2000" b="1" dirty="0"/>
              <a:t>order</a:t>
            </a:r>
            <a:r>
              <a:rPr lang="en-US" sz="2000" dirty="0"/>
              <a:t> in which instructions are executed.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Branching / Jumping:</a:t>
            </a:r>
            <a:r>
              <a:rPr lang="en-US" sz="2000" dirty="0"/>
              <a:t> Change the flow of execution (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else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goto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for</a:t>
            </a:r>
            <a:r>
              <a:rPr lang="en-US" sz="2000" dirty="0"/>
              <a:t> loops).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highlight>
                  <a:srgbClr val="FFFF00"/>
                </a:highlight>
              </a:rPr>
              <a:t>Subroutine calls and returns:</a:t>
            </a:r>
            <a:r>
              <a:rPr lang="en-US" sz="2000" dirty="0">
                <a:highlight>
                  <a:srgbClr val="FFFF00"/>
                </a:highlight>
              </a:rPr>
              <a:t> Modular programming, reuse of code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a condition flag is true, jump to a new instruction address.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Why needed: Programs are not always linear; </a:t>
            </a:r>
            <a:r>
              <a:rPr lang="en-US" sz="2000" dirty="0">
                <a:highlight>
                  <a:srgbClr val="FFFF00"/>
                </a:highlight>
              </a:rPr>
              <a:t>decisions and loops require control.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3C3BD-770B-EF0F-D48A-BD80341F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2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E85E-E718-BECA-D67C-DA72EBF0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BE48-43D2-A011-435E-0B69A957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Instruction and Instruction Sequencing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1ED90-B137-4147-4964-6B992CA2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2923" cy="4087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4. I/O transfers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Purpose: Communicate with the outside world (input/output devices).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Input: Transfer data from keyboard, disk, sensor → into memory/registers.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Output: </a:t>
            </a:r>
            <a:r>
              <a:rPr lang="en-US" sz="2400" dirty="0">
                <a:highlight>
                  <a:srgbClr val="FFFF00"/>
                </a:highlight>
              </a:rPr>
              <a:t>Transfer data from memory/registers → to screen, printer, or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Why needed: A computer is useless without </a:t>
            </a:r>
            <a:r>
              <a:rPr lang="en-US" sz="2400" dirty="0">
                <a:highlight>
                  <a:srgbClr val="FFFF00"/>
                </a:highlight>
              </a:rPr>
              <a:t>interacting with users or external devices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61D6B-3CF6-F964-72C9-C09C90B4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9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Register Transfer Notation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10058400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 location by a symbolic name standing for its hardware binary address (LOC, R0,…)</a:t>
            </a:r>
          </a:p>
          <a:p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Contents of a location are denoted by placing square brackets around the name of the location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 	R1←[LOC]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R3 ←[R1]+[R2]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notation is Register Transfer Notation (RTN)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91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Assembly-Language Notation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11897294" cy="5336446"/>
          </a:xfrm>
        </p:spPr>
        <p:txBody>
          <a:bodyPr>
            <a:normAutofit/>
          </a:bodyPr>
          <a:lstStyle/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binary (10110000 01100001), we use mnemonics (like MOV A, 61h).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machine-dependent (specific to each processor architecture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machine instructions and programs.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R1,LOC 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R1←[LOC]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R3, R1, R2 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←[R1]+[R2]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04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2DA2-9818-BF3B-0EBC-E57B82B6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2A38-D80F-6414-D1DD-FFFDD8674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🔹 Example (x86 Assembly)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START:   MOV AX, 5        ; Move value 5 into register AX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ADD AX, 3        ; Add 3 to AX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MOV BX, AX       ; Copy result into BX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JMP START        ; Jump back to label START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MOV</a:t>
            </a:r>
            <a:r>
              <a:rPr lang="en-IN" dirty="0"/>
              <a:t> = move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ADD</a:t>
            </a:r>
            <a:r>
              <a:rPr lang="en-IN" dirty="0"/>
              <a:t> = add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JMP</a:t>
            </a:r>
            <a:r>
              <a:rPr lang="en-IN" dirty="0"/>
              <a:t> = jump instruction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FF16F-4430-BE73-FC98-FBDFE1C1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5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92C1-DA14-BE5A-D76A-BA877B69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0A31-1F31-1254-D579-92DA69EAB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1AF7-302F-3A9E-742B-0C77F73F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9BF88-3DCF-6F8F-9C59-27569FB4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4" y="229695"/>
            <a:ext cx="11114720" cy="2457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11C902-EE57-7157-21EA-9BC58484A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74" y="2819683"/>
            <a:ext cx="11114720" cy="358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5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F3F3-4EE0-20D8-79C3-28E8E61E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C510-BD97-6742-4AE6-13D95123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RISC and CISC Instruction Set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8323-D6EA-DDBA-8DD8-A7CAE214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F8323B-AA31-744A-FEC4-6B0A01B92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53" y="704916"/>
            <a:ext cx="11897294" cy="53364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characteristics that distinguish different computers is the 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NATURE OF THEIR INSTRUCTIONS:-</a:t>
            </a:r>
          </a:p>
          <a:p>
            <a:pPr>
              <a:buNone/>
            </a:pPr>
            <a:r>
              <a:rPr lang="en-US" sz="2000" b="1" u="sng" dirty="0"/>
              <a:t>1. CISC (Complex Instruction Set Computer)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Philosophy:</a:t>
            </a:r>
            <a:r>
              <a:rPr lang="en-US" dirty="0"/>
              <a:t> </a:t>
            </a:r>
            <a:r>
              <a:rPr lang="en-US" i="1" dirty="0"/>
              <a:t>“Hardware should do more.”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having </a:t>
            </a:r>
            <a:r>
              <a:rPr lang="en-US" b="1" dirty="0"/>
              <a:t>many complex instructions</a:t>
            </a:r>
            <a:r>
              <a:rPr lang="en-US" dirty="0"/>
              <a:t>, some of which can perform multi-step operations in a single instruction.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Instructions may vary in length and take multiple cycles to execute.</a:t>
            </a:r>
          </a:p>
          <a:p>
            <a:pPr>
              <a:buNone/>
            </a:pPr>
            <a:r>
              <a:rPr lang="en-US" b="1" dirty="0"/>
              <a:t>✅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instruction set (hundreds of instructions).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Instructions can access memory directly (like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</a:rPr>
              <a:t>ADD A, [1000]</a:t>
            </a:r>
            <a:r>
              <a:rPr lang="en-US" dirty="0">
                <a:highlight>
                  <a:srgbClr val="FFFF00"/>
                </a:highlight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Complex instructions may take multiple clock cycles.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fewer lines of assembly code (since one instruction can do a lot).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</a:t>
            </a:r>
            <a:r>
              <a:rPr lang="en-US" b="1" dirty="0"/>
              <a:t>hardware complexity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less compiler dependency.</a:t>
            </a:r>
          </a:p>
          <a:p>
            <a:pPr marL="4572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7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3F63-B702-97EB-09B0-D018DF16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2D24-FB71-BE6D-894C-A4E4610C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RISC and CISC Instruction Set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67A56-B3BE-598A-8B7E-2ED6239E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68BB0D-E3DF-2F3E-1C46-9CDEC4A2F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53" y="704916"/>
            <a:ext cx="11897294" cy="53364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characteristics that distinguish different computers is the nature of their instructions</a:t>
            </a:r>
          </a:p>
          <a:p>
            <a:pPr>
              <a:buNone/>
            </a:pPr>
            <a:r>
              <a:rPr lang="en-US" b="1" dirty="0"/>
              <a:t>CISC (Complex Instruction Set Computer)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MULT R1, R2, R3</a:t>
            </a:r>
          </a:p>
          <a:p>
            <a:pPr>
              <a:buNone/>
            </a:pPr>
            <a:r>
              <a:rPr lang="en-US" dirty="0"/>
              <a:t>This could multiply values in </a:t>
            </a:r>
            <a:r>
              <a:rPr lang="en-US" dirty="0">
                <a:latin typeface="Courier New" panose="02070309020205020404" pitchFamily="49" charset="0"/>
              </a:rPr>
              <a:t>R2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R3</a:t>
            </a:r>
            <a:r>
              <a:rPr lang="en-US" dirty="0"/>
              <a:t>, and store result in </a:t>
            </a:r>
            <a:r>
              <a:rPr lang="en-US" dirty="0">
                <a:latin typeface="Courier New" panose="02070309020205020404" pitchFamily="49" charset="0"/>
              </a:rPr>
              <a:t>R1</a:t>
            </a:r>
            <a:r>
              <a:rPr lang="en-US" dirty="0"/>
              <a:t> </a:t>
            </a:r>
            <a:r>
              <a:rPr lang="en-US" b="1" dirty="0"/>
              <a:t>in one instruction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Examples of CISC processors:</a:t>
            </a:r>
            <a:r>
              <a:rPr lang="en-US" dirty="0"/>
              <a:t> Intel x86, VAX, IBM 370.</a:t>
            </a:r>
          </a:p>
          <a:p>
            <a:pPr marL="4572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735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RISC and CISC Instruction Set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53" y="704916"/>
            <a:ext cx="11897294" cy="53364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500" b="1" u="sng" dirty="0"/>
              <a:t>RISC (Reduced Instruction Set Computer)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Philosophy:</a:t>
            </a:r>
            <a:r>
              <a:rPr lang="en-US" sz="2400" dirty="0"/>
              <a:t> </a:t>
            </a:r>
            <a:r>
              <a:rPr lang="en-US" sz="2400" i="1" dirty="0"/>
              <a:t>“Software should do more, hardware should be simple and fast.”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Focuses on </a:t>
            </a:r>
            <a:r>
              <a:rPr lang="en-US" sz="2400" b="1" dirty="0"/>
              <a:t>a small set of simple instructions</a:t>
            </a:r>
            <a:r>
              <a:rPr lang="en-US" sz="2400" dirty="0"/>
              <a:t> that execute in </a:t>
            </a:r>
            <a:r>
              <a:rPr lang="en-US" sz="2400" b="1" dirty="0"/>
              <a:t>one clock cycle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More instructions are needed to perform the same task, but </a:t>
            </a:r>
            <a:r>
              <a:rPr lang="en-US" sz="2400" dirty="0">
                <a:highlight>
                  <a:srgbClr val="FFFF00"/>
                </a:highlight>
              </a:rPr>
              <a:t>each is executed very quickly.</a:t>
            </a:r>
          </a:p>
          <a:p>
            <a:pPr>
              <a:buNone/>
            </a:pPr>
            <a:r>
              <a:rPr lang="en-US" sz="2400" b="1" dirty="0"/>
              <a:t>✅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Small instruction set (a few dozen to a hundred).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 instructions are of </a:t>
            </a:r>
            <a:r>
              <a:rPr lang="en-US" sz="2400" b="1" dirty="0"/>
              <a:t>fixed length</a:t>
            </a:r>
            <a:r>
              <a:rPr lang="en-US" sz="2400" dirty="0"/>
              <a:t> (easy for pipelining).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Most instructions operate on registers (Load/Store architecture).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Executes in a single clock cycle (mostly).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More </a:t>
            </a:r>
            <a:r>
              <a:rPr lang="en-US" sz="2400" b="1" dirty="0">
                <a:highlight>
                  <a:srgbClr val="FFFF00"/>
                </a:highlight>
              </a:rPr>
              <a:t>compiler optimization</a:t>
            </a:r>
            <a:r>
              <a:rPr lang="en-US" sz="2400" dirty="0"/>
              <a:t>, less hardware complexity.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0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52F7-AF98-075F-6283-654CA306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9CE5-5222-B3D9-2E5E-123DE41F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RISC and CISC Instruction Set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34701-9734-9BBC-C739-F46B168D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629423-46BD-63CD-22C4-0ECEBDEC2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53" y="704916"/>
            <a:ext cx="11897294" cy="53364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RISC (Reduced Instruction Set Computer)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800" b="1" dirty="0"/>
              <a:t> Example:</a:t>
            </a:r>
          </a:p>
          <a:p>
            <a:pPr>
              <a:buNone/>
            </a:pPr>
            <a:r>
              <a:rPr lang="en-US" sz="2800" dirty="0"/>
              <a:t>To multiply two numbers: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LOAD R1, A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LOAD R2, B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MUL  R3, R1, R2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STORE R3, C</a:t>
            </a:r>
          </a:p>
          <a:p>
            <a:pPr>
              <a:buNone/>
            </a:pPr>
            <a:r>
              <a:rPr lang="en-US" sz="2800" dirty="0"/>
              <a:t>Takes more lines than CISC, but each instruction is </a:t>
            </a:r>
            <a:r>
              <a:rPr lang="en-US" sz="2800" b="1" dirty="0"/>
              <a:t>simple and fast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b="1" dirty="0"/>
              <a:t>Examples of RISC processors:</a:t>
            </a:r>
            <a:r>
              <a:rPr lang="en-US" sz="2800" dirty="0"/>
              <a:t> ARM, MIPS, SPARC, RISC-V.</a:t>
            </a:r>
          </a:p>
          <a:p>
            <a:pPr marL="4572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23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77DF-F47F-A7C1-7898-39951D7A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E595EE-FFD3-45EA-5214-CB45A78C1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716" y="609599"/>
            <a:ext cx="9089818" cy="48332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23CBA-F15F-8B46-F067-D7C23D55B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7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en-US" altLang="zh-CN" sz="4000" dirty="0">
                <a:ea typeface="SimSun" panose="02010600030101010101" pitchFamily="2" charset="-122"/>
              </a:rPr>
            </a:b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  <a:t>Key Differences (Quick Table)</a:t>
            </a:r>
            <a:endParaRPr lang="en-US" sz="4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5411656-DC6F-89FA-E9C9-1F2BF52DF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098792"/>
              </p:ext>
            </p:extLst>
          </p:nvPr>
        </p:nvGraphicFramePr>
        <p:xfrm>
          <a:off x="483393" y="1636077"/>
          <a:ext cx="10058400" cy="4873578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90906832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77968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15501027"/>
                    </a:ext>
                  </a:extLst>
                </a:gridCol>
              </a:tblGrid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CISC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20740"/>
                  </a:ext>
                </a:extLst>
              </a:tr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Instruction set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&amp;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&amp; 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102922"/>
                  </a:ext>
                </a:extLst>
              </a:tr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Instruction 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4712"/>
                  </a:ext>
                </a:extLst>
              </a:tr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Execution cycles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per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Mostly single-cycle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21837"/>
                  </a:ext>
                </a:extLst>
              </a:tr>
              <a:tr h="89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 access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instructions access mem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load/store access mem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028467"/>
                  </a:ext>
                </a:extLst>
              </a:tr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Hardware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(microcode)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(hardwired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403177"/>
                  </a:ext>
                </a:extLst>
              </a:tr>
              <a:tr h="513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Code 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Smaller (fewer lines)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 (more instructions)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277012"/>
                  </a:ext>
                </a:extLst>
              </a:tr>
              <a:tr h="89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Used 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x86 (Intel/AMD PCs)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ARM (mobiles), RISC-V, MIPS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82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569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86E5-D997-6EE1-3993-44174787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1337-596E-7878-47B3-9A5D50C2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51513"/>
            <a:ext cx="10611152" cy="595497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sz="2000" b="1" dirty="0"/>
              <a:t>CISC (Complex Instruction Set Computer)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Where used: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Personal computers (PCs)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Laptops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Most desktop processors today (Intel </a:t>
            </a:r>
            <a:r>
              <a:rPr lang="en-IN" sz="2000" b="1" dirty="0"/>
              <a:t>x86</a:t>
            </a:r>
            <a:r>
              <a:rPr lang="en-IN" sz="2000" dirty="0"/>
              <a:t> and AMD) are based on </a:t>
            </a:r>
            <a:r>
              <a:rPr lang="en-IN" sz="2000" b="1" dirty="0"/>
              <a:t>CISC architecture</a:t>
            </a:r>
            <a:r>
              <a:rPr lang="en-IN" sz="2000" dirty="0"/>
              <a:t>.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/>
              <a:t>🔹 RISC (Reduced Instruction Set Computer)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Where used: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Smartphones (ARM processors in almost all Android/iOS devices)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Tablets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Embedded systems (IoT, automotive, routers,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High-performance computing (many modern supercomputers use RISC-based chips like </a:t>
            </a:r>
            <a:r>
              <a:rPr lang="en-IN" sz="2000" b="1" dirty="0"/>
              <a:t>RISC-V</a:t>
            </a:r>
            <a:r>
              <a:rPr lang="en-IN" sz="2000" dirty="0"/>
              <a:t> or </a:t>
            </a:r>
            <a:r>
              <a:rPr lang="en-IN" sz="2000" b="1" dirty="0"/>
              <a:t>POWER</a:t>
            </a:r>
            <a:r>
              <a:rPr lang="en-IN" sz="2000" dirty="0"/>
              <a:t>).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27D94-435B-D15D-2E23-498AFB71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64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0058400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RISC Instruction Sets</a:t>
            </a:r>
            <a:endParaRPr lang="en-US" sz="4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06" y="1164625"/>
            <a:ext cx="11897294" cy="5336446"/>
          </a:xfrm>
        </p:spPr>
        <p:txBody>
          <a:bodyPr>
            <a:no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+ B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← [A] + [B]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Assembly: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R2, A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R3, B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R4, R2, R3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R4, 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Three-Address Instructions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destination, source1, source2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Store instruction is of the form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source, destination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22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7232-3E45-547A-E31B-6C850D7D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F3B5E2-30E2-3728-D5E0-8588B0ECF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592" y="952380"/>
            <a:ext cx="8043879" cy="52715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2DC6D-BF0F-F116-60DA-C87322BB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47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A959-40BC-F0E4-27A2-262341D4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0E6620-F872-8098-5017-688B06F33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26" y="-94768"/>
            <a:ext cx="11908147" cy="7047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6F5BE-06B0-24F5-3B51-5197C5FC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10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7B05-AB29-BD73-FB8C-9E4E30CF0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152401"/>
            <a:ext cx="8936545" cy="5888962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3200" dirty="0"/>
              <a:t>Differences: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 CISC, the </a:t>
            </a:r>
            <a:r>
              <a:rPr lang="en-US" sz="3200" b="1" dirty="0">
                <a:latin typeface="Courier New" panose="02070309020205020404" pitchFamily="49" charset="0"/>
              </a:rPr>
              <a:t>ADD</a:t>
            </a:r>
            <a:r>
              <a:rPr lang="en-US" sz="3200" b="1" dirty="0"/>
              <a:t> instruction can take memory operands directly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00"/>
                </a:highlight>
              </a:rPr>
              <a:t>You don’t always need a separate </a:t>
            </a:r>
            <a:r>
              <a:rPr lang="en-US" sz="3200" dirty="0">
                <a:highlight>
                  <a:srgbClr val="FFFF00"/>
                </a:highlight>
                <a:latin typeface="Courier New" panose="02070309020205020404" pitchFamily="49" charset="0"/>
              </a:rPr>
              <a:t>Load</a:t>
            </a:r>
            <a:r>
              <a:rPr lang="en-US" sz="3200" dirty="0">
                <a:highlight>
                  <a:srgbClr val="FFFF00"/>
                </a:highlight>
              </a:rPr>
              <a:t> and </a:t>
            </a:r>
            <a:r>
              <a:rPr lang="en-US" sz="3200" dirty="0">
                <a:highlight>
                  <a:srgbClr val="FFFF00"/>
                </a:highlight>
                <a:latin typeface="Courier New" panose="02070309020205020404" pitchFamily="49" charset="0"/>
              </a:rPr>
              <a:t>Store</a:t>
            </a:r>
            <a:r>
              <a:rPr lang="en-US" sz="3200" dirty="0">
                <a:highlight>
                  <a:srgbClr val="FFFF00"/>
                </a:highlight>
              </a:rPr>
              <a:t> for each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Instructions are more </a:t>
            </a:r>
            <a:r>
              <a:rPr lang="en-US" sz="3200" b="1" dirty="0"/>
              <a:t>complex</a:t>
            </a:r>
            <a:r>
              <a:rPr lang="en-US" sz="3200" dirty="0"/>
              <a:t> and may take multiple cycles to execute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0265-D794-C7F8-5686-38D4F110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10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Instruction Execution and Straight-Line Sequencing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5606657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a possible program segment for the task, C=A+B, as it appears in the memory of a computer.</a:t>
            </a:r>
          </a:p>
          <a:p>
            <a:r>
              <a:rPr lang="en-US" sz="2400" dirty="0">
                <a:latin typeface="+mj-lt"/>
              </a:rPr>
              <a:t>Straight-line sequencing: using the information in the PC to fetch and execute instructions, one at a time, in the order of increasing addresses.</a:t>
            </a:r>
          </a:p>
          <a:p>
            <a:r>
              <a:rPr lang="en-US" sz="2400" dirty="0">
                <a:latin typeface="+mj-lt"/>
              </a:rPr>
              <a:t>Executing a given instruction is a two-phase procedure. </a:t>
            </a:r>
          </a:p>
          <a:p>
            <a:pPr lvl="1"/>
            <a:r>
              <a:rPr lang="en-US" sz="2400" dirty="0">
                <a:latin typeface="+mj-lt"/>
              </a:rPr>
              <a:t>Instruction fetch (First phase)</a:t>
            </a:r>
          </a:p>
          <a:p>
            <a:pPr lvl="1"/>
            <a:r>
              <a:rPr lang="en-US" sz="2400" dirty="0">
                <a:latin typeface="+mj-lt"/>
              </a:rPr>
              <a:t>Instruction execute (Second phase)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597AA-0527-456E-B615-7835812D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6" y="1391402"/>
            <a:ext cx="6072923" cy="530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8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6D3A1-76A9-9B87-6946-190C04050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337457"/>
            <a:ext cx="10404323" cy="570390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>
                <a:highlight>
                  <a:srgbClr val="00FFFF"/>
                </a:highlight>
              </a:rPr>
              <a:t>Two-Phase Execution of Each Instruction</a:t>
            </a:r>
          </a:p>
          <a:p>
            <a:pPr>
              <a:buNone/>
            </a:pPr>
            <a:r>
              <a:rPr lang="en-US" sz="2400" dirty="0"/>
              <a:t>Every instruction goes through </a:t>
            </a:r>
            <a:r>
              <a:rPr lang="en-US" sz="2400" b="1" dirty="0"/>
              <a:t>two fundamental phases</a:t>
            </a:r>
            <a:r>
              <a:rPr lang="en-US" sz="24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highlight>
                  <a:srgbClr val="FFFF00"/>
                </a:highlight>
              </a:rPr>
              <a:t>Instruction Fetch (IF)</a:t>
            </a:r>
            <a:endParaRPr lang="en-US" sz="2400" dirty="0">
              <a:highlight>
                <a:srgbClr val="FFFF00"/>
              </a:highlight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The instruction is fetched from memory.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PC gives the memory address of the instruction.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i="1" dirty="0"/>
              <a:t>The instruction is placed into the </a:t>
            </a:r>
            <a:r>
              <a:rPr lang="en-US" sz="2400" b="1" i="1" dirty="0"/>
              <a:t>Instruction Register (IR)</a:t>
            </a:r>
            <a:r>
              <a:rPr lang="en-US" sz="2400" i="1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PC is updated to the next instruction.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highlight>
                  <a:srgbClr val="FFFF00"/>
                </a:highlight>
              </a:rPr>
              <a:t>Instruction Execute (EX)</a:t>
            </a:r>
            <a:endParaRPr lang="en-US" sz="2400" dirty="0">
              <a:highlight>
                <a:srgbClr val="FFFF00"/>
              </a:highlight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i="1" dirty="0"/>
              <a:t>The instruction in IR(Inst. Reg.) is decoded and executed.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Example: if it’s </a:t>
            </a:r>
            <a:r>
              <a:rPr lang="en-US" sz="2400" dirty="0">
                <a:latin typeface="Courier New" panose="02070309020205020404" pitchFamily="49" charset="0"/>
              </a:rPr>
              <a:t>ADD R4, R2, R3</a:t>
            </a:r>
            <a:r>
              <a:rPr lang="en-US" sz="2400" dirty="0"/>
              <a:t>, the ALU performs addition.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If it’s </a:t>
            </a:r>
            <a:r>
              <a:rPr lang="en-US" sz="2400" dirty="0">
                <a:latin typeface="Courier New" panose="02070309020205020404" pitchFamily="49" charset="0"/>
              </a:rPr>
              <a:t>LOAD</a:t>
            </a:r>
            <a:r>
              <a:rPr lang="en-US" sz="2400" dirty="0"/>
              <a:t>, data is moved from memory to a register.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If its STORE , data is moved from register to memory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73AEC-7217-2558-F3EF-B7C8BE51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11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Branching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5" y="1391403"/>
            <a:ext cx="3059400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Consider the task of adding a list of n numbers.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0B74A-A53C-4EDB-B233-CB01BD09F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57" y="65913"/>
            <a:ext cx="6008914" cy="67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78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Branching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2308286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Consider the task of adding a list of n numbers in a loop.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AB3B9-FE27-4FEA-8C6F-BC5599580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028" y="269221"/>
            <a:ext cx="5881835" cy="631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90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4400" dirty="0">
                <a:ea typeface="SimSun" panose="02010600030101010101" pitchFamily="2" charset="-122"/>
              </a:rPr>
              <a:t>Generating Memory Addresses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E2CF0-B48A-4A81-BE80-98990CFE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" y="1391403"/>
            <a:ext cx="6042086" cy="53364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The purpose of the instruction block starting at LOOP is to add successive numbers from the list during each pass through the loop</a:t>
            </a:r>
          </a:p>
          <a:p>
            <a:r>
              <a:rPr lang="en-US" sz="2400" dirty="0">
                <a:latin typeface="+mj-lt"/>
              </a:rPr>
              <a:t>must refer to a different address during each pass</a:t>
            </a:r>
          </a:p>
          <a:p>
            <a:r>
              <a:rPr lang="en-US" sz="2400" dirty="0">
                <a:latin typeface="+mj-lt"/>
              </a:rPr>
              <a:t>memory operand address cannot be given directly in a single Load instruction in the loop.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E3216-33B3-4714-893E-2BC3824A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002" y="1428935"/>
            <a:ext cx="5215129" cy="541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19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7758-F6B3-83B4-4D08-50EE75E3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D1CA7-A62D-BA50-487B-FA0124B02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44" y="184943"/>
            <a:ext cx="10926837" cy="64881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9E6A9-D6ED-D2C7-712D-467DF97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413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27990</TotalTime>
  <Words>1534</Words>
  <Application>Microsoft Office PowerPoint</Application>
  <PresentationFormat>Widescreen</PresentationFormat>
  <Paragraphs>222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SimSun</vt:lpstr>
      <vt:lpstr>Arial</vt:lpstr>
      <vt:lpstr>Calibri</vt:lpstr>
      <vt:lpstr>Courier New</vt:lpstr>
      <vt:lpstr>Times New Roman</vt:lpstr>
      <vt:lpstr>Wingdings 3</vt:lpstr>
      <vt:lpstr>Facet</vt:lpstr>
      <vt:lpstr>Instruction and Instruction Sequencing</vt:lpstr>
      <vt:lpstr>Instruction and Instruction Sequencing</vt:lpstr>
      <vt:lpstr>Instruction and Instruction Sequencing</vt:lpstr>
      <vt:lpstr>Instruction and Instruction Sequencing</vt:lpstr>
      <vt:lpstr>Instruction and Instruction Sequencing</vt:lpstr>
      <vt:lpstr>Instruction and Instruction Sequencing</vt:lpstr>
      <vt:lpstr>Register Transfer Notation</vt:lpstr>
      <vt:lpstr>Assembly-Language Notation</vt:lpstr>
      <vt:lpstr>PowerPoint Presentation</vt:lpstr>
      <vt:lpstr>PowerPoint Presentation</vt:lpstr>
      <vt:lpstr>RISC and CISC Instruction Set</vt:lpstr>
      <vt:lpstr>RISC and CISC Instruction Set</vt:lpstr>
      <vt:lpstr>RISC and CISC Instruction Set</vt:lpstr>
      <vt:lpstr>RISC and CISC Instruction Set</vt:lpstr>
      <vt:lpstr>PowerPoint Presentation</vt:lpstr>
      <vt:lpstr> Key Differences (Quick Table)</vt:lpstr>
      <vt:lpstr>PowerPoint Presentation</vt:lpstr>
      <vt:lpstr>RISC Instruction Sets</vt:lpstr>
      <vt:lpstr>PowerPoint Presentation</vt:lpstr>
      <vt:lpstr>PowerPoint Presentation</vt:lpstr>
      <vt:lpstr>PowerPoint Presentation</vt:lpstr>
      <vt:lpstr>Instruction Execution and Straight-Line Sequencing</vt:lpstr>
      <vt:lpstr>PowerPoint Presentation</vt:lpstr>
      <vt:lpstr>Branching</vt:lpstr>
      <vt:lpstr>Branching</vt:lpstr>
      <vt:lpstr>Generating Memory Addresses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Shwetha  Rai [MAHE-MIT]</dc:creator>
  <cp:lastModifiedBy>Shashank Nandan</cp:lastModifiedBy>
  <cp:revision>230</cp:revision>
  <dcterms:created xsi:type="dcterms:W3CDTF">2021-09-04T08:40:57Z</dcterms:created>
  <dcterms:modified xsi:type="dcterms:W3CDTF">2025-11-27T06:25:24Z</dcterms:modified>
</cp:coreProperties>
</file>