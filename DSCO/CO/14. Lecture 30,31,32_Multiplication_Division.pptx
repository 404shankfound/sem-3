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446" r:id="rId2"/>
    <p:sldId id="448" r:id="rId3"/>
    <p:sldId id="449" r:id="rId4"/>
    <p:sldId id="450" r:id="rId5"/>
    <p:sldId id="431" r:id="rId6"/>
    <p:sldId id="432" r:id="rId7"/>
    <p:sldId id="438" r:id="rId8"/>
    <p:sldId id="439" r:id="rId9"/>
    <p:sldId id="435" r:id="rId10"/>
    <p:sldId id="433" r:id="rId11"/>
    <p:sldId id="436" r:id="rId12"/>
    <p:sldId id="437" r:id="rId13"/>
    <p:sldId id="440" r:id="rId14"/>
    <p:sldId id="441" r:id="rId15"/>
    <p:sldId id="447" r:id="rId16"/>
    <p:sldId id="442" r:id="rId17"/>
    <p:sldId id="443" r:id="rId18"/>
    <p:sldId id="444" r:id="rId19"/>
    <p:sldId id="445" r:id="rId20"/>
    <p:sldId id="30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35" autoAdjust="0"/>
    <p:restoredTop sz="94249" autoAdjust="0"/>
  </p:normalViewPr>
  <p:slideViewPr>
    <p:cSldViewPr snapToGrid="0">
      <p:cViewPr varScale="1">
        <p:scale>
          <a:sx n="78" d="100"/>
          <a:sy n="78" d="100"/>
        </p:scale>
        <p:origin x="38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7D046-A8A1-44AA-9225-52BE844244A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FC263-4F31-4686-BA2E-F79A19B1A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1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FC263-4F31-4686-BA2E-F79A19B1A8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F4296-AADA-4765-9908-95ED79072977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1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81325-29BE-475F-9B2C-D7512155DE3F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7EB6C0-EEC1-ABF6-DC78-BAA5F72137F8}"/>
              </a:ext>
            </a:extLst>
          </p:cNvPr>
          <p:cNvSpPr/>
          <p:nvPr userDrawn="1"/>
        </p:nvSpPr>
        <p:spPr>
          <a:xfrm>
            <a:off x="0" y="0"/>
            <a:ext cx="12192000" cy="1302327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888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535E-F719-4C1A-A324-CE4D9FBE38D8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3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32A8-89E6-4923-BA2A-A5F2910D8975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8166-8744-449F-ACCA-12416E515A31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0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34F1E-1C89-49E0-B193-010DF0A322E9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9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2143-BB12-484A-BCAD-73BBFEEE42BC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8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8664E-8E38-4384-B594-38CB4321BE99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1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F380-4523-422A-81D3-9A92ADB379F0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6836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6917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1433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355220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491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31C80-52BA-4EEA-A6A1-BAB1E6E5E08B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87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79210-F412-45A3-941C-C70DB09B81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0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F80CB-8741-422F-9C7A-70BBC32CA806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497357C-FBB4-4C9C-B696-E390146D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0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ECA6-2041-A720-2870-B26B1EB03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344504" cy="1646302"/>
          </a:xfrm>
        </p:spPr>
        <p:txBody>
          <a:bodyPr/>
          <a:lstStyle/>
          <a:p>
            <a:r>
              <a:rPr lang="en-US" dirty="0"/>
              <a:t>Multiplication and Division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08B0C-A97D-6463-8A5C-28E829B07A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0F684-AC38-5275-EC04-8B47E9AC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46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3390-5EDA-E951-A60A-95A399CB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8667-1E93-0246-A7AD-D33D5DC1C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Idea of Booth’s Algorithm</a:t>
            </a:r>
          </a:p>
          <a:p>
            <a:r>
              <a:rPr lang="en-US" dirty="0"/>
              <a:t>Booth’s algorithm was invented by </a:t>
            </a:r>
            <a:r>
              <a:rPr lang="en-US" b="1" dirty="0"/>
              <a:t>Andrew D. Booth (1951)</a:t>
            </a:r>
            <a:r>
              <a:rPr lang="en-US" dirty="0"/>
              <a:t> to:</a:t>
            </a:r>
          </a:p>
          <a:p>
            <a:r>
              <a:rPr lang="en-US" b="1" dirty="0"/>
              <a:t>Handle signed numbers correctly (2’s complement)</a:t>
            </a:r>
            <a:r>
              <a:rPr lang="en-US" dirty="0"/>
              <a:t> </a:t>
            </a:r>
          </a:p>
          <a:p>
            <a:r>
              <a:rPr lang="en-US" b="1" dirty="0"/>
              <a:t>Reduce the number of addition/subtraction operations</a:t>
            </a:r>
            <a:r>
              <a:rPr lang="en-US" dirty="0"/>
              <a:t> </a:t>
            </a:r>
          </a:p>
          <a:p>
            <a:r>
              <a:rPr lang="en-US" b="1" dirty="0"/>
              <a:t>Make multiplication faster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4D91D-8FC6-8214-C5C0-BAC04A9C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8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2A07-BAD8-5043-A195-99F3CB7F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Binary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9AFD-0663-88CF-A0FB-0DE2CB6A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61622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Multiplicand (M) = any number, say 5 → 00000101</a:t>
            </a:r>
          </a:p>
          <a:p>
            <a:pPr marL="0" indent="0">
              <a:buNone/>
            </a:pPr>
            <a:r>
              <a:rPr lang="en-US" dirty="0"/>
              <a:t>Multiplier (Q)   = 00111100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22A27-C178-539D-B2AB-E52F0B6F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F0CFE-6347-BB5A-0E13-4EE63E04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98" y="2087488"/>
            <a:ext cx="7077659" cy="3796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CE95C0-8A0B-4EF8-155D-861EF8BD87FC}"/>
              </a:ext>
            </a:extLst>
          </p:cNvPr>
          <p:cNvSpPr txBox="1"/>
          <p:nvPr/>
        </p:nvSpPr>
        <p:spPr>
          <a:xfrm>
            <a:off x="866303" y="5786735"/>
            <a:ext cx="6101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four consecutive 1s in the middle → that </a:t>
            </a:r>
            <a:r>
              <a:rPr lang="en-US" dirty="0" err="1"/>
              <a:t>means:You</a:t>
            </a:r>
            <a:r>
              <a:rPr lang="en-US" dirty="0"/>
              <a:t> must add the multiplicand (properly shifted) 4 times.  Hence, “4 additions.”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31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691C-4BEB-E29D-B2BF-DD70FAFA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C7E263-3E77-D451-8AF4-8E1590956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341" y="234778"/>
            <a:ext cx="10812162" cy="62648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72B0F-7675-38D0-3CD4-B1C9B2E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7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Multiplication: Booth’s Algorithm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2A793-7629-4DDE-BE79-22FFCF43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06" y="1545164"/>
            <a:ext cx="7661585" cy="511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5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Multiplication: Booth’s Algorithm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24DBCA-6EA0-4A57-B25E-94CF56BF5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103" y="1624334"/>
            <a:ext cx="6941485" cy="436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5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Booth’s algorithm: 13X-6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42" y="1313663"/>
            <a:ext cx="11363263" cy="5439407"/>
          </a:xfrm>
        </p:spPr>
        <p:txBody>
          <a:bodyPr>
            <a:normAutofit/>
          </a:bodyPr>
          <a:lstStyle/>
          <a:p>
            <a:r>
              <a:rPr lang="en-US" dirty="0"/>
              <a:t>M=13=01101		Q=-6=11010 		-M=10011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09E82EB-3863-4D0E-BF31-3A1698587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961024"/>
              </p:ext>
            </p:extLst>
          </p:nvPr>
        </p:nvGraphicFramePr>
        <p:xfrm>
          <a:off x="400361" y="1666590"/>
          <a:ext cx="10505563" cy="518095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848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8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554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 </a:t>
                      </a:r>
                      <a:r>
                        <a:rPr lang="en-US" sz="1800" baseline="-25000" dirty="0"/>
                        <a:t>-1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56">
                <a:tc>
                  <a:txBody>
                    <a:bodyPr/>
                    <a:lstStyle/>
                    <a:p>
                      <a:r>
                        <a:rPr lang="en-US" sz="1800" dirty="0"/>
                        <a:t>00000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11010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Initial values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733">
                <a:tc>
                  <a:txBody>
                    <a:bodyPr/>
                    <a:lstStyle/>
                    <a:p>
                      <a:r>
                        <a:rPr lang="en-US" sz="1800" dirty="0"/>
                        <a:t>00000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Right-1</a:t>
                      </a:r>
                      <a:r>
                        <a:rPr lang="en-US" sz="1800" baseline="30000" dirty="0"/>
                        <a:t>st</a:t>
                      </a:r>
                      <a:r>
                        <a:rPr lang="en-US" sz="1800" baseline="0" dirty="0"/>
                        <a:t> cycle</a:t>
                      </a:r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873">
                <a:tc>
                  <a:txBody>
                    <a:bodyPr/>
                    <a:lstStyle/>
                    <a:p>
                      <a:r>
                        <a:rPr lang="en-US" sz="1800" u="sng" dirty="0"/>
                        <a:t>10011</a:t>
                      </a:r>
                    </a:p>
                    <a:p>
                      <a:r>
                        <a:rPr lang="en-US" sz="1800" u="none" dirty="0"/>
                        <a:t>10011</a:t>
                      </a:r>
                    </a:p>
                    <a:p>
                      <a:r>
                        <a:rPr lang="en-US" sz="1800" i="1" u="none" dirty="0"/>
                        <a:t>11001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01101</a:t>
                      </a:r>
                    </a:p>
                    <a:p>
                      <a:r>
                        <a:rPr lang="en-US" sz="1800" i="1" dirty="0"/>
                        <a:t>10110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</a:t>
                      </a:r>
                    </a:p>
                    <a:p>
                      <a:r>
                        <a:rPr lang="en-US" sz="1800" i="1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01101</a:t>
                      </a:r>
                    </a:p>
                    <a:p>
                      <a:r>
                        <a:rPr lang="en-US" sz="1800" i="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A=A-M   [Subtract M from A(Adding 2’s complement of M)]</a:t>
                      </a:r>
                    </a:p>
                    <a:p>
                      <a:r>
                        <a:rPr lang="en-US" sz="1800" i="1" dirty="0"/>
                        <a:t>Shift</a:t>
                      </a:r>
                      <a:r>
                        <a:rPr lang="en-US" sz="1800" i="1" baseline="0" dirty="0"/>
                        <a:t> Right-   2</a:t>
                      </a:r>
                      <a:r>
                        <a:rPr lang="en-US" sz="1800" i="1" baseline="30000" dirty="0"/>
                        <a:t>nd</a:t>
                      </a:r>
                      <a:r>
                        <a:rPr lang="en-US" sz="1800" i="1" baseline="0" dirty="0"/>
                        <a:t> cycle</a:t>
                      </a:r>
                      <a:endParaRPr lang="en-US" sz="1800" i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873">
                <a:tc>
                  <a:txBody>
                    <a:bodyPr/>
                    <a:lstStyle/>
                    <a:p>
                      <a:r>
                        <a:rPr lang="en-US" sz="1800" u="sng" dirty="0"/>
                        <a:t>01101</a:t>
                      </a:r>
                    </a:p>
                    <a:p>
                      <a:r>
                        <a:rPr lang="en-US" sz="1800" u="none" dirty="0"/>
                        <a:t>00110</a:t>
                      </a:r>
                    </a:p>
                    <a:p>
                      <a:r>
                        <a:rPr lang="en-US" sz="1800" i="1" u="none" dirty="0"/>
                        <a:t>00011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10110</a:t>
                      </a:r>
                    </a:p>
                    <a:p>
                      <a:r>
                        <a:rPr lang="en-US" sz="1800" i="1" dirty="0"/>
                        <a:t>01011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1</a:t>
                      </a:r>
                    </a:p>
                    <a:p>
                      <a:r>
                        <a:rPr lang="en-US" sz="1800" i="1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A=A+M</a:t>
                      </a:r>
                    </a:p>
                    <a:p>
                      <a:endParaRPr lang="en-US" sz="18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Right-   3rd cycle</a:t>
                      </a:r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8873">
                <a:tc>
                  <a:txBody>
                    <a:bodyPr/>
                    <a:lstStyle/>
                    <a:p>
                      <a:r>
                        <a:rPr lang="en-US" sz="1800" u="sng" dirty="0"/>
                        <a:t>10011</a:t>
                      </a:r>
                    </a:p>
                    <a:p>
                      <a:r>
                        <a:rPr lang="en-US" sz="1800" u="none" dirty="0"/>
                        <a:t>10110</a:t>
                      </a:r>
                    </a:p>
                    <a:p>
                      <a:r>
                        <a:rPr lang="en-US" sz="1800" i="1" u="none" dirty="0"/>
                        <a:t>11011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01011</a:t>
                      </a:r>
                    </a:p>
                    <a:p>
                      <a:r>
                        <a:rPr lang="en-US" sz="1800" i="1" dirty="0"/>
                        <a:t>00101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</a:t>
                      </a:r>
                    </a:p>
                    <a:p>
                      <a:r>
                        <a:rPr lang="en-US" sz="1800" i="1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01101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A=A-M   [Subtract M from A(Adding 2’s complement of M)]</a:t>
                      </a:r>
                    </a:p>
                    <a:p>
                      <a:r>
                        <a:rPr lang="en-US" sz="1800" dirty="0"/>
                        <a:t>Shift</a:t>
                      </a:r>
                      <a:r>
                        <a:rPr lang="en-US" sz="1800" baseline="0" dirty="0"/>
                        <a:t> Right-   4th cycle</a:t>
                      </a:r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214">
                <a:tc>
                  <a:txBody>
                    <a:bodyPr/>
                    <a:lstStyle/>
                    <a:p>
                      <a:r>
                        <a:rPr lang="en-US" sz="1800" b="1" dirty="0"/>
                        <a:t>11101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10010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Shift Right 5th cycle</a:t>
                      </a:r>
                    </a:p>
                    <a:p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2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Taking 2’s complement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0001001110</a:t>
                      </a:r>
                      <a:r>
                        <a:rPr lang="en-US" sz="1800" b="1" dirty="0">
                          <a:sym typeface="Wingdings" panose="05000000000000000000" pitchFamily="2" charset="2"/>
                        </a:rPr>
                        <a:t>78</a:t>
                      </a:r>
                    </a:p>
                    <a:p>
                      <a:pPr algn="ctr"/>
                      <a:r>
                        <a:rPr lang="en-US" sz="1800" b="1" dirty="0">
                          <a:sym typeface="Wingdings" panose="05000000000000000000" pitchFamily="2" charset="2"/>
                        </a:rPr>
                        <a:t>Product=-78</a:t>
                      </a:r>
                      <a:endParaRPr lang="en-US" sz="1800" b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95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Booth’s algorithm: 23X29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42" y="1313663"/>
            <a:ext cx="11363263" cy="5439407"/>
          </a:xfrm>
        </p:spPr>
        <p:txBody>
          <a:bodyPr>
            <a:normAutofit/>
          </a:bodyPr>
          <a:lstStyle/>
          <a:p>
            <a:r>
              <a:rPr lang="fr-FR" dirty="0"/>
              <a:t>M=23=010111		Q=29=011101		-M=101001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09E82EB-3863-4D0E-BF31-3A1698587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0905281"/>
              </p:ext>
            </p:extLst>
          </p:nvPr>
        </p:nvGraphicFramePr>
        <p:xfrm>
          <a:off x="400361" y="1666590"/>
          <a:ext cx="10505563" cy="506935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848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0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8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554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 </a:t>
                      </a:r>
                      <a:r>
                        <a:rPr lang="en-US" sz="1400" baseline="-25000" dirty="0"/>
                        <a:t>-1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31">
                <a:tc>
                  <a:txBody>
                    <a:bodyPr/>
                    <a:lstStyle/>
                    <a:p>
                      <a:r>
                        <a:rPr lang="en-US" sz="1400" dirty="0"/>
                        <a:t>000000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Initial values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733">
                <a:tc>
                  <a:txBody>
                    <a:bodyPr/>
                    <a:lstStyle/>
                    <a:p>
                      <a:r>
                        <a:rPr lang="en-US" sz="1400" u="sng" dirty="0"/>
                        <a:t>101001</a:t>
                      </a:r>
                    </a:p>
                    <a:p>
                      <a:r>
                        <a:rPr lang="en-US" sz="1400" dirty="0"/>
                        <a:t>101001</a:t>
                      </a:r>
                    </a:p>
                    <a:p>
                      <a:r>
                        <a:rPr lang="en-US" sz="1400" dirty="0"/>
                        <a:t>110100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011101</a:t>
                      </a:r>
                    </a:p>
                    <a:p>
                      <a:r>
                        <a:rPr lang="en-US" sz="1400" dirty="0"/>
                        <a:t>101110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0</a:t>
                      </a:r>
                    </a:p>
                    <a:p>
                      <a:r>
                        <a:rPr lang="en-US" sz="1400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A=A-M </a:t>
                      </a:r>
                    </a:p>
                    <a:p>
                      <a:r>
                        <a:rPr lang="en-US" sz="1400" dirty="0"/>
                        <a:t>Shift</a:t>
                      </a:r>
                      <a:r>
                        <a:rPr lang="en-US" sz="1400" baseline="0" dirty="0"/>
                        <a:t> Right-1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baseline="0" dirty="0"/>
                        <a:t> cycle</a:t>
                      </a:r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873">
                <a:tc>
                  <a:txBody>
                    <a:bodyPr/>
                    <a:lstStyle/>
                    <a:p>
                      <a:r>
                        <a:rPr lang="en-US" sz="1400" u="sng" dirty="0"/>
                        <a:t>010111</a:t>
                      </a:r>
                    </a:p>
                    <a:p>
                      <a:r>
                        <a:rPr lang="en-US" sz="1400" u="none" dirty="0"/>
                        <a:t>001011</a:t>
                      </a:r>
                    </a:p>
                    <a:p>
                      <a:r>
                        <a:rPr lang="en-US" sz="1400" u="none" dirty="0"/>
                        <a:t>000101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101110</a:t>
                      </a:r>
                    </a:p>
                    <a:p>
                      <a:r>
                        <a:rPr lang="en-US" sz="1400" dirty="0"/>
                        <a:t>110111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1</a:t>
                      </a:r>
                    </a:p>
                    <a:p>
                      <a:r>
                        <a:rPr lang="en-US" sz="1400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A=A+M</a:t>
                      </a:r>
                    </a:p>
                    <a:p>
                      <a:r>
                        <a:rPr lang="en-US" sz="1400" i="1" dirty="0"/>
                        <a:t>Shift</a:t>
                      </a:r>
                      <a:r>
                        <a:rPr lang="en-US" sz="1400" i="1" baseline="0" dirty="0"/>
                        <a:t> Right-   2</a:t>
                      </a:r>
                      <a:r>
                        <a:rPr lang="en-US" sz="1400" i="1" baseline="30000" dirty="0"/>
                        <a:t>nd</a:t>
                      </a:r>
                      <a:r>
                        <a:rPr lang="en-US" sz="1400" i="1" baseline="0" dirty="0"/>
                        <a:t> cycle</a:t>
                      </a:r>
                      <a:endParaRPr lang="en-US" sz="1400" i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873">
                <a:tc>
                  <a:txBody>
                    <a:bodyPr/>
                    <a:lstStyle/>
                    <a:p>
                      <a:r>
                        <a:rPr lang="en-US" sz="1400" u="sng" dirty="0"/>
                        <a:t>101001</a:t>
                      </a:r>
                    </a:p>
                    <a:p>
                      <a:r>
                        <a:rPr lang="en-US" sz="1400" u="none" dirty="0"/>
                        <a:t>101110</a:t>
                      </a:r>
                    </a:p>
                    <a:p>
                      <a:r>
                        <a:rPr lang="en-US" sz="1400" u="none" dirty="0"/>
                        <a:t>110111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110111</a:t>
                      </a:r>
                    </a:p>
                    <a:p>
                      <a:r>
                        <a:rPr lang="en-US" sz="1400" dirty="0"/>
                        <a:t>011011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0</a:t>
                      </a:r>
                    </a:p>
                    <a:p>
                      <a:r>
                        <a:rPr lang="en-US" sz="1400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A=A-M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Shift</a:t>
                      </a:r>
                      <a:r>
                        <a:rPr lang="en-US" sz="1400" baseline="0" dirty="0"/>
                        <a:t> Right-   3rd cycle</a:t>
                      </a:r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93">
                <a:tc>
                  <a:txBody>
                    <a:bodyPr/>
                    <a:lstStyle/>
                    <a:p>
                      <a:r>
                        <a:rPr lang="en-US" sz="1400" u="none" dirty="0"/>
                        <a:t>111011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US" sz="1400" i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</a:t>
                      </a:r>
                      <a:r>
                        <a:rPr lang="en-US" sz="1400" baseline="0" dirty="0"/>
                        <a:t> Right-   4th cycle</a:t>
                      </a:r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00">
                <a:tc>
                  <a:txBody>
                    <a:bodyPr/>
                    <a:lstStyle/>
                    <a:p>
                      <a:r>
                        <a:rPr lang="en-US" sz="1400" u="none" dirty="0"/>
                        <a:t>111101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110110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 Right 5th cycle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214">
                <a:tc>
                  <a:txBody>
                    <a:bodyPr/>
                    <a:lstStyle/>
                    <a:p>
                      <a:r>
                        <a:rPr lang="en-US" sz="1400" u="sng" dirty="0"/>
                        <a:t>010111</a:t>
                      </a:r>
                    </a:p>
                    <a:p>
                      <a:r>
                        <a:rPr lang="en-US" sz="1400" u="none" dirty="0"/>
                        <a:t>010100</a:t>
                      </a:r>
                    </a:p>
                    <a:p>
                      <a:r>
                        <a:rPr lang="en-US" sz="1400" u="none" dirty="0"/>
                        <a:t>001010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110110</a:t>
                      </a:r>
                    </a:p>
                    <a:p>
                      <a:r>
                        <a:rPr lang="en-US" sz="1400" dirty="0"/>
                        <a:t>011011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1</a:t>
                      </a:r>
                    </a:p>
                    <a:p>
                      <a:r>
                        <a:rPr lang="en-US" sz="1400" dirty="0"/>
                        <a:t>0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010111</a:t>
                      </a:r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A=A+M</a:t>
                      </a:r>
                    </a:p>
                    <a:p>
                      <a:r>
                        <a:rPr lang="en-US" sz="1400" i="1" dirty="0"/>
                        <a:t>Shift</a:t>
                      </a:r>
                      <a:r>
                        <a:rPr lang="en-US" sz="1400" i="1" baseline="0" dirty="0"/>
                        <a:t> Right-   6</a:t>
                      </a:r>
                      <a:r>
                        <a:rPr lang="en-US" sz="1400" i="1" baseline="30000" dirty="0"/>
                        <a:t>th</a:t>
                      </a:r>
                      <a:r>
                        <a:rPr lang="en-US" sz="1400" i="1" baseline="0" dirty="0"/>
                        <a:t> cycle</a:t>
                      </a:r>
                      <a:endParaRPr lang="en-US" sz="1400" i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7066"/>
                  </a:ext>
                </a:extLst>
              </a:tr>
              <a:tr h="4880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001010011011</a:t>
                      </a:r>
                      <a:r>
                        <a:rPr lang="en-US" sz="1400" b="1" dirty="0">
                          <a:sym typeface="Wingdings" panose="05000000000000000000" pitchFamily="2" charset="2"/>
                        </a:rPr>
                        <a:t>667</a:t>
                      </a:r>
                    </a:p>
                    <a:p>
                      <a:pPr algn="ctr"/>
                      <a:r>
                        <a:rPr lang="en-US" sz="1400" b="1" dirty="0">
                          <a:sym typeface="Wingdings" panose="05000000000000000000" pitchFamily="2" charset="2"/>
                        </a:rPr>
                        <a:t>Product=667</a:t>
                      </a:r>
                      <a:endParaRPr lang="en-US" sz="1400" b="1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T="45724" marB="45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49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Multiplication: Booth’s Algorithm</a:t>
            </a:r>
            <a:endParaRPr lang="en-US" sz="4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35868-A10F-4F99-B320-D0E53DF00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623" y="1624334"/>
            <a:ext cx="7336939" cy="50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5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How Booth’s algorithm works: +</a:t>
            </a:r>
            <a:r>
              <a:rPr lang="en-US" sz="4400" dirty="0" err="1">
                <a:ea typeface="SimSun" panose="02010600030101010101" pitchFamily="2" charset="-122"/>
              </a:rPr>
              <a:t>ve</a:t>
            </a:r>
            <a:r>
              <a:rPr lang="en-US" sz="4400" dirty="0">
                <a:ea typeface="SimSun" panose="02010600030101010101" pitchFamily="2" charset="-122"/>
              </a:rPr>
              <a:t> multiplier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7" y="1418593"/>
            <a:ext cx="11363263" cy="543940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case of a positive multiplier consisting of one block of 1s surrounded by 0s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 * (00011110) = M * (2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 * (16 + 8 + 4 + 2)		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M * 30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 * (00011110) = M * (2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M * (32 - 2)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M * 30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 can be generated by one addition(Adding the content of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 value) and one subtraction (Subtracting the content of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 value) of the multiplicand.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Booth’s algorithm conforms to this scheme by performing a subtraction when the first 1 of the block is encountered (1–0) and an addition when the end of the block is encountered (0–1).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 * (01111010) = M * (2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M * (2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CF971E-8E9D-494E-B462-9907B6984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01" y="3519365"/>
            <a:ext cx="6591534" cy="40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1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How Booth’s algorithm works: -</a:t>
            </a:r>
            <a:r>
              <a:rPr lang="en-US" sz="4400" dirty="0" err="1">
                <a:ea typeface="SimSun" panose="02010600030101010101" pitchFamily="2" charset="-122"/>
              </a:rPr>
              <a:t>ve</a:t>
            </a:r>
            <a:r>
              <a:rPr lang="en-US" sz="4400" dirty="0">
                <a:ea typeface="SimSun" panose="02010600030101010101" pitchFamily="2" charset="-122"/>
              </a:rPr>
              <a:t> multiplier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22" y="1418593"/>
            <a:ext cx="11363263" cy="543940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X be a negative number in twos complement notation:	X = {1x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…..x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the value of X can be expressed as follows: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leftmost bit of X is 1, because X is negative. Assume that the leftmost 0 is in the k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position. Then,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value of X is: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Equation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say that:	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….+ 2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Rearranging: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n-2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n-3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...+ 2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-2</a:t>
            </a:r>
            <a:r>
              <a:rPr lang="pt-B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pt-B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(10.7)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Equation (10.7) into Equation (10.6), we have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X = -2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k+1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…+ (x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		(10.8)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A2923-FD8C-4BF1-A905-DBA11E0A5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81" y="2156953"/>
            <a:ext cx="8428279" cy="365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8CED89-6686-48EF-8ECF-118F776D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76" y="3111566"/>
            <a:ext cx="4804796" cy="317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5515FB-AA5B-44BF-9D0F-05385B51B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010" y="3624510"/>
            <a:ext cx="7470999" cy="3651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3BE216-71D2-4951-9B28-E60F7C5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3758" y="4342621"/>
            <a:ext cx="6143658" cy="37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4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How Booth’s algorithm works: -</a:t>
            </a:r>
            <a:r>
              <a:rPr lang="en-US" sz="4400" dirty="0" err="1">
                <a:ea typeface="SimSun" panose="02010600030101010101" pitchFamily="2" charset="-122"/>
              </a:rPr>
              <a:t>ve</a:t>
            </a:r>
            <a:r>
              <a:rPr lang="en-US" sz="4400" dirty="0">
                <a:ea typeface="SimSun" panose="02010600030101010101" pitchFamily="2" charset="-122"/>
              </a:rPr>
              <a:t> multiplier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87BE13-02D7-4E51-AF21-0DAD0E590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42" y="1403603"/>
            <a:ext cx="11363263" cy="543940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multiplication of some multiplicand by (-6). In twos complement representation, using an 8-bit word, (-6) is represented as 11111010.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 = -2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* (11111010) = M * (-2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* (11111010) = M * (-2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which is equivalent to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* (11111010) = M * (-2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[right to left:0-1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1-0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+2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0-1-2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06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1BF8EF-DA66-49AA-B3F2-31BE6F36D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9360" y="1624334"/>
            <a:ext cx="6933280" cy="367056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40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469B3B-7BFB-4FB7-94E1-A8A3D7C4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6803C2-F717-46E2-A627-29ACE4F3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3824" b="3650"/>
          <a:stretch>
            <a:fillRect/>
          </a:stretch>
        </p:blipFill>
        <p:spPr>
          <a:xfrm>
            <a:off x="2819400" y="1352260"/>
            <a:ext cx="6052457" cy="580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02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E7C0-CDAF-74B0-19E8-5F37A172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81F0C2-4257-9035-CFA9-F343D6E20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6642" y="0"/>
            <a:ext cx="12765283" cy="7109317"/>
          </a:xfrm>
          <a:prstGeom prst="snip1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561A3-72C3-8D7A-3FC5-C95AA4F7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21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469B3B-7BFB-4FB7-94E1-A8A3D7C4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8A200-B742-4293-A90B-FDF203F87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244" y="1182690"/>
            <a:ext cx="6995088" cy="530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04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Division: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469B3B-7BFB-4FB7-94E1-A8A3D7C4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69" y="1229431"/>
            <a:ext cx="10427608" cy="543940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divisor V and the dividend D are positive and that |V|&lt; |D|.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|V|= |D|, then the quotient =1 and the remainder=0.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|V|&gt; |D|, then Q=0 and R=D. The algorithm can be summarized as follows: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twos complement of the divisor into the M register; that is, the M register contains the negative of the divisor. Load the dividend into the A, Q registers. The dividend must be expressed as a 2n-bit positive number. Thus, for example, the 4-bit 0111 becomes 00000111.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A, Q left 1 bit position.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A=A-M. This operation subtracts the divisor from the contents of A.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91540" lvl="2" indent="-3429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result is nonnegative (most significant bit of A=0), then set Q0=1</a:t>
            </a:r>
          </a:p>
          <a:p>
            <a:pPr marL="891540" lvl="2" indent="-342900">
              <a:buFont typeface="+mj-lt"/>
              <a:buAutoNum type="alphaL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result is negative (most significant bit of A=1), then set  Q0=0, and restore the previous value of A.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2 through 4 as many times as there are bit positions in Q.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remainder is in A and the quotient is in Q.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71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Division: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469B3B-7BFB-4FB7-94E1-A8A3D7C4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37" y="967080"/>
            <a:ext cx="10427608" cy="5439407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Divide 8 by 3;  	M=-3=11101; 		Q=01000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9CF8A96-BE09-4A56-BC73-014A725128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5471001"/>
              </p:ext>
            </p:extLst>
          </p:nvPr>
        </p:nvGraphicFramePr>
        <p:xfrm>
          <a:off x="742063" y="1573307"/>
          <a:ext cx="7848600" cy="522852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388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12"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01000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Initial values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066"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  <a:p>
                      <a:r>
                        <a:rPr lang="en-US" sz="1400" u="sng" dirty="0"/>
                        <a:t>11101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dirty="0"/>
                        <a:t>11101 + </a:t>
                      </a:r>
                      <a:r>
                        <a:rPr lang="en-US" sz="1400" u="sng" dirty="0"/>
                        <a:t>00011</a:t>
                      </a:r>
                    </a:p>
                    <a:p>
                      <a:r>
                        <a:rPr lang="en-US" sz="1400" u="none" dirty="0"/>
                        <a:t>                 00000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10000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10000</a:t>
                      </a:r>
                    </a:p>
                    <a:p>
                      <a:r>
                        <a:rPr lang="en-US" sz="1400" dirty="0"/>
                        <a:t>10000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 Left</a:t>
                      </a:r>
                    </a:p>
                    <a:p>
                      <a:r>
                        <a:rPr lang="en-US" sz="1400" dirty="0"/>
                        <a:t>Subtract Divisor(Add</a:t>
                      </a:r>
                      <a:r>
                        <a:rPr lang="en-US" sz="1400" baseline="0" dirty="0"/>
                        <a:t> 2’s complement of divisor)</a:t>
                      </a:r>
                    </a:p>
                    <a:p>
                      <a:r>
                        <a:rPr lang="en-US" sz="1400" baseline="0" dirty="0"/>
                        <a:t>Set Q0=0</a:t>
                      </a:r>
                    </a:p>
                    <a:p>
                      <a:r>
                        <a:rPr lang="en-US" sz="1400" baseline="0" dirty="0"/>
                        <a:t>Restore   1</a:t>
                      </a:r>
                      <a:r>
                        <a:rPr lang="en-US" sz="1400" baseline="30000" dirty="0"/>
                        <a:t>st</a:t>
                      </a:r>
                      <a:r>
                        <a:rPr lang="en-US" sz="1400" baseline="0" dirty="0"/>
                        <a:t> Cycle</a:t>
                      </a:r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066">
                <a:tc>
                  <a:txBody>
                    <a:bodyPr/>
                    <a:lstStyle/>
                    <a:p>
                      <a:r>
                        <a:rPr lang="en-US" sz="1400" dirty="0"/>
                        <a:t>00001</a:t>
                      </a:r>
                    </a:p>
                    <a:p>
                      <a:r>
                        <a:rPr lang="en-US" sz="1400" u="sng" dirty="0"/>
                        <a:t>11101</a:t>
                      </a:r>
                    </a:p>
                    <a:p>
                      <a:r>
                        <a:rPr lang="en-US" sz="1400" u="none" dirty="0"/>
                        <a:t>11110 + </a:t>
                      </a:r>
                      <a:r>
                        <a:rPr lang="en-US" sz="1400" u="sng" dirty="0"/>
                        <a:t>00011</a:t>
                      </a:r>
                    </a:p>
                    <a:p>
                      <a:r>
                        <a:rPr lang="en-US" sz="1400" u="none" dirty="0"/>
                        <a:t>                00001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00000</a:t>
                      </a:r>
                    </a:p>
                    <a:p>
                      <a:r>
                        <a:rPr lang="en-US" sz="1400" dirty="0"/>
                        <a:t>00000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 Left</a:t>
                      </a:r>
                    </a:p>
                    <a:p>
                      <a:r>
                        <a:rPr lang="en-US" sz="1400" dirty="0"/>
                        <a:t>Subtract Divisor(Add</a:t>
                      </a:r>
                      <a:r>
                        <a:rPr lang="en-US" sz="1400" baseline="0" dirty="0"/>
                        <a:t> 2’s complement of divisor)</a:t>
                      </a:r>
                    </a:p>
                    <a:p>
                      <a:r>
                        <a:rPr lang="en-US" sz="1400" baseline="0" dirty="0"/>
                        <a:t>Set Q0=0</a:t>
                      </a:r>
                    </a:p>
                    <a:p>
                      <a:r>
                        <a:rPr lang="en-US" sz="1400" baseline="0" dirty="0"/>
                        <a:t>Restore   2nd Cycle</a:t>
                      </a:r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129">
                <a:tc>
                  <a:txBody>
                    <a:bodyPr/>
                    <a:lstStyle/>
                    <a:p>
                      <a:r>
                        <a:rPr lang="en-US" sz="1400" dirty="0"/>
                        <a:t>00010</a:t>
                      </a:r>
                    </a:p>
                    <a:p>
                      <a:r>
                        <a:rPr lang="en-US" sz="1400" u="sng" dirty="0"/>
                        <a:t>11101</a:t>
                      </a:r>
                    </a:p>
                    <a:p>
                      <a:r>
                        <a:rPr lang="en-US" sz="1400" u="none" dirty="0"/>
                        <a:t>11111+  </a:t>
                      </a:r>
                      <a:r>
                        <a:rPr lang="en-US" sz="1400" u="sng" dirty="0"/>
                        <a:t>00011</a:t>
                      </a:r>
                    </a:p>
                    <a:p>
                      <a:r>
                        <a:rPr lang="en-US" sz="1400" u="none" dirty="0"/>
                        <a:t>                00010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00000</a:t>
                      </a:r>
                    </a:p>
                    <a:p>
                      <a:r>
                        <a:rPr lang="en-US" sz="1400" dirty="0"/>
                        <a:t>00000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 Left</a:t>
                      </a:r>
                    </a:p>
                    <a:p>
                      <a:r>
                        <a:rPr lang="en-US" sz="1400" dirty="0"/>
                        <a:t>Subtract Divisor(Add</a:t>
                      </a:r>
                      <a:r>
                        <a:rPr lang="en-US" sz="1400" baseline="0" dirty="0"/>
                        <a:t> 2’s complement of divisor)</a:t>
                      </a:r>
                    </a:p>
                    <a:p>
                      <a:r>
                        <a:rPr lang="en-US" sz="1400" baseline="0" dirty="0"/>
                        <a:t>Set Q0=0</a:t>
                      </a:r>
                    </a:p>
                    <a:p>
                      <a:r>
                        <a:rPr lang="en-US" sz="1400" baseline="0" dirty="0"/>
                        <a:t>Restore   3</a:t>
                      </a:r>
                      <a:r>
                        <a:rPr lang="en-US" sz="1400" baseline="30000" dirty="0"/>
                        <a:t>rd</a:t>
                      </a:r>
                      <a:r>
                        <a:rPr lang="en-US" sz="1400" baseline="0" dirty="0"/>
                        <a:t>  Cycle</a:t>
                      </a:r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278">
                <a:tc>
                  <a:txBody>
                    <a:bodyPr/>
                    <a:lstStyle/>
                    <a:p>
                      <a:r>
                        <a:rPr lang="en-US" sz="1400" dirty="0"/>
                        <a:t>00100</a:t>
                      </a:r>
                    </a:p>
                    <a:p>
                      <a:r>
                        <a:rPr lang="en-US" sz="1400" u="sng" dirty="0"/>
                        <a:t>11101</a:t>
                      </a:r>
                    </a:p>
                    <a:p>
                      <a:r>
                        <a:rPr lang="en-US" sz="1400" u="sng" dirty="0"/>
                        <a:t>00001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00000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00001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</a:t>
                      </a:r>
                      <a:r>
                        <a:rPr lang="en-US" sz="1400" baseline="0" dirty="0"/>
                        <a:t> Left</a:t>
                      </a:r>
                    </a:p>
                    <a:p>
                      <a:r>
                        <a:rPr lang="en-US" sz="1400" baseline="0" dirty="0"/>
                        <a:t>Subtract</a:t>
                      </a:r>
                    </a:p>
                    <a:p>
                      <a:r>
                        <a:rPr lang="en-US" sz="1400" baseline="0" dirty="0"/>
                        <a:t>Set Q0=1   4</a:t>
                      </a:r>
                      <a:r>
                        <a:rPr lang="en-US" sz="1400" baseline="30000" dirty="0"/>
                        <a:t>th</a:t>
                      </a:r>
                      <a:r>
                        <a:rPr lang="en-US" sz="1400" baseline="0" dirty="0"/>
                        <a:t> cycle</a:t>
                      </a:r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2101">
                <a:tc>
                  <a:txBody>
                    <a:bodyPr/>
                    <a:lstStyle/>
                    <a:p>
                      <a:r>
                        <a:rPr lang="en-US" sz="1400" dirty="0"/>
                        <a:t>00010</a:t>
                      </a:r>
                    </a:p>
                    <a:p>
                      <a:r>
                        <a:rPr lang="en-US" sz="1400" u="sng" dirty="0"/>
                        <a:t>11101</a:t>
                      </a:r>
                    </a:p>
                    <a:p>
                      <a:r>
                        <a:rPr lang="en-US" sz="1400" u="none" dirty="0"/>
                        <a:t>11111 + </a:t>
                      </a:r>
                      <a:r>
                        <a:rPr lang="en-US" sz="1400" u="sng" dirty="0"/>
                        <a:t>00011</a:t>
                      </a:r>
                    </a:p>
                    <a:p>
                      <a:r>
                        <a:rPr lang="en-US" sz="1400" u="none" dirty="0"/>
                        <a:t>               00010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00010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00010</a:t>
                      </a:r>
                    </a:p>
                    <a:p>
                      <a:r>
                        <a:rPr lang="en-US" sz="1400" dirty="0"/>
                        <a:t>00010</a:t>
                      </a:r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Shift left</a:t>
                      </a:r>
                    </a:p>
                    <a:p>
                      <a:r>
                        <a:rPr lang="en-US" sz="1400" dirty="0"/>
                        <a:t>Subtract Divisor(Add</a:t>
                      </a:r>
                      <a:r>
                        <a:rPr lang="en-US" sz="1400" baseline="0" dirty="0"/>
                        <a:t> 2’s complement of divisor)</a:t>
                      </a:r>
                    </a:p>
                    <a:p>
                      <a:r>
                        <a:rPr lang="en-US" sz="1400" baseline="0" dirty="0"/>
                        <a:t>Set Q0=0</a:t>
                      </a:r>
                    </a:p>
                    <a:p>
                      <a:r>
                        <a:rPr lang="en-US" sz="1400" baseline="0" dirty="0"/>
                        <a:t>Restore   5th  Cycle</a:t>
                      </a:r>
                      <a:endParaRPr lang="en-US" sz="1400" dirty="0"/>
                    </a:p>
                  </a:txBody>
                  <a:tcPr marT="45722" marB="4572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614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990"/>
            <a:ext cx="11722308" cy="16093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400" dirty="0">
                <a:ea typeface="SimSun" panose="02010600030101010101" pitchFamily="2" charset="-122"/>
              </a:rPr>
              <a:t>Division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469B3B-7BFB-4FB7-94E1-A8A3D7C4F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09" y="1313663"/>
            <a:ext cx="10427608" cy="5439407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examples of integer division with all possible combinations of signs of D and V: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 = 7	V = 3 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2	R = 1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 = 7	V = -3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Q = -2 	R = 1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 = -7 	V = 3 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Q = -2 	R = -1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 = -7 	V = -3 	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Q = 2 	R = -1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(-7)/(3) and (7)/(-3) produce different remainders.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magnitudes of Q and R are unaffected by the input signs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signs of Q and R are easily derivable from the signs of D and V.</a:t>
            </a: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sign(R) = sign(D) </a:t>
            </a:r>
          </a:p>
          <a:p>
            <a:pPr lvl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sign(Q) = sign(D) * sign(V). 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to do twos complement division is to convert the operands into unsigned values and, at the end, to account for the signs by complementation where needed.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method of choice for the restoring division algorithm.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5274E-2D8D-4093-9176-5A028AD8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01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97C-797E-44D3-8E2F-BB36F2E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6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2A77-2DFB-40DC-805A-171CA93BA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6909"/>
            <a:ext cx="11557416" cy="532870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x and y in twos complement notation i.e., x=0101 and y=1010,compute the product p=x*y with Booth’s 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Booth algorithm to multiply 23 (multiplicand) by 29 (multiplier), where each number is represented using 6 bits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 145 by 13 in binary twos complement notation, using 12-bit words. Use the restoring division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686AA-E068-4AF9-8A4D-171DB338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7357C-FBB4-4C9C-B696-E390146DED3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001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40691</TotalTime>
  <Words>1491</Words>
  <Application>Microsoft Office PowerPoint</Application>
  <PresentationFormat>Widescreen</PresentationFormat>
  <Paragraphs>311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SimSun</vt:lpstr>
      <vt:lpstr>Arial</vt:lpstr>
      <vt:lpstr>Calibri</vt:lpstr>
      <vt:lpstr>Times New Roman</vt:lpstr>
      <vt:lpstr>Trebuchet MS</vt:lpstr>
      <vt:lpstr>Wingdings</vt:lpstr>
      <vt:lpstr>Wingdings 3</vt:lpstr>
      <vt:lpstr>Facet</vt:lpstr>
      <vt:lpstr>Multiplication and Division</vt:lpstr>
      <vt:lpstr>PowerPoint Presentation</vt:lpstr>
      <vt:lpstr>Normal Binary Multiplication</vt:lpstr>
      <vt:lpstr>PowerPoint Presentation</vt:lpstr>
      <vt:lpstr>Multiplication: Booth’s Algorithm</vt:lpstr>
      <vt:lpstr>Multiplication: Booth’s Algorithm</vt:lpstr>
      <vt:lpstr>Booth’s algorithm: 13X-6</vt:lpstr>
      <vt:lpstr>Booth’s algorithm: 23X29</vt:lpstr>
      <vt:lpstr>Multiplication: Booth’s Algorithm</vt:lpstr>
      <vt:lpstr>How Booth’s algorithm works: +ve multiplier</vt:lpstr>
      <vt:lpstr>How Booth’s algorithm works: -ve multiplier</vt:lpstr>
      <vt:lpstr>How Booth’s algorithm works: -ve multiplier</vt:lpstr>
      <vt:lpstr>Division</vt:lpstr>
      <vt:lpstr>Division</vt:lpstr>
      <vt:lpstr>PowerPoint Presentation</vt:lpstr>
      <vt:lpstr>Division</vt:lpstr>
      <vt:lpstr>Division: Algorithm</vt:lpstr>
      <vt:lpstr>Division: Example</vt:lpstr>
      <vt:lpstr>Division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Shwetha  Rai [MAHE-MIT]</dc:creator>
  <cp:lastModifiedBy>Shashank Nandan</cp:lastModifiedBy>
  <cp:revision>250</cp:revision>
  <dcterms:created xsi:type="dcterms:W3CDTF">2021-09-04T08:40:57Z</dcterms:created>
  <dcterms:modified xsi:type="dcterms:W3CDTF">2025-11-27T15:14:15Z</dcterms:modified>
</cp:coreProperties>
</file>