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90" r:id="rId3"/>
    <p:sldId id="288" r:id="rId4"/>
    <p:sldId id="283" r:id="rId5"/>
    <p:sldId id="282" r:id="rId6"/>
    <p:sldId id="284" r:id="rId7"/>
    <p:sldId id="285" r:id="rId8"/>
    <p:sldId id="257" r:id="rId9"/>
    <p:sldId id="258" r:id="rId10"/>
    <p:sldId id="259" r:id="rId11"/>
    <p:sldId id="260" r:id="rId12"/>
    <p:sldId id="261" r:id="rId13"/>
    <p:sldId id="262" r:id="rId14"/>
    <p:sldId id="263" r:id="rId15"/>
    <p:sldId id="264" r:id="rId16"/>
    <p:sldId id="265" r:id="rId17"/>
    <p:sldId id="266" r:id="rId18"/>
    <p:sldId id="280" r:id="rId19"/>
    <p:sldId id="281" r:id="rId20"/>
    <p:sldId id="278" r:id="rId21"/>
    <p:sldId id="291" r:id="rId22"/>
    <p:sldId id="267" r:id="rId23"/>
    <p:sldId id="287" r:id="rId24"/>
    <p:sldId id="279" r:id="rId25"/>
    <p:sldId id="277" r:id="rId26"/>
    <p:sldId id="276" r:id="rId27"/>
    <p:sldId id="268" r:id="rId28"/>
    <p:sldId id="269" r:id="rId29"/>
    <p:sldId id="270" r:id="rId30"/>
    <p:sldId id="286" r:id="rId31"/>
    <p:sldId id="271" r:id="rId32"/>
    <p:sldId id="272" r:id="rId33"/>
    <p:sldId id="273" r:id="rId34"/>
    <p:sldId id="274" r:id="rId35"/>
    <p:sldId id="27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3ACB89B-191C-4A87-BECE-6BBA0C1555B7}"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1058704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ACB89B-191C-4A87-BECE-6BBA0C1555B7}"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1759990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ACB89B-191C-4A87-BECE-6BBA0C1555B7}"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2406325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ACB89B-191C-4A87-BECE-6BBA0C1555B7}"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997354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3ACB89B-191C-4A87-BECE-6BBA0C1555B7}" type="datetimeFigureOut">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1663525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ACB89B-191C-4A87-BECE-6BBA0C1555B7}" type="datetimeFigureOut">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4200807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ACB89B-191C-4A87-BECE-6BBA0C1555B7}" type="datetimeFigureOut">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2491829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ACB89B-191C-4A87-BECE-6BBA0C1555B7}"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3277571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ACB89B-191C-4A87-BECE-6BBA0C1555B7}"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713258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ACB89B-191C-4A87-BECE-6BBA0C1555B7}"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1356413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ACB89B-191C-4A87-BECE-6BBA0C1555B7}"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096257-A81A-42AD-A9DA-311536E89C64}" type="slidenum">
              <a:rPr lang="en-US" smtClean="0"/>
              <a:t>‹#›</a:t>
            </a:fld>
            <a:endParaRPr lang="en-US"/>
          </a:p>
        </p:txBody>
      </p:sp>
    </p:spTree>
    <p:extLst>
      <p:ext uri="{BB962C8B-B14F-4D97-AF65-F5344CB8AC3E}">
        <p14:creationId xmlns:p14="http://schemas.microsoft.com/office/powerpoint/2010/main" val="2646533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ACB89B-191C-4A87-BECE-6BBA0C1555B7}" type="datetimeFigureOut">
              <a:rPr lang="en-US" smtClean="0"/>
              <a:t>11/7/2025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096257-A81A-42AD-A9DA-311536E89C64}" type="slidenum">
              <a:rPr lang="en-US" smtClean="0"/>
              <a:t>‹#›</a:t>
            </a:fld>
            <a:endParaRPr lang="en-US"/>
          </a:p>
        </p:txBody>
      </p:sp>
    </p:spTree>
    <p:extLst>
      <p:ext uri="{BB962C8B-B14F-4D97-AF65-F5344CB8AC3E}">
        <p14:creationId xmlns:p14="http://schemas.microsoft.com/office/powerpoint/2010/main" val="4194843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F294C8-0CB7-B95A-3771-ACA545B8E175}"/>
              </a:ext>
            </a:extLst>
          </p:cNvPr>
          <p:cNvSpPr txBox="1"/>
          <p:nvPr/>
        </p:nvSpPr>
        <p:spPr>
          <a:xfrm>
            <a:off x="729343" y="1582341"/>
            <a:ext cx="8414657" cy="2154436"/>
          </a:xfrm>
          <a:prstGeom prst="rect">
            <a:avLst/>
          </a:prstGeom>
          <a:noFill/>
        </p:spPr>
        <p:txBody>
          <a:bodyPr wrap="square">
            <a:spAutoFit/>
          </a:bodyPr>
          <a:lstStyle/>
          <a:p>
            <a:pPr>
              <a:buNone/>
            </a:pPr>
            <a:endParaRPr lang="en-US" sz="4000"/>
          </a:p>
          <a:p>
            <a:pPr>
              <a:buNone/>
            </a:pPr>
            <a:r>
              <a:rPr lang="en-US" sz="4000"/>
              <a:t>Verilog for combinational circuits </a:t>
            </a:r>
          </a:p>
          <a:p>
            <a:pPr>
              <a:buNone/>
            </a:pPr>
            <a:endParaRPr lang="en-US"/>
          </a:p>
          <a:p>
            <a:pPr>
              <a:buNone/>
            </a:pPr>
            <a:endParaRPr lang="en-US">
              <a:solidFill>
                <a:srgbClr val="EE0000"/>
              </a:solidFill>
            </a:endParaRPr>
          </a:p>
          <a:p>
            <a:pPr>
              <a:buNone/>
            </a:pPr>
            <a:r>
              <a:rPr lang="en-US">
                <a:solidFill>
                  <a:srgbClr val="EE0000"/>
                </a:solidFill>
              </a:rPr>
              <a:t>Write a structural code for 4: 1 mux .</a:t>
            </a:r>
            <a:endParaRPr lang="en-US" dirty="0">
              <a:solidFill>
                <a:srgbClr val="EE0000"/>
              </a:solidFill>
            </a:endParaRPr>
          </a:p>
        </p:txBody>
      </p:sp>
    </p:spTree>
    <p:extLst>
      <p:ext uri="{BB962C8B-B14F-4D97-AF65-F5344CB8AC3E}">
        <p14:creationId xmlns:p14="http://schemas.microsoft.com/office/powerpoint/2010/main" val="2165731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64D58D-E413-81F7-F26A-56F72936C02B}"/>
              </a:ext>
            </a:extLst>
          </p:cNvPr>
          <p:cNvPicPr>
            <a:picLocks noChangeAspect="1"/>
          </p:cNvPicPr>
          <p:nvPr/>
        </p:nvPicPr>
        <p:blipFill>
          <a:blip r:embed="rId2"/>
          <a:stretch>
            <a:fillRect/>
          </a:stretch>
        </p:blipFill>
        <p:spPr>
          <a:xfrm>
            <a:off x="3489959" y="0"/>
            <a:ext cx="5212081" cy="6858000"/>
          </a:xfrm>
          <a:prstGeom prst="rect">
            <a:avLst/>
          </a:prstGeom>
        </p:spPr>
      </p:pic>
    </p:spTree>
    <p:extLst>
      <p:ext uri="{BB962C8B-B14F-4D97-AF65-F5344CB8AC3E}">
        <p14:creationId xmlns:p14="http://schemas.microsoft.com/office/powerpoint/2010/main" val="3449655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CFD30A-F499-642E-C58B-96406DEF2054}"/>
              </a:ext>
            </a:extLst>
          </p:cNvPr>
          <p:cNvSpPr txBox="1"/>
          <p:nvPr/>
        </p:nvSpPr>
        <p:spPr>
          <a:xfrm>
            <a:off x="1164771" y="625572"/>
            <a:ext cx="4582886" cy="4801314"/>
          </a:xfrm>
          <a:prstGeom prst="rect">
            <a:avLst/>
          </a:prstGeom>
          <a:noFill/>
        </p:spPr>
        <p:txBody>
          <a:bodyPr wrap="square">
            <a:spAutoFit/>
          </a:bodyPr>
          <a:lstStyle/>
          <a:p>
            <a:r>
              <a:rPr lang="en-US" dirty="0"/>
              <a:t>module 4_to_1mux (Out, I0, I1, I2, I3, S0, S1);</a:t>
            </a:r>
          </a:p>
          <a:p>
            <a:endParaRPr lang="en-US" dirty="0"/>
          </a:p>
          <a:p>
            <a:r>
              <a:rPr lang="en-US" dirty="0"/>
              <a:t>output Out;</a:t>
            </a:r>
          </a:p>
          <a:p>
            <a:r>
              <a:rPr lang="en-US" dirty="0"/>
              <a:t>input I0, I1, I2, I3;</a:t>
            </a:r>
          </a:p>
          <a:p>
            <a:r>
              <a:rPr lang="en-US" dirty="0"/>
              <a:t>input S1, S0;</a:t>
            </a:r>
          </a:p>
          <a:p>
            <a:r>
              <a:rPr lang="en-US" dirty="0"/>
              <a:t>wire S1n, S0n;</a:t>
            </a:r>
          </a:p>
          <a:p>
            <a:r>
              <a:rPr lang="en-US" dirty="0"/>
              <a:t>wire Y0, Y1, Y2, Y3;</a:t>
            </a:r>
          </a:p>
          <a:p>
            <a:endParaRPr lang="en-US" dirty="0"/>
          </a:p>
          <a:p>
            <a:r>
              <a:rPr lang="en-US" dirty="0"/>
              <a:t>not (S1n, S1);</a:t>
            </a:r>
          </a:p>
          <a:p>
            <a:r>
              <a:rPr lang="en-US" dirty="0"/>
              <a:t>not (S0n, S0);</a:t>
            </a:r>
          </a:p>
          <a:p>
            <a:r>
              <a:rPr lang="en-US" dirty="0"/>
              <a:t>and (Y0, I0, S1n, S0n);</a:t>
            </a:r>
          </a:p>
          <a:p>
            <a:r>
              <a:rPr lang="en-US" dirty="0"/>
              <a:t>and (Y1, I1, S1n, S0);</a:t>
            </a:r>
          </a:p>
          <a:p>
            <a:r>
              <a:rPr lang="en-US" dirty="0"/>
              <a:t>and (Y2, I2, S1, S0n);</a:t>
            </a:r>
          </a:p>
          <a:p>
            <a:r>
              <a:rPr lang="en-US" dirty="0"/>
              <a:t>and (Y3, I3, S1, S0);</a:t>
            </a:r>
          </a:p>
          <a:p>
            <a:r>
              <a:rPr lang="en-US" dirty="0"/>
              <a:t>or  (Out, Y0, Y1, Y2, Y3);</a:t>
            </a:r>
          </a:p>
          <a:p>
            <a:endParaRPr lang="en-US" dirty="0"/>
          </a:p>
          <a:p>
            <a:r>
              <a:rPr lang="en-US" dirty="0" err="1"/>
              <a:t>endmodule</a:t>
            </a:r>
            <a:endParaRPr lang="en-IN" dirty="0"/>
          </a:p>
        </p:txBody>
      </p:sp>
    </p:spTree>
    <p:extLst>
      <p:ext uri="{BB962C8B-B14F-4D97-AF65-F5344CB8AC3E}">
        <p14:creationId xmlns:p14="http://schemas.microsoft.com/office/powerpoint/2010/main" val="3205106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EA64EF-71B8-2223-82D8-9E1FA575D267}"/>
              </a:ext>
            </a:extLst>
          </p:cNvPr>
          <p:cNvSpPr txBox="1"/>
          <p:nvPr/>
        </p:nvSpPr>
        <p:spPr>
          <a:xfrm>
            <a:off x="1436914" y="751115"/>
            <a:ext cx="7707086" cy="6555641"/>
          </a:xfrm>
          <a:prstGeom prst="rect">
            <a:avLst/>
          </a:prstGeom>
          <a:noFill/>
        </p:spPr>
        <p:txBody>
          <a:bodyPr wrap="square">
            <a:spAutoFit/>
          </a:bodyPr>
          <a:lstStyle/>
          <a:p>
            <a:pPr>
              <a:buNone/>
            </a:pPr>
            <a:r>
              <a:rPr lang="en-US" sz="2400" b="1" dirty="0"/>
              <a:t>Concurrent vs Procedural (Sequential) Statements in Verilog</a:t>
            </a:r>
          </a:p>
          <a:p>
            <a:r>
              <a:rPr lang="en-US" sz="2400" dirty="0"/>
              <a:t>Verilog code can be divided into </a:t>
            </a:r>
            <a:r>
              <a:rPr lang="en-US" sz="2400" b="1" dirty="0"/>
              <a:t>two types of statements</a:t>
            </a:r>
            <a:r>
              <a:rPr lang="en-US" sz="2400" dirty="0"/>
              <a:t>:</a:t>
            </a:r>
          </a:p>
          <a:p>
            <a:endParaRPr lang="en-US" sz="2400" dirty="0"/>
          </a:p>
          <a:p>
            <a:endParaRPr lang="en-US" sz="2400" dirty="0"/>
          </a:p>
          <a:p>
            <a:endParaRPr lang="en-US" sz="2400" dirty="0"/>
          </a:p>
          <a:p>
            <a:r>
              <a:rPr lang="en-US" sz="2400" dirty="0"/>
              <a:t>Concurrent Statements :: These run in parallel, just like real hardware.</a:t>
            </a:r>
          </a:p>
          <a:p>
            <a:endParaRPr lang="en-US" sz="2400" dirty="0"/>
          </a:p>
          <a:p>
            <a:r>
              <a:rPr lang="en-US" sz="2400" dirty="0"/>
              <a:t>Examples: assign, module instantiations, initial, etc. Every concurrent statement starts executing at the same time (in simulation).</a:t>
            </a:r>
          </a:p>
          <a:p>
            <a:endParaRPr lang="en-US" sz="2400" dirty="0"/>
          </a:p>
          <a:p>
            <a:r>
              <a:rPr lang="en-US" sz="2400" dirty="0"/>
              <a:t>assign y = a &amp; b;</a:t>
            </a:r>
          </a:p>
          <a:p>
            <a:r>
              <a:rPr lang="en-US" sz="2400" dirty="0"/>
              <a:t>assign z = a | b;</a:t>
            </a:r>
          </a:p>
          <a:p>
            <a:r>
              <a:rPr lang="en-US" sz="2400" dirty="0"/>
              <a:t>Both y and z will be updated at the same simulation time.</a:t>
            </a:r>
          </a:p>
          <a:p>
            <a:endParaRPr lang="en-US" dirty="0"/>
          </a:p>
          <a:p>
            <a:endParaRPr lang="en-US" dirty="0"/>
          </a:p>
        </p:txBody>
      </p:sp>
    </p:spTree>
    <p:extLst>
      <p:ext uri="{BB962C8B-B14F-4D97-AF65-F5344CB8AC3E}">
        <p14:creationId xmlns:p14="http://schemas.microsoft.com/office/powerpoint/2010/main" val="2520347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0857" y="1752324"/>
            <a:ext cx="9768113" cy="3539430"/>
          </a:xfrm>
          <a:prstGeom prst="rect">
            <a:avLst/>
          </a:prstGeom>
        </p:spPr>
        <p:txBody>
          <a:bodyPr wrap="square">
            <a:spAutoFit/>
          </a:bodyPr>
          <a:lstStyle/>
          <a:p>
            <a:pPr algn="just"/>
            <a:r>
              <a:rPr lang="en-US" sz="3200">
                <a:latin typeface="Times-Roman"/>
              </a:rPr>
              <a:t>Verilog provides </a:t>
            </a:r>
            <a:r>
              <a:rPr lang="en-US" sz="3200" i="1">
                <a:latin typeface="Times-Italic"/>
              </a:rPr>
              <a:t>procedural statements </a:t>
            </a:r>
            <a:r>
              <a:rPr lang="en-US" sz="3200">
                <a:latin typeface="Times-Roman"/>
              </a:rPr>
              <a:t>(also called </a:t>
            </a:r>
            <a:r>
              <a:rPr lang="en-US" sz="3200" i="1">
                <a:latin typeface="Times-Italic"/>
              </a:rPr>
              <a:t>sequential statements</a:t>
            </a:r>
            <a:r>
              <a:rPr lang="en-US" sz="3200">
                <a:latin typeface="Times-Roman"/>
              </a:rPr>
              <a:t>). Whereas concurrent statements are executed in parallel, procedural statements are evaluated in the order in which they appear in the code. Verilog syntax requires that procedural statements be contained inside an </a:t>
            </a:r>
            <a:r>
              <a:rPr lang="en-US" sz="3200" b="1">
                <a:latin typeface="Times-Bold"/>
              </a:rPr>
              <a:t>always </a:t>
            </a:r>
            <a:r>
              <a:rPr lang="en-US" sz="3200">
                <a:latin typeface="Times-Roman"/>
              </a:rPr>
              <a:t>block.</a:t>
            </a:r>
            <a:endParaRPr lang="en-US" sz="3200" dirty="0"/>
          </a:p>
        </p:txBody>
      </p:sp>
      <p:sp>
        <p:nvSpPr>
          <p:cNvPr id="3" name="Rectangle 2"/>
          <p:cNvSpPr/>
          <p:nvPr/>
        </p:nvSpPr>
        <p:spPr>
          <a:xfrm>
            <a:off x="3771485" y="704334"/>
            <a:ext cx="4649030" cy="584775"/>
          </a:xfrm>
          <a:prstGeom prst="rect">
            <a:avLst/>
          </a:prstGeom>
        </p:spPr>
        <p:txBody>
          <a:bodyPr wrap="none">
            <a:spAutoFit/>
          </a:bodyPr>
          <a:lstStyle/>
          <a:p>
            <a:r>
              <a:rPr lang="en-US" sz="3200" b="1">
                <a:latin typeface="Times-BoldSC"/>
              </a:rPr>
              <a:t>Procedural Statements</a:t>
            </a:r>
            <a:endParaRPr lang="en-US" sz="3200" dirty="0"/>
          </a:p>
        </p:txBody>
      </p:sp>
    </p:spTree>
    <p:extLst>
      <p:ext uri="{BB962C8B-B14F-4D97-AF65-F5344CB8AC3E}">
        <p14:creationId xmlns:p14="http://schemas.microsoft.com/office/powerpoint/2010/main" val="1880276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AB466E-D2DA-AE33-7D1C-4A2BC775A2B3}"/>
              </a:ext>
            </a:extLst>
          </p:cNvPr>
          <p:cNvSpPr txBox="1"/>
          <p:nvPr/>
        </p:nvSpPr>
        <p:spPr>
          <a:xfrm>
            <a:off x="1273629" y="729344"/>
            <a:ext cx="10287000" cy="4247317"/>
          </a:xfrm>
          <a:prstGeom prst="rect">
            <a:avLst/>
          </a:prstGeom>
          <a:noFill/>
        </p:spPr>
        <p:txBody>
          <a:bodyPr wrap="square">
            <a:spAutoFit/>
          </a:bodyPr>
          <a:lstStyle/>
          <a:p>
            <a:r>
              <a:rPr lang="en-US" dirty="0"/>
              <a:t>2. Procedural (Sequential) </a:t>
            </a:r>
            <a:r>
              <a:rPr lang="en-US" dirty="0" err="1"/>
              <a:t>StatementsThese</a:t>
            </a:r>
            <a:r>
              <a:rPr lang="en-US" dirty="0"/>
              <a:t> run in order, like software (step-by-step).They must be written inside a begin ... end block and inside an always or initial block.</a:t>
            </a:r>
          </a:p>
          <a:p>
            <a:endParaRPr lang="en-US" dirty="0"/>
          </a:p>
          <a:p>
            <a:r>
              <a:rPr lang="en-US" dirty="0"/>
              <a:t>Example:</a:t>
            </a:r>
          </a:p>
          <a:p>
            <a:endParaRPr lang="en-US" dirty="0"/>
          </a:p>
          <a:p>
            <a:r>
              <a:rPr lang="en-US" dirty="0"/>
              <a:t>always @(posedge </a:t>
            </a:r>
            <a:r>
              <a:rPr lang="en-US" dirty="0" err="1"/>
              <a:t>clk</a:t>
            </a:r>
            <a:r>
              <a:rPr lang="en-US" dirty="0"/>
              <a:t>) begin</a:t>
            </a:r>
          </a:p>
          <a:p>
            <a:r>
              <a:rPr lang="en-US" dirty="0"/>
              <a:t>    a = b;</a:t>
            </a:r>
          </a:p>
          <a:p>
            <a:r>
              <a:rPr lang="en-US" dirty="0"/>
              <a:t>    c = a;   // This uses the updated value of a</a:t>
            </a:r>
          </a:p>
          <a:p>
            <a:r>
              <a:rPr lang="en-US" dirty="0"/>
              <a:t>end</a:t>
            </a:r>
          </a:p>
          <a:p>
            <a:r>
              <a:rPr lang="en-US" dirty="0"/>
              <a:t>Here, first a is assigned b, then c is assigned the new value of a. So order matters.</a:t>
            </a:r>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9437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4916EF-489A-5C97-4FA8-C50DD4D70B0F}"/>
              </a:ext>
            </a:extLst>
          </p:cNvPr>
          <p:cNvSpPr txBox="1"/>
          <p:nvPr/>
        </p:nvSpPr>
        <p:spPr>
          <a:xfrm>
            <a:off x="729343" y="348343"/>
            <a:ext cx="10997436" cy="4801314"/>
          </a:xfrm>
          <a:prstGeom prst="rect">
            <a:avLst/>
          </a:prstGeom>
          <a:noFill/>
        </p:spPr>
        <p:txBody>
          <a:bodyPr wrap="square">
            <a:spAutoFit/>
          </a:bodyPr>
          <a:lstStyle/>
          <a:p>
            <a:r>
              <a:rPr lang="en-US" sz="2400" dirty="0"/>
              <a:t>Why use always blocks for procedural code?</a:t>
            </a:r>
          </a:p>
          <a:p>
            <a:endParaRPr lang="en-US" sz="2400" dirty="0"/>
          </a:p>
          <a:p>
            <a:r>
              <a:rPr lang="en-US" sz="2400" dirty="0"/>
              <a:t>Verilog requires procedural statements to be placed inside an always or initial block because</a:t>
            </a:r>
          </a:p>
          <a:p>
            <a:r>
              <a:rPr lang="en-US" sz="2400" dirty="0"/>
              <a:t>These blocks define when the statements should run.      always blocks typically respond to signals (</a:t>
            </a:r>
            <a:r>
              <a:rPr lang="en-US" sz="2400" dirty="0" err="1"/>
              <a:t>posedge</a:t>
            </a:r>
            <a:r>
              <a:rPr lang="en-US" sz="2400" dirty="0"/>
              <a:t> </a:t>
            </a:r>
            <a:r>
              <a:rPr lang="en-US" sz="2400" dirty="0" err="1"/>
              <a:t>clk</a:t>
            </a:r>
            <a:r>
              <a:rPr lang="en-US" sz="2400" dirty="0"/>
              <a:t>, </a:t>
            </a:r>
            <a:r>
              <a:rPr lang="en-US" sz="2400" dirty="0" err="1"/>
              <a:t>negedge</a:t>
            </a:r>
            <a:r>
              <a:rPr lang="en-US" sz="2400" dirty="0"/>
              <a:t> reset, </a:t>
            </a:r>
            <a:r>
              <a:rPr lang="en-US" sz="2400" dirty="0" err="1"/>
              <a:t>etc</a:t>
            </a:r>
            <a:r>
              <a:rPr lang="en-US" sz="2400"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graphicFrame>
        <p:nvGraphicFramePr>
          <p:cNvPr id="6" name="Table 5">
            <a:extLst>
              <a:ext uri="{FF2B5EF4-FFF2-40B4-BE49-F238E27FC236}">
                <a16:creationId xmlns:a16="http://schemas.microsoft.com/office/drawing/2014/main" id="{429CA035-1095-5989-E4C9-F733620A1EF6}"/>
              </a:ext>
            </a:extLst>
          </p:cNvPr>
          <p:cNvGraphicFramePr>
            <a:graphicFrameLocks noGrp="1"/>
          </p:cNvGraphicFramePr>
          <p:nvPr>
            <p:extLst>
              <p:ext uri="{D42A27DB-BD31-4B8C-83A1-F6EECF244321}">
                <p14:modId xmlns:p14="http://schemas.microsoft.com/office/powerpoint/2010/main" val="3336031431"/>
              </p:ext>
            </p:extLst>
          </p:nvPr>
        </p:nvGraphicFramePr>
        <p:xfrm>
          <a:off x="838200" y="3733800"/>
          <a:ext cx="10515600" cy="2618874"/>
        </p:xfrm>
        <a:graphic>
          <a:graphicData uri="http://schemas.openxmlformats.org/drawingml/2006/table">
            <a:tbl>
              <a:tblPr/>
              <a:tblGrid>
                <a:gridCol w="3505200">
                  <a:extLst>
                    <a:ext uri="{9D8B030D-6E8A-4147-A177-3AD203B41FA5}">
                      <a16:colId xmlns:a16="http://schemas.microsoft.com/office/drawing/2014/main" val="3720125739"/>
                    </a:ext>
                  </a:extLst>
                </a:gridCol>
                <a:gridCol w="3505200">
                  <a:extLst>
                    <a:ext uri="{9D8B030D-6E8A-4147-A177-3AD203B41FA5}">
                      <a16:colId xmlns:a16="http://schemas.microsoft.com/office/drawing/2014/main" val="3571233071"/>
                    </a:ext>
                  </a:extLst>
                </a:gridCol>
                <a:gridCol w="3505200">
                  <a:extLst>
                    <a:ext uri="{9D8B030D-6E8A-4147-A177-3AD203B41FA5}">
                      <a16:colId xmlns:a16="http://schemas.microsoft.com/office/drawing/2014/main" val="1338423196"/>
                    </a:ext>
                  </a:extLst>
                </a:gridCol>
              </a:tblGrid>
              <a:tr h="872958">
                <a:tc>
                  <a:txBody>
                    <a:bodyPr/>
                    <a:lstStyle/>
                    <a:p>
                      <a:r>
                        <a:rPr lang="en-IN" sz="2400"/>
                        <a:t>Type</a:t>
                      </a:r>
                    </a:p>
                  </a:txBody>
                  <a:tcPr anchor="ctr">
                    <a:lnL>
                      <a:noFill/>
                    </a:lnL>
                    <a:lnR>
                      <a:noFill/>
                    </a:lnR>
                    <a:lnT>
                      <a:noFill/>
                    </a:lnT>
                    <a:lnB>
                      <a:noFill/>
                    </a:lnB>
                    <a:noFill/>
                  </a:tcPr>
                </a:tc>
                <a:tc>
                  <a:txBody>
                    <a:bodyPr/>
                    <a:lstStyle/>
                    <a:p>
                      <a:r>
                        <a:rPr lang="en-IN" sz="2400" dirty="0"/>
                        <a:t>Executes...</a:t>
                      </a:r>
                    </a:p>
                  </a:txBody>
                  <a:tcPr anchor="ctr">
                    <a:lnL>
                      <a:noFill/>
                    </a:lnL>
                    <a:lnR>
                      <a:noFill/>
                    </a:lnR>
                    <a:lnT>
                      <a:noFill/>
                    </a:lnT>
                    <a:lnB>
                      <a:noFill/>
                    </a:lnB>
                    <a:noFill/>
                  </a:tcPr>
                </a:tc>
                <a:tc>
                  <a:txBody>
                    <a:bodyPr/>
                    <a:lstStyle/>
                    <a:p>
                      <a:r>
                        <a:rPr lang="en-IN" sz="2400"/>
                        <a:t>Example keywords</a:t>
                      </a:r>
                    </a:p>
                  </a:txBody>
                  <a:tcPr anchor="ctr">
                    <a:lnL>
                      <a:noFill/>
                    </a:lnL>
                    <a:lnR>
                      <a:noFill/>
                    </a:lnR>
                    <a:lnT>
                      <a:noFill/>
                    </a:lnT>
                    <a:lnB>
                      <a:noFill/>
                    </a:lnB>
                    <a:noFill/>
                  </a:tcPr>
                </a:tc>
                <a:extLst>
                  <a:ext uri="{0D108BD9-81ED-4DB2-BD59-A6C34878D82A}">
                    <a16:rowId xmlns:a16="http://schemas.microsoft.com/office/drawing/2014/main" val="295044226"/>
                  </a:ext>
                </a:extLst>
              </a:tr>
              <a:tr h="872958">
                <a:tc>
                  <a:txBody>
                    <a:bodyPr/>
                    <a:lstStyle/>
                    <a:p>
                      <a:r>
                        <a:rPr lang="en-IN" sz="2400"/>
                        <a:t>Concurrent</a:t>
                      </a:r>
                    </a:p>
                  </a:txBody>
                  <a:tcPr anchor="ctr">
                    <a:lnL>
                      <a:noFill/>
                    </a:lnL>
                    <a:lnR>
                      <a:noFill/>
                    </a:lnR>
                    <a:lnT>
                      <a:noFill/>
                    </a:lnT>
                    <a:lnB>
                      <a:noFill/>
                    </a:lnB>
                    <a:noFill/>
                  </a:tcPr>
                </a:tc>
                <a:tc>
                  <a:txBody>
                    <a:bodyPr/>
                    <a:lstStyle/>
                    <a:p>
                      <a:r>
                        <a:rPr lang="en-IN" sz="2400" dirty="0"/>
                        <a:t>In parallel</a:t>
                      </a:r>
                    </a:p>
                  </a:txBody>
                  <a:tcPr anchor="ctr">
                    <a:lnL>
                      <a:noFill/>
                    </a:lnL>
                    <a:lnR>
                      <a:noFill/>
                    </a:lnR>
                    <a:lnT>
                      <a:noFill/>
                    </a:lnT>
                    <a:lnB>
                      <a:noFill/>
                    </a:lnB>
                    <a:noFill/>
                  </a:tcPr>
                </a:tc>
                <a:tc>
                  <a:txBody>
                    <a:bodyPr/>
                    <a:lstStyle/>
                    <a:p>
                      <a:r>
                        <a:rPr lang="en-IN" sz="2400" dirty="0"/>
                        <a:t>assign</a:t>
                      </a:r>
                    </a:p>
                  </a:txBody>
                  <a:tcPr anchor="ctr">
                    <a:lnL>
                      <a:noFill/>
                    </a:lnL>
                    <a:lnR>
                      <a:noFill/>
                    </a:lnR>
                    <a:lnT>
                      <a:noFill/>
                    </a:lnT>
                    <a:lnB>
                      <a:noFill/>
                    </a:lnB>
                    <a:noFill/>
                  </a:tcPr>
                </a:tc>
                <a:extLst>
                  <a:ext uri="{0D108BD9-81ED-4DB2-BD59-A6C34878D82A}">
                    <a16:rowId xmlns:a16="http://schemas.microsoft.com/office/drawing/2014/main" val="1619806503"/>
                  </a:ext>
                </a:extLst>
              </a:tr>
              <a:tr h="872958">
                <a:tc>
                  <a:txBody>
                    <a:bodyPr/>
                    <a:lstStyle/>
                    <a:p>
                      <a:r>
                        <a:rPr lang="en-IN" sz="2400" dirty="0"/>
                        <a:t>Procedural</a:t>
                      </a:r>
                    </a:p>
                  </a:txBody>
                  <a:tcPr anchor="ctr">
                    <a:lnL>
                      <a:noFill/>
                    </a:lnL>
                    <a:lnR>
                      <a:noFill/>
                    </a:lnR>
                    <a:lnT>
                      <a:noFill/>
                    </a:lnT>
                    <a:lnB>
                      <a:noFill/>
                    </a:lnB>
                    <a:noFill/>
                  </a:tcPr>
                </a:tc>
                <a:tc>
                  <a:txBody>
                    <a:bodyPr/>
                    <a:lstStyle/>
                    <a:p>
                      <a:r>
                        <a:rPr lang="en-IN" sz="2400" dirty="0"/>
                        <a:t>Step-by-step (in order)</a:t>
                      </a:r>
                    </a:p>
                  </a:txBody>
                  <a:tcPr anchor="ctr">
                    <a:lnL>
                      <a:noFill/>
                    </a:lnL>
                    <a:lnR>
                      <a:noFill/>
                    </a:lnR>
                    <a:lnT>
                      <a:noFill/>
                    </a:lnT>
                    <a:lnB>
                      <a:noFill/>
                    </a:lnB>
                    <a:noFill/>
                  </a:tcPr>
                </a:tc>
                <a:tc>
                  <a:txBody>
                    <a:bodyPr/>
                    <a:lstStyle/>
                    <a:p>
                      <a:r>
                        <a:rPr lang="en-IN" sz="2400" dirty="0"/>
                        <a:t>always, initial</a:t>
                      </a:r>
                    </a:p>
                  </a:txBody>
                  <a:tcPr anchor="ctr">
                    <a:lnL>
                      <a:noFill/>
                    </a:lnL>
                    <a:lnR>
                      <a:noFill/>
                    </a:lnR>
                    <a:lnT>
                      <a:noFill/>
                    </a:lnT>
                    <a:lnB>
                      <a:noFill/>
                    </a:lnB>
                    <a:noFill/>
                  </a:tcPr>
                </a:tc>
                <a:extLst>
                  <a:ext uri="{0D108BD9-81ED-4DB2-BD59-A6C34878D82A}">
                    <a16:rowId xmlns:a16="http://schemas.microsoft.com/office/drawing/2014/main" val="2683407830"/>
                  </a:ext>
                </a:extLst>
              </a:tr>
            </a:tbl>
          </a:graphicData>
        </a:graphic>
      </p:graphicFrame>
      <p:sp>
        <p:nvSpPr>
          <p:cNvPr id="7" name="Rectangle 2">
            <a:extLst>
              <a:ext uri="{FF2B5EF4-FFF2-40B4-BE49-F238E27FC236}">
                <a16:creationId xmlns:a16="http://schemas.microsoft.com/office/drawing/2014/main" id="{DE5F4491-F873-B6A4-F665-F00249B07FF1}"/>
              </a:ext>
            </a:extLst>
          </p:cNvPr>
          <p:cNvSpPr>
            <a:spLocks noChangeArrowheads="1"/>
          </p:cNvSpPr>
          <p:nvPr/>
        </p:nvSpPr>
        <p:spPr bwMode="auto">
          <a:xfrm>
            <a:off x="838200" y="3219749"/>
            <a:ext cx="13131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Summary: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7622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47302" y="241827"/>
            <a:ext cx="4511941" cy="584775"/>
          </a:xfrm>
          <a:prstGeom prst="rect">
            <a:avLst/>
          </a:prstGeom>
        </p:spPr>
        <p:txBody>
          <a:bodyPr wrap="none">
            <a:spAutoFit/>
          </a:bodyPr>
          <a:lstStyle/>
          <a:p>
            <a:r>
              <a:rPr lang="en-US" sz="3200" b="1" dirty="0"/>
              <a:t>The Conditional Operator</a:t>
            </a:r>
          </a:p>
        </p:txBody>
      </p:sp>
      <p:sp>
        <p:nvSpPr>
          <p:cNvPr id="3" name="Rectangle 2"/>
          <p:cNvSpPr/>
          <p:nvPr/>
        </p:nvSpPr>
        <p:spPr>
          <a:xfrm>
            <a:off x="1294544" y="1054952"/>
            <a:ext cx="10017455" cy="5693866"/>
          </a:xfrm>
          <a:prstGeom prst="rect">
            <a:avLst/>
          </a:prstGeom>
        </p:spPr>
        <p:txBody>
          <a:bodyPr wrap="square">
            <a:spAutoFit/>
          </a:bodyPr>
          <a:lstStyle/>
          <a:p>
            <a:pPr algn="just"/>
            <a:r>
              <a:rPr lang="en-US" sz="2800" b="0" i="0" u="none" strike="noStrike" baseline="0" dirty="0" err="1">
                <a:latin typeface="Times-Roman"/>
              </a:rPr>
              <a:t>conditional_expression</a:t>
            </a:r>
            <a:r>
              <a:rPr lang="en-US" sz="2800" b="0" i="0" u="none" strike="noStrike" baseline="0" dirty="0">
                <a:latin typeface="Times-Roman"/>
              </a:rPr>
              <a:t> ? </a:t>
            </a:r>
            <a:r>
              <a:rPr lang="en-US" sz="2800" b="0" i="0" u="none" strike="noStrike" baseline="0" dirty="0" err="1">
                <a:latin typeface="Times-Roman"/>
              </a:rPr>
              <a:t>true_expression</a:t>
            </a:r>
            <a:r>
              <a:rPr lang="en-US" sz="2800" b="0" i="0" u="none" strike="noStrike" baseline="0" dirty="0">
                <a:latin typeface="Times-Roman"/>
              </a:rPr>
              <a:t> : </a:t>
            </a:r>
            <a:r>
              <a:rPr lang="en-US" sz="2800" b="0" i="0" u="none" strike="noStrike" baseline="0" dirty="0" err="1">
                <a:latin typeface="Times-Roman"/>
              </a:rPr>
              <a:t>false_expression</a:t>
            </a:r>
            <a:endParaRPr lang="en-US" sz="2800" b="0" i="0" u="none" strike="noStrike" baseline="0" dirty="0">
              <a:latin typeface="Times-Roman"/>
            </a:endParaRPr>
          </a:p>
          <a:p>
            <a:pPr algn="just"/>
            <a:endParaRPr lang="en-US" sz="2800" b="0" i="0" u="none" strike="noStrike" baseline="0" dirty="0">
              <a:latin typeface="Times-Roman"/>
            </a:endParaRPr>
          </a:p>
          <a:p>
            <a:pPr algn="just"/>
            <a:r>
              <a:rPr lang="en-US" sz="2800" b="0" i="0" u="none" strike="noStrike" baseline="0" dirty="0">
                <a:latin typeface="Times-Roman"/>
              </a:rPr>
              <a:t>If the conditional expression evaluates to 1 (true), then the value of </a:t>
            </a:r>
            <a:r>
              <a:rPr lang="en-US" sz="2800" b="0" i="0" u="none" strike="noStrike" baseline="0" dirty="0" err="1">
                <a:latin typeface="Times-Roman"/>
              </a:rPr>
              <a:t>true_expression</a:t>
            </a:r>
            <a:r>
              <a:rPr lang="en-US" sz="2800" b="0" i="0" u="none" strike="noStrike" baseline="0" dirty="0">
                <a:latin typeface="Times-Roman"/>
              </a:rPr>
              <a:t> is</a:t>
            </a:r>
            <a:r>
              <a:rPr lang="en-US" sz="2800" b="0" i="0" u="none" strike="noStrike" dirty="0">
                <a:latin typeface="Times-Roman"/>
              </a:rPr>
              <a:t> </a:t>
            </a:r>
            <a:r>
              <a:rPr lang="en-US" sz="2800" b="0" i="0" u="none" strike="noStrike" baseline="0" dirty="0">
                <a:latin typeface="Times-Roman"/>
              </a:rPr>
              <a:t>chosen; otherwise, the value of </a:t>
            </a:r>
            <a:r>
              <a:rPr lang="en-US" sz="2800" b="0" i="0" u="none" strike="noStrike" baseline="0" dirty="0" err="1">
                <a:latin typeface="Times-Roman"/>
              </a:rPr>
              <a:t>false_expression</a:t>
            </a:r>
            <a:r>
              <a:rPr lang="en-US" sz="2800" b="0" i="0" u="none" strike="noStrike" baseline="0" dirty="0">
                <a:latin typeface="Times-Roman"/>
              </a:rPr>
              <a:t> is chosen. </a:t>
            </a:r>
          </a:p>
          <a:p>
            <a:pPr algn="just"/>
            <a:endParaRPr lang="en-US" sz="2800" dirty="0">
              <a:latin typeface="Times-Roman"/>
            </a:endParaRPr>
          </a:p>
          <a:p>
            <a:pPr algn="just"/>
            <a:r>
              <a:rPr lang="en-US" sz="2800" b="0" i="0" u="none" strike="noStrike" baseline="0" dirty="0">
                <a:latin typeface="Times-Roman"/>
              </a:rPr>
              <a:t>For example, the statement</a:t>
            </a:r>
            <a:r>
              <a:rPr lang="en-US" sz="2800" b="0" i="0" u="none" strike="noStrike" dirty="0">
                <a:latin typeface="Times-Roman"/>
              </a:rPr>
              <a:t>      </a:t>
            </a:r>
            <a:r>
              <a:rPr lang="pt-BR" sz="2800" b="0" i="0" u="none" strike="noStrike" baseline="0" dirty="0">
                <a:latin typeface="Times-Roman"/>
              </a:rPr>
              <a:t>A= (B </a:t>
            </a:r>
            <a:r>
              <a:rPr lang="pt-BR" sz="2800" b="0" i="1" u="none" strike="noStrike" baseline="0" dirty="0">
                <a:latin typeface="MTMI"/>
              </a:rPr>
              <a:t>&lt; </a:t>
            </a:r>
            <a:r>
              <a:rPr lang="pt-BR" sz="2800" b="0" i="0" u="none" strike="noStrike" baseline="0" dirty="0">
                <a:latin typeface="Times-Roman"/>
              </a:rPr>
              <a:t>C) ? (D + 5) : (D + 2);</a:t>
            </a:r>
          </a:p>
          <a:p>
            <a:pPr algn="just"/>
            <a:r>
              <a:rPr lang="en-US" sz="2800" dirty="0"/>
              <a:t>means that if B is less than C, the value of A will be D + 5 or else A will have the value D+2. </a:t>
            </a:r>
          </a:p>
          <a:p>
            <a:pPr algn="just"/>
            <a:endParaRPr lang="en-US" sz="2800" dirty="0"/>
          </a:p>
          <a:p>
            <a:pPr algn="just"/>
            <a:r>
              <a:rPr lang="en-US" sz="2800" dirty="0"/>
              <a:t>Parentheses are not necessary. The conditional operator can be used both in continuous assignment statements and in procedural statements inside an always block.</a:t>
            </a:r>
          </a:p>
        </p:txBody>
      </p:sp>
    </p:spTree>
    <p:extLst>
      <p:ext uri="{BB962C8B-B14F-4D97-AF65-F5344CB8AC3E}">
        <p14:creationId xmlns:p14="http://schemas.microsoft.com/office/powerpoint/2010/main" val="9439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02592" y="533991"/>
            <a:ext cx="6096000" cy="2246769"/>
          </a:xfrm>
          <a:prstGeom prst="rect">
            <a:avLst/>
          </a:prstGeom>
        </p:spPr>
        <p:txBody>
          <a:bodyPr>
            <a:spAutoFit/>
          </a:bodyPr>
          <a:lstStyle/>
          <a:p>
            <a:pPr algn="just"/>
            <a:r>
              <a:rPr lang="pl-PL" sz="2800" b="1" i="0" u="none" strike="noStrike" baseline="0" dirty="0">
                <a:latin typeface="Times-Bold"/>
              </a:rPr>
              <a:t>module </a:t>
            </a:r>
            <a:r>
              <a:rPr lang="pl-PL" sz="2800" b="0" i="0" u="none" strike="noStrike" baseline="0" dirty="0">
                <a:latin typeface="Times-Roman"/>
              </a:rPr>
              <a:t>mux2to1 (w0, w1, s, f);</a:t>
            </a:r>
          </a:p>
          <a:p>
            <a:pPr algn="just"/>
            <a:r>
              <a:rPr lang="en-US" sz="2800" b="1" i="0" u="none" strike="noStrike" baseline="0" dirty="0">
                <a:latin typeface="Times-Bold"/>
              </a:rPr>
              <a:t>input </a:t>
            </a:r>
            <a:r>
              <a:rPr lang="en-US" sz="2800" b="0" i="0" u="none" strike="noStrike" baseline="0" dirty="0">
                <a:latin typeface="Times-Roman"/>
              </a:rPr>
              <a:t>w0, w1, s;</a:t>
            </a:r>
          </a:p>
          <a:p>
            <a:pPr algn="just"/>
            <a:r>
              <a:rPr lang="en-US" sz="2800" b="1" i="0" u="none" strike="noStrike" baseline="0" dirty="0">
                <a:latin typeface="Times-Bold"/>
              </a:rPr>
              <a:t>output </a:t>
            </a:r>
            <a:r>
              <a:rPr lang="en-US" sz="2800" b="0" i="0" u="none" strike="noStrike" baseline="0" dirty="0">
                <a:latin typeface="Times-Roman"/>
              </a:rPr>
              <a:t>f;</a:t>
            </a:r>
          </a:p>
          <a:p>
            <a:pPr algn="just"/>
            <a:r>
              <a:rPr lang="pl-PL" sz="2800" b="1" i="0" u="none" strike="noStrike" baseline="0" dirty="0">
                <a:latin typeface="Times-Bold"/>
              </a:rPr>
              <a:t>assign </a:t>
            </a:r>
            <a:r>
              <a:rPr lang="pl-PL" sz="2800" b="0" i="0" u="none" strike="noStrike" baseline="0" dirty="0">
                <a:latin typeface="Times-Roman"/>
              </a:rPr>
              <a:t>f = s ? w1 : w0;</a:t>
            </a:r>
          </a:p>
          <a:p>
            <a:pPr algn="just"/>
            <a:r>
              <a:rPr lang="en-US" sz="2800" b="1" i="0" u="none" strike="noStrike" baseline="0" dirty="0" err="1">
                <a:latin typeface="Times-Bold"/>
              </a:rPr>
              <a:t>endmodule</a:t>
            </a:r>
            <a:endParaRPr lang="en-US" sz="2800" dirty="0"/>
          </a:p>
        </p:txBody>
      </p:sp>
      <p:sp>
        <p:nvSpPr>
          <p:cNvPr id="3" name="Rectangle 2"/>
          <p:cNvSpPr/>
          <p:nvPr/>
        </p:nvSpPr>
        <p:spPr>
          <a:xfrm>
            <a:off x="3102592" y="3232203"/>
            <a:ext cx="6096000" cy="3108543"/>
          </a:xfrm>
          <a:prstGeom prst="rect">
            <a:avLst/>
          </a:prstGeom>
        </p:spPr>
        <p:txBody>
          <a:bodyPr>
            <a:spAutoFit/>
          </a:bodyPr>
          <a:lstStyle/>
          <a:p>
            <a:pPr algn="just"/>
            <a:r>
              <a:rPr lang="pl-PL" sz="2800" b="1" i="0" u="none" strike="noStrike" baseline="0" dirty="0">
                <a:solidFill>
                  <a:schemeClr val="tx2"/>
                </a:solidFill>
                <a:latin typeface="Times-Bold"/>
              </a:rPr>
              <a:t>module </a:t>
            </a:r>
            <a:r>
              <a:rPr lang="pl-PL" sz="2800" b="0" i="0" u="none" strike="noStrike" baseline="0" dirty="0">
                <a:solidFill>
                  <a:schemeClr val="tx2"/>
                </a:solidFill>
                <a:latin typeface="Times-Roman"/>
              </a:rPr>
              <a:t>mux2to1 (w0, w1, s, f);</a:t>
            </a:r>
          </a:p>
          <a:p>
            <a:pPr algn="just"/>
            <a:r>
              <a:rPr lang="en-US" sz="2800" b="1" i="0" u="none" strike="noStrike" baseline="0" dirty="0">
                <a:solidFill>
                  <a:schemeClr val="tx2"/>
                </a:solidFill>
                <a:latin typeface="Times-Bold"/>
              </a:rPr>
              <a:t>input </a:t>
            </a:r>
            <a:r>
              <a:rPr lang="en-US" sz="2800" b="0" i="0" u="none" strike="noStrike" baseline="0" dirty="0">
                <a:solidFill>
                  <a:schemeClr val="tx2"/>
                </a:solidFill>
                <a:latin typeface="Times-Roman"/>
              </a:rPr>
              <a:t>w0, w1, s;</a:t>
            </a:r>
          </a:p>
          <a:p>
            <a:pPr algn="just"/>
            <a:r>
              <a:rPr lang="en-US" sz="2800" b="1" i="0" u="none" strike="noStrike" baseline="0" dirty="0">
                <a:solidFill>
                  <a:schemeClr val="tx2"/>
                </a:solidFill>
                <a:latin typeface="Times-Bold"/>
              </a:rPr>
              <a:t>output </a:t>
            </a:r>
            <a:r>
              <a:rPr lang="en-US" sz="2800" b="0" i="0" u="none" strike="noStrike" baseline="0" dirty="0">
                <a:solidFill>
                  <a:schemeClr val="tx2"/>
                </a:solidFill>
                <a:latin typeface="Times-Roman"/>
              </a:rPr>
              <a:t>f;</a:t>
            </a:r>
          </a:p>
          <a:p>
            <a:pPr algn="just"/>
            <a:r>
              <a:rPr lang="en-US" sz="2800" b="1" i="0" u="none" strike="noStrike" baseline="0" dirty="0" err="1">
                <a:solidFill>
                  <a:schemeClr val="tx2"/>
                </a:solidFill>
                <a:latin typeface="Times-Bold"/>
              </a:rPr>
              <a:t>reg</a:t>
            </a:r>
            <a:r>
              <a:rPr lang="en-US" sz="2800" b="1" i="0" u="none" strike="noStrike" baseline="0" dirty="0">
                <a:solidFill>
                  <a:schemeClr val="tx2"/>
                </a:solidFill>
                <a:latin typeface="Times-Bold"/>
              </a:rPr>
              <a:t> </a:t>
            </a:r>
            <a:r>
              <a:rPr lang="en-US" sz="2800" b="0" i="0" u="none" strike="noStrike" baseline="0" dirty="0">
                <a:solidFill>
                  <a:schemeClr val="tx2"/>
                </a:solidFill>
                <a:latin typeface="Times-Roman"/>
              </a:rPr>
              <a:t>f;</a:t>
            </a:r>
          </a:p>
          <a:p>
            <a:pPr algn="just"/>
            <a:r>
              <a:rPr lang="en-US" sz="2800" b="1" i="0" u="none" strike="noStrike" baseline="0" dirty="0">
                <a:solidFill>
                  <a:schemeClr val="tx2"/>
                </a:solidFill>
                <a:latin typeface="Times-Bold"/>
              </a:rPr>
              <a:t>always </a:t>
            </a:r>
            <a:r>
              <a:rPr lang="en-US" sz="2800" b="0" i="0" u="none" strike="noStrike" baseline="0" dirty="0">
                <a:solidFill>
                  <a:schemeClr val="tx2"/>
                </a:solidFill>
                <a:latin typeface="Times-Roman"/>
              </a:rPr>
              <a:t>@(w0 or w1 or s)</a:t>
            </a:r>
          </a:p>
          <a:p>
            <a:pPr algn="just"/>
            <a:r>
              <a:rPr lang="en-US" sz="2800" b="0" i="0" u="none" strike="noStrike" baseline="0" dirty="0">
                <a:solidFill>
                  <a:schemeClr val="tx2"/>
                </a:solidFill>
                <a:latin typeface="Times-Roman"/>
              </a:rPr>
              <a:t>f = s ? w1 : w0;</a:t>
            </a:r>
          </a:p>
          <a:p>
            <a:pPr algn="just"/>
            <a:r>
              <a:rPr lang="en-US" sz="2800" b="1" i="0" u="none" strike="noStrike" baseline="0" dirty="0" err="1">
                <a:solidFill>
                  <a:schemeClr val="tx2"/>
                </a:solidFill>
                <a:latin typeface="Times-Bold"/>
              </a:rPr>
              <a:t>endmodule</a:t>
            </a:r>
            <a:endParaRPr lang="en-US" sz="2800" dirty="0">
              <a:solidFill>
                <a:schemeClr val="tx2"/>
              </a:solidFill>
            </a:endParaRPr>
          </a:p>
        </p:txBody>
      </p:sp>
    </p:spTree>
    <p:extLst>
      <p:ext uri="{BB962C8B-B14F-4D97-AF65-F5344CB8AC3E}">
        <p14:creationId xmlns:p14="http://schemas.microsoft.com/office/powerpoint/2010/main" val="2056843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5493" y="3030465"/>
            <a:ext cx="8470711" cy="2677656"/>
          </a:xfrm>
          <a:prstGeom prst="rect">
            <a:avLst/>
          </a:prstGeom>
        </p:spPr>
        <p:txBody>
          <a:bodyPr wrap="square">
            <a:spAutoFit/>
          </a:bodyPr>
          <a:lstStyle/>
          <a:p>
            <a:pPr algn="just"/>
            <a:r>
              <a:rPr lang="pl-PL" sz="2800" b="1" i="0" u="none" strike="noStrike" baseline="0" dirty="0">
                <a:latin typeface="Times-Bold"/>
              </a:rPr>
              <a:t>module </a:t>
            </a:r>
            <a:r>
              <a:rPr lang="pl-PL" sz="2800" b="0" i="0" u="none" strike="noStrike" baseline="0" dirty="0">
                <a:latin typeface="Times-Roman"/>
              </a:rPr>
              <a:t>mux4to1 (w0, w1, w2, w3, S, f);</a:t>
            </a:r>
          </a:p>
          <a:p>
            <a:pPr algn="just"/>
            <a:r>
              <a:rPr lang="pl-PL" sz="2800" b="1" i="0" u="none" strike="noStrike" baseline="0" dirty="0">
                <a:latin typeface="Times-Bold"/>
              </a:rPr>
              <a:t>input </a:t>
            </a:r>
            <a:r>
              <a:rPr lang="pl-PL" sz="2800" b="0" i="0" u="none" strike="noStrike" baseline="0" dirty="0">
                <a:latin typeface="Times-Roman"/>
              </a:rPr>
              <a:t>w0, w1, w2, w3;</a:t>
            </a:r>
          </a:p>
          <a:p>
            <a:pPr algn="just"/>
            <a:r>
              <a:rPr lang="en-US" sz="2800" b="1" i="0" u="none" strike="noStrike" baseline="0" dirty="0">
                <a:latin typeface="Times-Bold"/>
              </a:rPr>
              <a:t>input </a:t>
            </a:r>
            <a:r>
              <a:rPr lang="en-US" sz="2800" b="0" i="0" u="none" strike="noStrike" baseline="0" dirty="0">
                <a:latin typeface="Times-Roman"/>
              </a:rPr>
              <a:t>[1:0] S;</a:t>
            </a:r>
          </a:p>
          <a:p>
            <a:pPr algn="just"/>
            <a:r>
              <a:rPr lang="en-US" sz="2800" b="1" i="0" u="none" strike="noStrike" baseline="0" dirty="0">
                <a:latin typeface="Times-Bold"/>
              </a:rPr>
              <a:t>output </a:t>
            </a:r>
            <a:r>
              <a:rPr lang="en-US" sz="2800" b="0" i="0" u="none" strike="noStrike" baseline="0" dirty="0">
                <a:latin typeface="Times-Roman"/>
              </a:rPr>
              <a:t>f;</a:t>
            </a:r>
          </a:p>
          <a:p>
            <a:pPr algn="just"/>
            <a:r>
              <a:rPr lang="pl-PL" sz="2800" b="1" i="0" u="none" strike="noStrike" baseline="0" dirty="0">
                <a:latin typeface="Times-Bold"/>
              </a:rPr>
              <a:t>assign </a:t>
            </a:r>
            <a:r>
              <a:rPr lang="pl-PL" sz="2800" b="0" i="0" u="none" strike="noStrike" baseline="0" dirty="0">
                <a:latin typeface="Times-Roman"/>
              </a:rPr>
              <a:t>f = S[1] ? (S[0] ? w3 : w2) : (S[0] ? w1 : w0);</a:t>
            </a:r>
          </a:p>
          <a:p>
            <a:pPr algn="just"/>
            <a:r>
              <a:rPr lang="en-US" sz="2800" b="1" i="0" u="none" strike="noStrike" baseline="0" dirty="0" err="1">
                <a:latin typeface="Times-Bold"/>
              </a:rPr>
              <a:t>endmodule</a:t>
            </a:r>
            <a:endParaRPr lang="en-US" sz="2800" dirty="0"/>
          </a:p>
        </p:txBody>
      </p:sp>
      <p:sp>
        <p:nvSpPr>
          <p:cNvPr id="3" name="Rectangle 2">
            <a:extLst>
              <a:ext uri="{FF2B5EF4-FFF2-40B4-BE49-F238E27FC236}">
                <a16:creationId xmlns:a16="http://schemas.microsoft.com/office/drawing/2014/main" id="{B63EA23C-8650-BFCE-725D-09163F0C9A26}"/>
              </a:ext>
            </a:extLst>
          </p:cNvPr>
          <p:cNvSpPr/>
          <p:nvPr/>
        </p:nvSpPr>
        <p:spPr>
          <a:xfrm>
            <a:off x="1062251" y="352809"/>
            <a:ext cx="8470711" cy="646331"/>
          </a:xfrm>
          <a:prstGeom prst="rect">
            <a:avLst/>
          </a:prstGeom>
        </p:spPr>
        <p:txBody>
          <a:bodyPr wrap="square">
            <a:spAutoFit/>
          </a:bodyPr>
          <a:lstStyle/>
          <a:p>
            <a:pPr algn="just"/>
            <a:r>
              <a:rPr lang="en-US" sz="3600" dirty="0"/>
              <a:t> 4to 1 mux using conditional operator</a:t>
            </a:r>
          </a:p>
        </p:txBody>
      </p:sp>
    </p:spTree>
    <p:extLst>
      <p:ext uri="{BB962C8B-B14F-4D97-AF65-F5344CB8AC3E}">
        <p14:creationId xmlns:p14="http://schemas.microsoft.com/office/powerpoint/2010/main" val="18991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1000"/>
                                        <p:tgtEl>
                                          <p:spTgt spid="2">
                                            <p:txEl>
                                              <p:pRg st="2" end="2"/>
                                            </p:txEl>
                                          </p:spTgt>
                                        </p:tgtEl>
                                      </p:cBhvr>
                                    </p:animEffect>
                                    <p:anim calcmode="lin" valueType="num">
                                      <p:cBhvr>
                                        <p:cTn id="1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1000"/>
                                        <p:tgtEl>
                                          <p:spTgt spid="2">
                                            <p:txEl>
                                              <p:pRg st="3" end="3"/>
                                            </p:txEl>
                                          </p:spTgt>
                                        </p:tgtEl>
                                      </p:cBhvr>
                                    </p:animEffect>
                                    <p:anim calcmode="lin" valueType="num">
                                      <p:cBhvr>
                                        <p:cTn id="2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1000"/>
                                        <p:tgtEl>
                                          <p:spTgt spid="2">
                                            <p:txEl>
                                              <p:pRg st="4" end="4"/>
                                            </p:txEl>
                                          </p:spTgt>
                                        </p:tgtEl>
                                      </p:cBhvr>
                                    </p:animEffect>
                                    <p:anim calcmode="lin" valueType="num">
                                      <p:cBhvr>
                                        <p:cTn id="2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1000"/>
                                        <p:tgtEl>
                                          <p:spTgt spid="2">
                                            <p:txEl>
                                              <p:pRg st="5" end="5"/>
                                            </p:txEl>
                                          </p:spTgt>
                                        </p:tgtEl>
                                      </p:cBhvr>
                                    </p:animEffect>
                                    <p:anim calcmode="lin" valueType="num">
                                      <p:cBhvr>
                                        <p:cTn id="3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7797" y="1207168"/>
            <a:ext cx="10972800" cy="3108543"/>
          </a:xfrm>
          <a:prstGeom prst="rect">
            <a:avLst/>
          </a:prstGeom>
        </p:spPr>
        <p:txBody>
          <a:bodyPr wrap="square">
            <a:spAutoFit/>
          </a:bodyPr>
          <a:lstStyle/>
          <a:p>
            <a:pPr algn="just"/>
            <a:r>
              <a:rPr lang="en-US" sz="2800" b="1" i="0" u="none" strike="noStrike" baseline="0" dirty="0">
                <a:solidFill>
                  <a:srgbClr val="000000"/>
                </a:solidFill>
                <a:latin typeface="Times-Bold"/>
              </a:rPr>
              <a:t>if-else </a:t>
            </a:r>
            <a:r>
              <a:rPr lang="en-US" sz="2800" b="0" i="0" u="none" strike="noStrike" baseline="0" dirty="0">
                <a:solidFill>
                  <a:srgbClr val="000000"/>
                </a:solidFill>
                <a:latin typeface="Times-Roman"/>
              </a:rPr>
              <a:t>statement has the syntax</a:t>
            </a:r>
          </a:p>
          <a:p>
            <a:pPr algn="just"/>
            <a:r>
              <a:rPr lang="en-US" sz="2800" b="1" i="0" u="none" strike="noStrike" baseline="0" dirty="0">
                <a:solidFill>
                  <a:srgbClr val="000000"/>
                </a:solidFill>
                <a:latin typeface="Times-Bold"/>
              </a:rPr>
              <a:t>                if </a:t>
            </a:r>
            <a:r>
              <a:rPr lang="en-US" sz="2800" b="0" i="0" u="none" strike="noStrike" baseline="0" dirty="0">
                <a:solidFill>
                  <a:srgbClr val="000000"/>
                </a:solidFill>
                <a:latin typeface="Times-Roman"/>
              </a:rPr>
              <a:t>(</a:t>
            </a:r>
            <a:r>
              <a:rPr lang="en-US" sz="2800" b="0" i="0" u="none" strike="noStrike" baseline="0" dirty="0" err="1">
                <a:solidFill>
                  <a:srgbClr val="000000"/>
                </a:solidFill>
                <a:latin typeface="Times-Roman"/>
              </a:rPr>
              <a:t>conditional_expression</a:t>
            </a:r>
            <a:r>
              <a:rPr lang="en-US" sz="2800" b="0" i="0" u="none" strike="noStrike" baseline="0" dirty="0">
                <a:solidFill>
                  <a:srgbClr val="000000"/>
                </a:solidFill>
                <a:latin typeface="Times-Roman"/>
              </a:rPr>
              <a:t>) statement;</a:t>
            </a:r>
          </a:p>
          <a:p>
            <a:pPr algn="just"/>
            <a:r>
              <a:rPr lang="en-US" sz="2800" b="1" i="0" u="none" strike="noStrike" baseline="0" dirty="0">
                <a:solidFill>
                  <a:srgbClr val="000000"/>
                </a:solidFill>
                <a:latin typeface="Times-Bold"/>
              </a:rPr>
              <a:t>                else </a:t>
            </a:r>
            <a:r>
              <a:rPr lang="en-US" sz="2800" b="0" i="0" u="none" strike="noStrike" baseline="0" dirty="0">
                <a:solidFill>
                  <a:srgbClr val="000000"/>
                </a:solidFill>
                <a:latin typeface="Times-Roman"/>
              </a:rPr>
              <a:t>statement;</a:t>
            </a:r>
          </a:p>
          <a:p>
            <a:pPr algn="just"/>
            <a:r>
              <a:rPr lang="en-US" sz="2800" b="0" i="0" u="none" strike="noStrike" baseline="0" dirty="0">
                <a:solidFill>
                  <a:srgbClr val="000000"/>
                </a:solidFill>
                <a:latin typeface="Times-Roman"/>
              </a:rPr>
              <a:t> If the expression</a:t>
            </a:r>
            <a:r>
              <a:rPr lang="en-US" sz="2800" b="0" i="0" u="none" strike="noStrike" dirty="0">
                <a:solidFill>
                  <a:srgbClr val="000000"/>
                </a:solidFill>
                <a:latin typeface="Times-Roman"/>
              </a:rPr>
              <a:t> </a:t>
            </a:r>
            <a:r>
              <a:rPr lang="en-US" sz="2800" b="0" i="0" u="none" strike="noStrike" baseline="0" dirty="0">
                <a:solidFill>
                  <a:srgbClr val="000000"/>
                </a:solidFill>
                <a:latin typeface="Times-Roman"/>
              </a:rPr>
              <a:t>is evaluated to true then the first statement (or a block of statements delineated by </a:t>
            </a:r>
            <a:r>
              <a:rPr lang="en-US" sz="2800" b="1" i="0" u="none" strike="noStrike" baseline="0" dirty="0">
                <a:solidFill>
                  <a:srgbClr val="000000"/>
                </a:solidFill>
                <a:latin typeface="Times-Bold"/>
              </a:rPr>
              <a:t>begin</a:t>
            </a:r>
            <a:r>
              <a:rPr lang="en-US" sz="2800" b="1" i="0" u="none" strike="noStrike" dirty="0">
                <a:solidFill>
                  <a:srgbClr val="000000"/>
                </a:solidFill>
                <a:latin typeface="Times-Bold"/>
              </a:rPr>
              <a:t> </a:t>
            </a:r>
            <a:r>
              <a:rPr lang="en-US" sz="2800" b="0" i="0" u="none" strike="noStrike" baseline="0" dirty="0">
                <a:solidFill>
                  <a:srgbClr val="000000"/>
                </a:solidFill>
                <a:latin typeface="Times-Roman"/>
              </a:rPr>
              <a:t>and </a:t>
            </a:r>
            <a:r>
              <a:rPr lang="en-US" sz="2800" b="1" i="0" u="none" strike="noStrike" baseline="0" dirty="0">
                <a:solidFill>
                  <a:srgbClr val="000000"/>
                </a:solidFill>
                <a:latin typeface="Times-Bold"/>
              </a:rPr>
              <a:t>end </a:t>
            </a:r>
            <a:r>
              <a:rPr lang="en-US" sz="2800" b="0" i="0" u="none" strike="noStrike" baseline="0" dirty="0">
                <a:solidFill>
                  <a:srgbClr val="000000"/>
                </a:solidFill>
                <a:latin typeface="Times-Roman"/>
              </a:rPr>
              <a:t>keywords) is executed or else the second statement (or a block of statements) is</a:t>
            </a:r>
          </a:p>
          <a:p>
            <a:pPr algn="just"/>
            <a:r>
              <a:rPr lang="en-US" sz="2800" b="0" i="0" u="none" strike="noStrike" baseline="0" dirty="0">
                <a:solidFill>
                  <a:srgbClr val="000000"/>
                </a:solidFill>
                <a:latin typeface="Times-Roman"/>
              </a:rPr>
              <a:t>executed.</a:t>
            </a:r>
            <a:endParaRPr lang="en-US" sz="2800" dirty="0"/>
          </a:p>
        </p:txBody>
      </p:sp>
      <p:sp>
        <p:nvSpPr>
          <p:cNvPr id="3" name="Rectangle 2"/>
          <p:cNvSpPr/>
          <p:nvPr/>
        </p:nvSpPr>
        <p:spPr>
          <a:xfrm>
            <a:off x="4103410" y="241826"/>
            <a:ext cx="3810082" cy="584775"/>
          </a:xfrm>
          <a:prstGeom prst="rect">
            <a:avLst/>
          </a:prstGeom>
        </p:spPr>
        <p:txBody>
          <a:bodyPr wrap="none">
            <a:spAutoFit/>
          </a:bodyPr>
          <a:lstStyle/>
          <a:p>
            <a:r>
              <a:rPr lang="en-US" sz="3200" b="1" dirty="0"/>
              <a:t>The If-Else Statement</a:t>
            </a:r>
          </a:p>
        </p:txBody>
      </p:sp>
    </p:spTree>
    <p:extLst>
      <p:ext uri="{BB962C8B-B14F-4D97-AF65-F5344CB8AC3E}">
        <p14:creationId xmlns:p14="http://schemas.microsoft.com/office/powerpoint/2010/main" val="1263810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987905"/>
            <a:ext cx="6096000" cy="4401205"/>
          </a:xfrm>
          <a:prstGeom prst="rect">
            <a:avLst/>
          </a:prstGeom>
        </p:spPr>
        <p:txBody>
          <a:bodyPr>
            <a:spAutoFit/>
          </a:bodyPr>
          <a:lstStyle/>
          <a:p>
            <a:r>
              <a:rPr lang="pl-PL" sz="2800" b="1" i="0" u="none" strike="noStrike" baseline="0" dirty="0">
                <a:latin typeface="Times-Bold"/>
              </a:rPr>
              <a:t>module </a:t>
            </a:r>
            <a:r>
              <a:rPr lang="pl-PL" sz="2800" b="0" i="0" u="none" strike="noStrike" baseline="0" dirty="0">
                <a:latin typeface="Times-Roman"/>
              </a:rPr>
              <a:t>mux2to1 (w0, w1, s, f);</a:t>
            </a:r>
          </a:p>
          <a:p>
            <a:r>
              <a:rPr lang="en-US" sz="2800" b="1" i="0" u="none" strike="noStrike" baseline="0" dirty="0">
                <a:latin typeface="Times-Bold"/>
              </a:rPr>
              <a:t>input </a:t>
            </a:r>
            <a:r>
              <a:rPr lang="en-US" sz="2800" b="0" i="0" u="none" strike="noStrike" baseline="0" dirty="0">
                <a:latin typeface="Times-Roman"/>
              </a:rPr>
              <a:t>w0, w1, s;</a:t>
            </a:r>
          </a:p>
          <a:p>
            <a:r>
              <a:rPr lang="en-US" sz="2800" b="1" i="0" u="none" strike="noStrike" baseline="0" dirty="0">
                <a:latin typeface="Times-Bold"/>
              </a:rPr>
              <a:t>output </a:t>
            </a:r>
            <a:r>
              <a:rPr lang="en-US" sz="2800" b="0" i="0" u="none" strike="noStrike" baseline="0" dirty="0">
                <a:latin typeface="Times-Roman"/>
              </a:rPr>
              <a:t>f;</a:t>
            </a:r>
          </a:p>
          <a:p>
            <a:r>
              <a:rPr lang="en-US" sz="2800" b="1" i="0" u="none" strike="noStrike" baseline="0" dirty="0" err="1">
                <a:latin typeface="Times-Bold"/>
              </a:rPr>
              <a:t>reg</a:t>
            </a:r>
            <a:r>
              <a:rPr lang="en-US" sz="2800" b="1" i="0" u="none" strike="noStrike" baseline="0" dirty="0">
                <a:latin typeface="Times-Bold"/>
              </a:rPr>
              <a:t> </a:t>
            </a:r>
            <a:r>
              <a:rPr lang="en-US" sz="2800" b="0" i="0" u="none" strike="noStrike" baseline="0" dirty="0">
                <a:latin typeface="Times-Roman"/>
              </a:rPr>
              <a:t>f;</a:t>
            </a:r>
          </a:p>
          <a:p>
            <a:r>
              <a:rPr lang="en-US" sz="2800" b="1" i="0" u="none" strike="noStrike" baseline="0" dirty="0">
                <a:latin typeface="Times-Bold"/>
              </a:rPr>
              <a:t>always </a:t>
            </a:r>
            <a:r>
              <a:rPr lang="en-US" sz="2800" b="0" i="0" u="none" strike="noStrike" baseline="0" dirty="0">
                <a:latin typeface="Times-Roman"/>
              </a:rPr>
              <a:t>@(w0 or w1 or s)</a:t>
            </a:r>
          </a:p>
          <a:p>
            <a:r>
              <a:rPr lang="en-US" sz="2800" b="1" i="0" u="none" strike="noStrike" baseline="0" dirty="0">
                <a:latin typeface="Times-Bold"/>
              </a:rPr>
              <a:t>if </a:t>
            </a:r>
            <a:r>
              <a:rPr lang="en-US" sz="2800" b="0" i="0" u="none" strike="noStrike" baseline="0" dirty="0">
                <a:latin typeface="Times-Roman"/>
              </a:rPr>
              <a:t>(s == 0)</a:t>
            </a:r>
          </a:p>
          <a:p>
            <a:r>
              <a:rPr lang="en-US" sz="2800" b="0" i="0" u="none" strike="noStrike" baseline="0" dirty="0">
                <a:latin typeface="Times-Roman"/>
              </a:rPr>
              <a:t>f = w0;</a:t>
            </a:r>
          </a:p>
          <a:p>
            <a:r>
              <a:rPr lang="en-US" sz="2800" b="1" i="0" u="none" strike="noStrike" baseline="0" dirty="0">
                <a:latin typeface="Times-Bold"/>
              </a:rPr>
              <a:t>else</a:t>
            </a:r>
          </a:p>
          <a:p>
            <a:r>
              <a:rPr lang="en-US" sz="2800" b="0" i="0" u="none" strike="noStrike" baseline="0" dirty="0">
                <a:latin typeface="Times-Roman"/>
              </a:rPr>
              <a:t>f = w1;</a:t>
            </a:r>
          </a:p>
          <a:p>
            <a:pPr algn="just"/>
            <a:r>
              <a:rPr lang="en-US" sz="2800" b="1" i="0" u="none" strike="noStrike" baseline="0" dirty="0" err="1">
                <a:latin typeface="Times-Bold"/>
              </a:rPr>
              <a:t>endmodule</a:t>
            </a:r>
            <a:endParaRPr lang="en-US" sz="2800" dirty="0"/>
          </a:p>
        </p:txBody>
      </p:sp>
    </p:spTree>
    <p:extLst>
      <p:ext uri="{BB962C8B-B14F-4D97-AF65-F5344CB8AC3E}">
        <p14:creationId xmlns:p14="http://schemas.microsoft.com/office/powerpoint/2010/main" val="3991451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29636" y="377294"/>
            <a:ext cx="6096000" cy="5632311"/>
          </a:xfrm>
          <a:prstGeom prst="rect">
            <a:avLst/>
          </a:prstGeom>
        </p:spPr>
        <p:txBody>
          <a:bodyPr>
            <a:spAutoFit/>
          </a:bodyPr>
          <a:lstStyle/>
          <a:p>
            <a:r>
              <a:rPr lang="pl-PL" sz="2400" b="1" i="0" u="none" strike="noStrike" baseline="0" dirty="0">
                <a:latin typeface="Times-Bold"/>
              </a:rPr>
              <a:t>module </a:t>
            </a:r>
            <a:r>
              <a:rPr lang="pl-PL" sz="2400" b="0" i="0" u="none" strike="noStrike" baseline="0" dirty="0">
                <a:latin typeface="Times-Roman"/>
              </a:rPr>
              <a:t>mux4to1 (w0, w1, w2, w3, S, f);</a:t>
            </a:r>
          </a:p>
          <a:p>
            <a:r>
              <a:rPr lang="pl-PL" sz="2400" b="1" i="0" u="none" strike="noStrike" baseline="0" dirty="0">
                <a:latin typeface="Times-Bold"/>
              </a:rPr>
              <a:t>input </a:t>
            </a:r>
            <a:r>
              <a:rPr lang="pl-PL" sz="2400" b="0" i="0" u="none" strike="noStrike" baseline="0" dirty="0">
                <a:latin typeface="Times-Roman"/>
              </a:rPr>
              <a:t>w0, w1, w2, w3;</a:t>
            </a:r>
          </a:p>
          <a:p>
            <a:r>
              <a:rPr lang="en-US" sz="2400" b="1" i="0" u="none" strike="noStrike" baseline="0" dirty="0">
                <a:latin typeface="Times-Bold"/>
              </a:rPr>
              <a:t>input </a:t>
            </a:r>
            <a:r>
              <a:rPr lang="en-US" sz="2400" b="0" i="0" u="none" strike="noStrike" baseline="0" dirty="0">
                <a:latin typeface="Times-Roman"/>
              </a:rPr>
              <a:t>[1:0] S;</a:t>
            </a:r>
          </a:p>
          <a:p>
            <a:r>
              <a:rPr lang="en-US" sz="2400" b="1" i="0" u="none" strike="noStrike" baseline="0" dirty="0">
                <a:latin typeface="Times-Bold"/>
              </a:rPr>
              <a:t>output </a:t>
            </a:r>
            <a:r>
              <a:rPr lang="en-US" sz="2400" b="0" i="0" u="none" strike="noStrike" baseline="0" dirty="0">
                <a:latin typeface="Times-Roman"/>
              </a:rPr>
              <a:t>f;</a:t>
            </a:r>
          </a:p>
          <a:p>
            <a:r>
              <a:rPr lang="en-US" sz="2400" b="1" i="0" u="none" strike="noStrike" baseline="0" dirty="0" err="1">
                <a:latin typeface="Times-Bold"/>
              </a:rPr>
              <a:t>reg</a:t>
            </a:r>
            <a:r>
              <a:rPr lang="en-US" sz="2400" b="1" i="0" u="none" strike="noStrike" baseline="0" dirty="0">
                <a:latin typeface="Times-Bold"/>
              </a:rPr>
              <a:t> </a:t>
            </a:r>
            <a:r>
              <a:rPr lang="en-US" sz="2400" b="0" i="0" u="none" strike="noStrike" baseline="0" dirty="0">
                <a:latin typeface="Times-Roman"/>
              </a:rPr>
              <a:t>f;</a:t>
            </a:r>
          </a:p>
          <a:p>
            <a:r>
              <a:rPr lang="en-US" sz="2400" b="1" i="0" u="none" strike="noStrike" baseline="0" dirty="0">
                <a:latin typeface="Times-Bold"/>
              </a:rPr>
              <a:t>always </a:t>
            </a:r>
            <a:r>
              <a:rPr lang="en-US" sz="2400" b="0" i="0" u="none" strike="noStrike" baseline="0" dirty="0">
                <a:latin typeface="Times-Roman"/>
              </a:rPr>
              <a:t>@(w0 or w1 or w2 or w3 or S)</a:t>
            </a:r>
          </a:p>
          <a:p>
            <a:r>
              <a:rPr lang="en-US" sz="2400" b="1" i="0" u="none" strike="noStrike" baseline="0" dirty="0">
                <a:latin typeface="Times-Bold"/>
              </a:rPr>
              <a:t>if </a:t>
            </a:r>
            <a:r>
              <a:rPr lang="en-US" sz="2400" b="0" i="0" u="none" strike="noStrike" baseline="0" dirty="0">
                <a:latin typeface="Times-Roman"/>
              </a:rPr>
              <a:t>(S == 2’b00)</a:t>
            </a:r>
          </a:p>
          <a:p>
            <a:r>
              <a:rPr lang="en-US" sz="2400" b="0" i="0" u="none" strike="noStrike" baseline="0" dirty="0">
                <a:latin typeface="Times-Roman"/>
              </a:rPr>
              <a:t>f = w0;</a:t>
            </a:r>
          </a:p>
          <a:p>
            <a:r>
              <a:rPr lang="en-US" sz="2400" b="1" i="0" u="none" strike="noStrike" baseline="0" dirty="0">
                <a:latin typeface="Times-Bold"/>
              </a:rPr>
              <a:t>else if </a:t>
            </a:r>
            <a:r>
              <a:rPr lang="en-US" sz="2400" b="0" i="0" u="none" strike="noStrike" baseline="0" dirty="0">
                <a:latin typeface="Times-Roman"/>
              </a:rPr>
              <a:t>(S == 2’b01)</a:t>
            </a:r>
          </a:p>
          <a:p>
            <a:r>
              <a:rPr lang="en-US" sz="2400" b="0" i="0" u="none" strike="noStrike" baseline="0" dirty="0">
                <a:latin typeface="Times-Roman"/>
              </a:rPr>
              <a:t>f = w1;</a:t>
            </a:r>
          </a:p>
          <a:p>
            <a:r>
              <a:rPr lang="en-US" sz="2400" b="1" i="0" u="none" strike="noStrike" baseline="0" dirty="0">
                <a:latin typeface="Times-Bold"/>
              </a:rPr>
              <a:t>else if </a:t>
            </a:r>
            <a:r>
              <a:rPr lang="en-US" sz="2400" b="0" i="0" u="none" strike="noStrike" baseline="0" dirty="0">
                <a:latin typeface="Times-Roman"/>
              </a:rPr>
              <a:t>(S == 2’b10)</a:t>
            </a:r>
          </a:p>
          <a:p>
            <a:r>
              <a:rPr lang="en-US" sz="2400" b="0" i="0" u="none" strike="noStrike" baseline="0" dirty="0">
                <a:latin typeface="Times-Roman"/>
              </a:rPr>
              <a:t>f = w2;</a:t>
            </a:r>
          </a:p>
          <a:p>
            <a:r>
              <a:rPr lang="en-US" sz="2400" b="1" i="0" u="none" strike="noStrike" baseline="0" dirty="0">
                <a:latin typeface="Times-Bold"/>
              </a:rPr>
              <a:t>else if </a:t>
            </a:r>
            <a:r>
              <a:rPr lang="en-US" sz="2400" b="0" i="0" u="none" strike="noStrike" baseline="0" dirty="0">
                <a:latin typeface="Times-Roman"/>
              </a:rPr>
              <a:t>(S == 2’b11)</a:t>
            </a:r>
          </a:p>
          <a:p>
            <a:r>
              <a:rPr lang="en-US" sz="2400" b="0" i="0" u="none" strike="noStrike" baseline="0" dirty="0">
                <a:latin typeface="Times-Roman"/>
              </a:rPr>
              <a:t>f = w3;</a:t>
            </a:r>
          </a:p>
          <a:p>
            <a:r>
              <a:rPr lang="en-US" sz="2400" b="1" i="0" u="none" strike="noStrike" baseline="0" dirty="0" err="1">
                <a:latin typeface="Times-Bold"/>
              </a:rPr>
              <a:t>endmodule</a:t>
            </a:r>
            <a:endParaRPr lang="en-US" sz="2400" dirty="0"/>
          </a:p>
        </p:txBody>
      </p:sp>
    </p:spTree>
    <p:extLst>
      <p:ext uri="{BB962C8B-B14F-4D97-AF65-F5344CB8AC3E}">
        <p14:creationId xmlns:p14="http://schemas.microsoft.com/office/powerpoint/2010/main" val="1477497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29635" y="295407"/>
            <a:ext cx="6096000" cy="5632311"/>
          </a:xfrm>
          <a:prstGeom prst="rect">
            <a:avLst/>
          </a:prstGeom>
        </p:spPr>
        <p:txBody>
          <a:bodyPr>
            <a:spAutoFit/>
          </a:bodyPr>
          <a:lstStyle/>
          <a:p>
            <a:r>
              <a:rPr lang="pl-PL" sz="2400" b="1" i="0" u="none" strike="noStrike" baseline="0" dirty="0">
                <a:latin typeface="Times-Bold"/>
              </a:rPr>
              <a:t>module </a:t>
            </a:r>
            <a:r>
              <a:rPr lang="pl-PL" sz="2400" b="0" i="0" u="none" strike="noStrike" baseline="0" dirty="0">
                <a:latin typeface="Times-Roman"/>
              </a:rPr>
              <a:t>mux4to1 (W, S, f);</a:t>
            </a:r>
          </a:p>
          <a:p>
            <a:r>
              <a:rPr lang="en-US" sz="2400" b="1" i="0" u="none" strike="noStrike" baseline="0" dirty="0">
                <a:latin typeface="Times-Bold"/>
              </a:rPr>
              <a:t>input </a:t>
            </a:r>
            <a:r>
              <a:rPr lang="en-US" sz="2400" b="0" i="0" u="none" strike="noStrike" baseline="0" dirty="0">
                <a:latin typeface="Times-Roman"/>
              </a:rPr>
              <a:t>[0:3] W;</a:t>
            </a:r>
          </a:p>
          <a:p>
            <a:r>
              <a:rPr lang="en-US" sz="2400" b="1" i="0" u="none" strike="noStrike" baseline="0" dirty="0">
                <a:latin typeface="Times-Bold"/>
              </a:rPr>
              <a:t>input </a:t>
            </a:r>
            <a:r>
              <a:rPr lang="en-US" sz="2400" b="0" i="0" u="none" strike="noStrike" baseline="0" dirty="0">
                <a:latin typeface="Times-Roman"/>
              </a:rPr>
              <a:t>[1:0] S;</a:t>
            </a:r>
          </a:p>
          <a:p>
            <a:r>
              <a:rPr lang="en-US" sz="2400" b="1" i="0" u="none" strike="noStrike" baseline="0" dirty="0">
                <a:latin typeface="Times-Bold"/>
              </a:rPr>
              <a:t>output </a:t>
            </a:r>
            <a:r>
              <a:rPr lang="en-US" sz="2400" b="0" i="0" u="none" strike="noStrike" baseline="0" dirty="0">
                <a:latin typeface="Times-Roman"/>
              </a:rPr>
              <a:t>f;</a:t>
            </a:r>
          </a:p>
          <a:p>
            <a:r>
              <a:rPr lang="en-US" sz="2400" b="1" i="0" u="none" strike="noStrike" baseline="0" dirty="0" err="1">
                <a:latin typeface="Times-Bold"/>
              </a:rPr>
              <a:t>reg</a:t>
            </a:r>
            <a:r>
              <a:rPr lang="en-US" sz="2400" b="1" i="0" u="none" strike="noStrike" baseline="0" dirty="0">
                <a:latin typeface="Times-Bold"/>
              </a:rPr>
              <a:t> </a:t>
            </a:r>
            <a:r>
              <a:rPr lang="en-US" sz="2400" b="0" i="0" u="none" strike="noStrike" baseline="0" dirty="0">
                <a:latin typeface="Times-Roman"/>
              </a:rPr>
              <a:t>f;</a:t>
            </a:r>
          </a:p>
          <a:p>
            <a:r>
              <a:rPr lang="en-US" sz="2400" b="1" i="0" u="none" strike="noStrike" baseline="0" dirty="0">
                <a:latin typeface="Times-Bold"/>
              </a:rPr>
              <a:t>always </a:t>
            </a:r>
            <a:r>
              <a:rPr lang="en-US" sz="2400" b="0" i="0" u="none" strike="noStrike" baseline="0" dirty="0">
                <a:latin typeface="Times-Roman"/>
              </a:rPr>
              <a:t>@(W or S)</a:t>
            </a:r>
          </a:p>
          <a:p>
            <a:r>
              <a:rPr lang="en-US" sz="2400" b="1" i="0" u="none" strike="noStrike" baseline="0" dirty="0">
                <a:latin typeface="Times-Bold"/>
              </a:rPr>
              <a:t>if </a:t>
            </a:r>
            <a:r>
              <a:rPr lang="en-US" sz="2400" b="0" i="0" u="none" strike="noStrike" baseline="0" dirty="0">
                <a:latin typeface="Times-Roman"/>
              </a:rPr>
              <a:t>(S == 0)</a:t>
            </a:r>
          </a:p>
          <a:p>
            <a:r>
              <a:rPr lang="en-US" sz="2400" b="0" i="0" u="none" strike="noStrike" baseline="0" dirty="0">
                <a:latin typeface="Times-Roman"/>
              </a:rPr>
              <a:t>f = W[0];</a:t>
            </a:r>
          </a:p>
          <a:p>
            <a:r>
              <a:rPr lang="en-US" sz="2400" b="1" i="0" u="none" strike="noStrike" baseline="0" dirty="0">
                <a:latin typeface="Times-Bold"/>
              </a:rPr>
              <a:t>else if </a:t>
            </a:r>
            <a:r>
              <a:rPr lang="en-US" sz="2400" b="0" i="0" u="none" strike="noStrike" baseline="0" dirty="0">
                <a:latin typeface="Times-Roman"/>
              </a:rPr>
              <a:t>(S == 1)</a:t>
            </a:r>
          </a:p>
          <a:p>
            <a:r>
              <a:rPr lang="en-US" sz="2400" b="0" i="0" u="none" strike="noStrike" baseline="0" dirty="0">
                <a:latin typeface="Times-Roman"/>
              </a:rPr>
              <a:t>f = W[1];</a:t>
            </a:r>
          </a:p>
          <a:p>
            <a:r>
              <a:rPr lang="en-US" sz="2400" b="1" i="0" u="none" strike="noStrike" baseline="0" dirty="0">
                <a:latin typeface="Times-Bold"/>
              </a:rPr>
              <a:t>else if </a:t>
            </a:r>
            <a:r>
              <a:rPr lang="en-US" sz="2400" b="0" i="0" u="none" strike="noStrike" baseline="0" dirty="0">
                <a:latin typeface="Times-Roman"/>
              </a:rPr>
              <a:t>(S == 2)</a:t>
            </a:r>
          </a:p>
          <a:p>
            <a:r>
              <a:rPr lang="en-US" sz="2400" b="0" i="0" u="none" strike="noStrike" baseline="0" dirty="0">
                <a:latin typeface="Times-Roman"/>
              </a:rPr>
              <a:t>f = W[2];</a:t>
            </a:r>
          </a:p>
          <a:p>
            <a:r>
              <a:rPr lang="en-US" sz="2400" b="1" i="0" u="none" strike="noStrike" baseline="0" dirty="0">
                <a:latin typeface="Times-Bold"/>
              </a:rPr>
              <a:t>else if </a:t>
            </a:r>
            <a:r>
              <a:rPr lang="en-US" sz="2400" b="0" i="0" u="none" strike="noStrike" baseline="0" dirty="0">
                <a:latin typeface="Times-Roman"/>
              </a:rPr>
              <a:t>(S == 3)</a:t>
            </a:r>
          </a:p>
          <a:p>
            <a:r>
              <a:rPr lang="en-US" sz="2400" b="0" i="0" u="none" strike="noStrike" baseline="0" dirty="0">
                <a:latin typeface="Times-Roman"/>
              </a:rPr>
              <a:t>f = W[3];</a:t>
            </a:r>
          </a:p>
          <a:p>
            <a:r>
              <a:rPr lang="en-US" sz="2400" b="1" i="0" u="none" strike="noStrike" baseline="0" dirty="0" err="1">
                <a:latin typeface="Times-Bold"/>
              </a:rPr>
              <a:t>endmodule</a:t>
            </a:r>
            <a:endParaRPr lang="en-US" sz="2400" dirty="0"/>
          </a:p>
        </p:txBody>
      </p:sp>
    </p:spTree>
    <p:extLst>
      <p:ext uri="{BB962C8B-B14F-4D97-AF65-F5344CB8AC3E}">
        <p14:creationId xmlns:p14="http://schemas.microsoft.com/office/powerpoint/2010/main" val="2849334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93159" y="657201"/>
            <a:ext cx="7870208" cy="4832092"/>
          </a:xfrm>
          <a:prstGeom prst="rect">
            <a:avLst/>
          </a:prstGeom>
        </p:spPr>
        <p:txBody>
          <a:bodyPr wrap="square">
            <a:spAutoFit/>
          </a:bodyPr>
          <a:lstStyle/>
          <a:p>
            <a:pPr algn="just"/>
            <a:r>
              <a:rPr lang="pl-PL" sz="2800" b="1" i="0" u="none" strike="noStrike" baseline="0" dirty="0">
                <a:latin typeface="Times-Bold"/>
              </a:rPr>
              <a:t>module </a:t>
            </a:r>
            <a:r>
              <a:rPr lang="pl-PL" sz="2800" b="0" i="0" u="none" strike="noStrike" baseline="0" dirty="0">
                <a:latin typeface="Times-Roman"/>
              </a:rPr>
              <a:t>mux16to1 (W, S16, f);</a:t>
            </a:r>
          </a:p>
          <a:p>
            <a:pPr algn="just"/>
            <a:r>
              <a:rPr lang="en-US" sz="2800" b="1" i="0" u="none" strike="noStrike" baseline="0" dirty="0">
                <a:latin typeface="Times-Bold"/>
              </a:rPr>
              <a:t>input </a:t>
            </a:r>
            <a:r>
              <a:rPr lang="en-US" sz="2800" b="0" i="0" u="none" strike="noStrike" baseline="0" dirty="0">
                <a:latin typeface="Times-Roman"/>
              </a:rPr>
              <a:t>[0:15] W;</a:t>
            </a:r>
          </a:p>
          <a:p>
            <a:pPr algn="just"/>
            <a:r>
              <a:rPr lang="en-US" sz="2800" b="1" i="0" u="none" strike="noStrike" baseline="0" dirty="0">
                <a:latin typeface="Times-Bold"/>
              </a:rPr>
              <a:t>input </a:t>
            </a:r>
            <a:r>
              <a:rPr lang="en-US" sz="2800" b="0" i="0" u="none" strike="noStrike" baseline="0" dirty="0">
                <a:latin typeface="Times-Roman"/>
              </a:rPr>
              <a:t>[3:0] S16;</a:t>
            </a:r>
          </a:p>
          <a:p>
            <a:pPr algn="just"/>
            <a:r>
              <a:rPr lang="en-US" sz="2800" b="1" i="0" u="none" strike="noStrike" baseline="0" dirty="0">
                <a:latin typeface="Times-Bold"/>
              </a:rPr>
              <a:t>output </a:t>
            </a:r>
            <a:r>
              <a:rPr lang="en-US" sz="2800" b="0" i="0" u="none" strike="noStrike" baseline="0" dirty="0">
                <a:latin typeface="Times-Roman"/>
              </a:rPr>
              <a:t>f;</a:t>
            </a:r>
          </a:p>
          <a:p>
            <a:pPr algn="just"/>
            <a:r>
              <a:rPr lang="en-US" sz="2800" b="1" i="0" u="none" strike="noStrike" baseline="0" dirty="0">
                <a:latin typeface="Times-Bold"/>
              </a:rPr>
              <a:t>wire </a:t>
            </a:r>
            <a:r>
              <a:rPr lang="en-US" sz="2800" b="0" i="0" u="none" strike="noStrike" baseline="0" dirty="0">
                <a:latin typeface="Times-Roman"/>
              </a:rPr>
              <a:t>[0:3] M;</a:t>
            </a:r>
          </a:p>
          <a:p>
            <a:pPr algn="just"/>
            <a:r>
              <a:rPr lang="pl-PL" sz="2800" b="0" i="0" u="none" strike="noStrike" baseline="0" dirty="0">
                <a:latin typeface="Times-Roman"/>
              </a:rPr>
              <a:t>mux4to1 Mux1 (W[0:3], S16[1:0], M[0]);</a:t>
            </a:r>
          </a:p>
          <a:p>
            <a:pPr algn="just"/>
            <a:r>
              <a:rPr lang="pl-PL" sz="2800" b="0" i="0" u="none" strike="noStrike" baseline="0" dirty="0">
                <a:latin typeface="Times-Roman"/>
              </a:rPr>
              <a:t>mux4to1 Mux2 (W[4:7], S16[1:0], M[1]);</a:t>
            </a:r>
          </a:p>
          <a:p>
            <a:pPr algn="just"/>
            <a:r>
              <a:rPr lang="pl-PL" sz="2800" b="0" i="0" u="none" strike="noStrike" baseline="0" dirty="0">
                <a:latin typeface="Times-Roman"/>
              </a:rPr>
              <a:t>mux4to1 Mux3 (W[8:11], S16[1:0], M[2]);</a:t>
            </a:r>
          </a:p>
          <a:p>
            <a:pPr algn="just"/>
            <a:r>
              <a:rPr lang="pl-PL" sz="2800" b="0" i="0" u="none" strike="noStrike" baseline="0" dirty="0">
                <a:latin typeface="Times-Roman"/>
              </a:rPr>
              <a:t>mux4to1 Mux4 (W[12:15], S16[1:0], M[3]);</a:t>
            </a:r>
          </a:p>
          <a:p>
            <a:pPr algn="just"/>
            <a:r>
              <a:rPr lang="en-US" sz="2800" b="0" i="0" u="none" strike="noStrike" baseline="0" dirty="0">
                <a:latin typeface="Times-Roman"/>
              </a:rPr>
              <a:t>mux4to1 Mux5 (M[0:3], S16[3:2], f);</a:t>
            </a:r>
          </a:p>
          <a:p>
            <a:pPr algn="just"/>
            <a:r>
              <a:rPr lang="en-US" sz="2800" b="1" i="0" u="none" strike="noStrike" baseline="0" dirty="0" err="1">
                <a:latin typeface="Times-Bold"/>
              </a:rPr>
              <a:t>endmodule</a:t>
            </a:r>
            <a:endParaRPr lang="en-US" sz="2800" dirty="0"/>
          </a:p>
        </p:txBody>
      </p:sp>
    </p:spTree>
    <p:extLst>
      <p:ext uri="{BB962C8B-B14F-4D97-AF65-F5344CB8AC3E}">
        <p14:creationId xmlns:p14="http://schemas.microsoft.com/office/powerpoint/2010/main" val="593320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86947" y="514782"/>
            <a:ext cx="3564822" cy="584775"/>
          </a:xfrm>
          <a:prstGeom prst="rect">
            <a:avLst/>
          </a:prstGeom>
        </p:spPr>
        <p:txBody>
          <a:bodyPr wrap="none">
            <a:spAutoFit/>
          </a:bodyPr>
          <a:lstStyle/>
          <a:p>
            <a:r>
              <a:rPr lang="en-US" sz="3200" b="1" dirty="0"/>
              <a:t>The Case Statement</a:t>
            </a:r>
          </a:p>
        </p:txBody>
      </p:sp>
      <p:sp>
        <p:nvSpPr>
          <p:cNvPr id="3" name="Rectangle 2"/>
          <p:cNvSpPr/>
          <p:nvPr/>
        </p:nvSpPr>
        <p:spPr>
          <a:xfrm>
            <a:off x="645993" y="1235587"/>
            <a:ext cx="4158019" cy="3970318"/>
          </a:xfrm>
          <a:prstGeom prst="rect">
            <a:avLst/>
          </a:prstGeom>
        </p:spPr>
        <p:txBody>
          <a:bodyPr wrap="square">
            <a:spAutoFit/>
          </a:bodyPr>
          <a:lstStyle/>
          <a:p>
            <a:pPr algn="just"/>
            <a:r>
              <a:rPr lang="en-US" sz="2800" b="1" i="0" u="none" strike="noStrike" baseline="0" dirty="0">
                <a:latin typeface="Times-Bold"/>
              </a:rPr>
              <a:t>case </a:t>
            </a:r>
            <a:r>
              <a:rPr lang="en-US" sz="2800" b="0" i="0" u="none" strike="noStrike" baseline="0" dirty="0">
                <a:latin typeface="Times-Roman"/>
              </a:rPr>
              <a:t>(expression)</a:t>
            </a:r>
          </a:p>
          <a:p>
            <a:pPr algn="just"/>
            <a:r>
              <a:rPr lang="en-US" sz="2800" b="0" i="0" u="none" strike="noStrike" baseline="0" dirty="0">
                <a:latin typeface="Times-Roman"/>
              </a:rPr>
              <a:t>alternative1: statement;</a:t>
            </a:r>
          </a:p>
          <a:p>
            <a:pPr algn="just"/>
            <a:r>
              <a:rPr lang="en-US" sz="2800" b="0" i="0" u="none" strike="noStrike" baseline="0" dirty="0">
                <a:latin typeface="Times-Roman"/>
              </a:rPr>
              <a:t>alternative2: statement;</a:t>
            </a:r>
          </a:p>
          <a:p>
            <a:pPr algn="just"/>
            <a:r>
              <a:rPr lang="en-US" sz="2800" b="0" i="0" u="none" strike="noStrike" baseline="0" dirty="0">
                <a:latin typeface="MTSYN"/>
              </a:rPr>
              <a:t>·</a:t>
            </a:r>
          </a:p>
          <a:p>
            <a:pPr algn="just"/>
            <a:r>
              <a:rPr lang="en-US" sz="2800" b="0" i="0" u="none" strike="noStrike" baseline="0" dirty="0">
                <a:latin typeface="MTSYN"/>
              </a:rPr>
              <a:t>·</a:t>
            </a:r>
          </a:p>
          <a:p>
            <a:pPr algn="just"/>
            <a:r>
              <a:rPr lang="en-US" sz="2800" b="0" i="0" u="none" strike="noStrike" baseline="0" dirty="0">
                <a:latin typeface="MTSYN"/>
              </a:rPr>
              <a:t>·</a:t>
            </a:r>
          </a:p>
          <a:p>
            <a:pPr algn="just"/>
            <a:r>
              <a:rPr lang="en-US" sz="2800" b="0" i="0" u="none" strike="noStrike" baseline="0" dirty="0" err="1">
                <a:latin typeface="Times-Roman"/>
              </a:rPr>
              <a:t>alternativej</a:t>
            </a:r>
            <a:r>
              <a:rPr lang="en-US" sz="2800" b="0" i="0" u="none" strike="noStrike" baseline="0" dirty="0">
                <a:latin typeface="Times-Roman"/>
              </a:rPr>
              <a:t>: statement;</a:t>
            </a:r>
          </a:p>
          <a:p>
            <a:pPr algn="just"/>
            <a:r>
              <a:rPr lang="en-US" sz="2800" b="0" i="0" u="none" strike="noStrike" baseline="0" dirty="0">
                <a:latin typeface="Times-Roman"/>
              </a:rPr>
              <a:t>[</a:t>
            </a:r>
            <a:r>
              <a:rPr lang="en-US" sz="2800" b="1" i="0" u="none" strike="noStrike" baseline="0" dirty="0">
                <a:latin typeface="Times-Bold"/>
              </a:rPr>
              <a:t>default</a:t>
            </a:r>
            <a:r>
              <a:rPr lang="en-US" sz="2800" b="0" i="0" u="none" strike="noStrike" baseline="0" dirty="0">
                <a:latin typeface="Times-Roman"/>
              </a:rPr>
              <a:t>: statement;]</a:t>
            </a:r>
          </a:p>
          <a:p>
            <a:pPr algn="just"/>
            <a:r>
              <a:rPr lang="en-US" sz="2800" b="1" i="0" u="none" strike="noStrike" baseline="0" dirty="0" err="1">
                <a:latin typeface="Times-Bold"/>
              </a:rPr>
              <a:t>endcase</a:t>
            </a:r>
            <a:endParaRPr lang="en-US" sz="2800" dirty="0"/>
          </a:p>
        </p:txBody>
      </p:sp>
      <p:sp>
        <p:nvSpPr>
          <p:cNvPr id="4" name="Rectangle 3"/>
          <p:cNvSpPr/>
          <p:nvPr/>
        </p:nvSpPr>
        <p:spPr>
          <a:xfrm>
            <a:off x="5094587" y="1235587"/>
            <a:ext cx="6096000" cy="4401205"/>
          </a:xfrm>
          <a:prstGeom prst="rect">
            <a:avLst/>
          </a:prstGeom>
        </p:spPr>
        <p:txBody>
          <a:bodyPr>
            <a:spAutoFit/>
          </a:bodyPr>
          <a:lstStyle/>
          <a:p>
            <a:pPr algn="just"/>
            <a:r>
              <a:rPr lang="en-US" sz="2800" b="0" i="0" u="none" strike="noStrike" baseline="0" dirty="0">
                <a:latin typeface="Times-Roman"/>
              </a:rPr>
              <a:t>The controlling expression and each alternative are compared bit by bit. When there is</a:t>
            </a:r>
            <a:r>
              <a:rPr lang="en-US" sz="2800" b="0" i="0" u="none" strike="noStrike" dirty="0">
                <a:latin typeface="Times-Roman"/>
              </a:rPr>
              <a:t> </a:t>
            </a:r>
            <a:r>
              <a:rPr lang="en-US" sz="2800" b="0" i="0" u="none" strike="noStrike" baseline="0" dirty="0">
                <a:latin typeface="Times-Roman"/>
              </a:rPr>
              <a:t>one or more matching alternative, the statement(s) associated with the first match (only)</a:t>
            </a:r>
          </a:p>
          <a:p>
            <a:pPr algn="just"/>
            <a:r>
              <a:rPr lang="en-US" sz="2800" b="0" i="0" u="none" strike="noStrike" baseline="0" dirty="0">
                <a:latin typeface="Times-Roman"/>
              </a:rPr>
              <a:t>is executed. When the specified alternatives do not cover all possible valuations of the</a:t>
            </a:r>
            <a:r>
              <a:rPr lang="en-US" sz="2800" b="0" i="0" u="none" strike="noStrike" dirty="0">
                <a:latin typeface="Times-Roman"/>
              </a:rPr>
              <a:t> </a:t>
            </a:r>
            <a:r>
              <a:rPr lang="en-US" sz="2800" b="0" i="0" u="none" strike="noStrike" baseline="0" dirty="0">
                <a:latin typeface="Times-Roman"/>
              </a:rPr>
              <a:t>controlling expression, the optional </a:t>
            </a:r>
            <a:r>
              <a:rPr lang="en-US" sz="2800" b="1" i="0" u="none" strike="noStrike" baseline="0" dirty="0">
                <a:latin typeface="Times-Bold"/>
              </a:rPr>
              <a:t>default </a:t>
            </a:r>
            <a:r>
              <a:rPr lang="en-US" sz="2800" b="0" i="0" u="none" strike="noStrike" baseline="0" dirty="0">
                <a:latin typeface="Times-Roman"/>
              </a:rPr>
              <a:t>clause should be included.</a:t>
            </a:r>
            <a:endParaRPr lang="en-US" sz="2800" dirty="0"/>
          </a:p>
        </p:txBody>
      </p:sp>
    </p:spTree>
    <p:extLst>
      <p:ext uri="{BB962C8B-B14F-4D97-AF65-F5344CB8AC3E}">
        <p14:creationId xmlns:p14="http://schemas.microsoft.com/office/powerpoint/2010/main" val="2957203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7314" y="326747"/>
            <a:ext cx="6096000" cy="5693866"/>
          </a:xfrm>
          <a:prstGeom prst="rect">
            <a:avLst/>
          </a:prstGeom>
        </p:spPr>
        <p:txBody>
          <a:bodyPr>
            <a:spAutoFit/>
          </a:bodyPr>
          <a:lstStyle/>
          <a:p>
            <a:r>
              <a:rPr lang="pl-PL" sz="2800" b="1" i="0" u="none" strike="noStrike" baseline="0" dirty="0">
                <a:latin typeface="Times-Bold"/>
              </a:rPr>
              <a:t>module </a:t>
            </a:r>
            <a:r>
              <a:rPr lang="pl-PL" sz="2800" b="0" i="0" u="none" strike="noStrike" baseline="0" dirty="0">
                <a:latin typeface="Times-Roman"/>
              </a:rPr>
              <a:t>mux4to1 (W, S, f);</a:t>
            </a:r>
          </a:p>
          <a:p>
            <a:r>
              <a:rPr lang="en-US" sz="2800" b="1" i="0" u="none" strike="noStrike" baseline="0" dirty="0">
                <a:latin typeface="Times-Bold"/>
              </a:rPr>
              <a:t>input </a:t>
            </a:r>
            <a:r>
              <a:rPr lang="en-US" sz="2800" b="0" i="0" u="none" strike="noStrike" baseline="0" dirty="0">
                <a:latin typeface="Times-Roman"/>
              </a:rPr>
              <a:t>[0:3] W;</a:t>
            </a:r>
          </a:p>
          <a:p>
            <a:r>
              <a:rPr lang="en-US" sz="2800" b="1" i="0" u="none" strike="noStrike" baseline="0" dirty="0">
                <a:latin typeface="Times-Bold"/>
              </a:rPr>
              <a:t>input </a:t>
            </a:r>
            <a:r>
              <a:rPr lang="en-US" sz="2800" b="0" i="0" u="none" strike="noStrike" baseline="0" dirty="0">
                <a:latin typeface="Times-Roman"/>
              </a:rPr>
              <a:t>[1:0] S;</a:t>
            </a:r>
          </a:p>
          <a:p>
            <a:r>
              <a:rPr lang="en-US" sz="2800" b="1" i="0" u="none" strike="noStrike" baseline="0" dirty="0">
                <a:latin typeface="Times-Bold"/>
              </a:rPr>
              <a:t>output </a:t>
            </a:r>
            <a:r>
              <a:rPr lang="en-US" sz="2800" b="0" i="0" u="none" strike="noStrike" baseline="0" dirty="0">
                <a:latin typeface="Times-Roman"/>
              </a:rPr>
              <a:t>f;</a:t>
            </a:r>
          </a:p>
          <a:p>
            <a:r>
              <a:rPr lang="en-US" sz="2800" b="1" i="0" u="none" strike="noStrike" baseline="0" dirty="0" err="1">
                <a:latin typeface="Times-Bold"/>
              </a:rPr>
              <a:t>reg</a:t>
            </a:r>
            <a:r>
              <a:rPr lang="en-US" sz="2800" b="1" i="0" u="none" strike="noStrike" baseline="0" dirty="0">
                <a:latin typeface="Times-Bold"/>
              </a:rPr>
              <a:t> </a:t>
            </a:r>
            <a:r>
              <a:rPr lang="en-US" sz="2800" b="0" i="0" u="none" strike="noStrike" baseline="0" dirty="0">
                <a:latin typeface="Times-Roman"/>
              </a:rPr>
              <a:t>f;</a:t>
            </a:r>
          </a:p>
          <a:p>
            <a:r>
              <a:rPr lang="en-US" sz="2800" b="1" i="0" u="none" strike="noStrike" baseline="0" dirty="0">
                <a:latin typeface="Times-Bold"/>
              </a:rPr>
              <a:t>always </a:t>
            </a:r>
            <a:r>
              <a:rPr lang="en-US" sz="2800" b="0" i="0" u="none" strike="noStrike" baseline="0" dirty="0">
                <a:latin typeface="Times-Roman"/>
              </a:rPr>
              <a:t>@(W or S)</a:t>
            </a:r>
          </a:p>
          <a:p>
            <a:r>
              <a:rPr lang="en-US" sz="2800" b="1" i="0" u="none" strike="noStrike" baseline="0" dirty="0">
                <a:latin typeface="Times-Bold"/>
              </a:rPr>
              <a:t>case </a:t>
            </a:r>
            <a:r>
              <a:rPr lang="en-US" sz="2800" b="0" i="0" u="none" strike="noStrike" baseline="0" dirty="0">
                <a:latin typeface="Times-Roman"/>
              </a:rPr>
              <a:t>(S)</a:t>
            </a:r>
          </a:p>
          <a:p>
            <a:r>
              <a:rPr lang="en-US" sz="2800" b="0" i="0" u="none" strike="noStrike" baseline="0" dirty="0">
                <a:latin typeface="Times-Roman"/>
              </a:rPr>
              <a:t>0: f = W[0];</a:t>
            </a:r>
          </a:p>
          <a:p>
            <a:r>
              <a:rPr lang="en-US" sz="2800" b="0" i="0" u="none" strike="noStrike" baseline="0" dirty="0">
                <a:latin typeface="Times-Roman"/>
              </a:rPr>
              <a:t>1: f = W[1];</a:t>
            </a:r>
          </a:p>
          <a:p>
            <a:r>
              <a:rPr lang="en-US" sz="2800" b="0" i="0" u="none" strike="noStrike" baseline="0" dirty="0">
                <a:latin typeface="Times-Roman"/>
              </a:rPr>
              <a:t>2: f = W[2];</a:t>
            </a:r>
          </a:p>
          <a:p>
            <a:r>
              <a:rPr lang="en-US" sz="2800" b="0" i="0" u="none" strike="noStrike" baseline="0" dirty="0">
                <a:latin typeface="Times-Roman"/>
              </a:rPr>
              <a:t>3: f = W[3];</a:t>
            </a:r>
          </a:p>
          <a:p>
            <a:r>
              <a:rPr lang="en-US" sz="2800" b="1" i="0" u="none" strike="noStrike" baseline="0" dirty="0" err="1">
                <a:latin typeface="Times-Bold"/>
              </a:rPr>
              <a:t>endcase</a:t>
            </a:r>
            <a:endParaRPr lang="en-US" sz="2800" b="1" i="0" u="none" strike="noStrike" baseline="0" dirty="0">
              <a:latin typeface="Times-Bold"/>
            </a:endParaRPr>
          </a:p>
          <a:p>
            <a:r>
              <a:rPr lang="en-US" sz="2800" b="1" i="0" u="none" strike="noStrike" baseline="0" dirty="0" err="1">
                <a:latin typeface="Times-Bold"/>
              </a:rPr>
              <a:t>endmodule</a:t>
            </a:r>
            <a:endParaRPr lang="en-US" sz="2800" dirty="0"/>
          </a:p>
        </p:txBody>
      </p:sp>
      <p:sp>
        <p:nvSpPr>
          <p:cNvPr id="3" name="Rectangle 2"/>
          <p:cNvSpPr/>
          <p:nvPr/>
        </p:nvSpPr>
        <p:spPr>
          <a:xfrm>
            <a:off x="5586482" y="1973351"/>
            <a:ext cx="6096000" cy="1815882"/>
          </a:xfrm>
          <a:prstGeom prst="rect">
            <a:avLst/>
          </a:prstGeom>
        </p:spPr>
        <p:txBody>
          <a:bodyPr>
            <a:spAutoFit/>
          </a:bodyPr>
          <a:lstStyle/>
          <a:p>
            <a:pPr algn="just"/>
            <a:r>
              <a:rPr lang="en-US" sz="2800" b="0" i="0" u="none" strike="noStrike" baseline="0" dirty="0">
                <a:latin typeface="Times-Roman"/>
              </a:rPr>
              <a:t>The</a:t>
            </a:r>
            <a:r>
              <a:rPr lang="en-US" sz="2800" b="0" i="0" u="none" strike="noStrike" dirty="0">
                <a:latin typeface="Times-Roman"/>
              </a:rPr>
              <a:t> </a:t>
            </a:r>
            <a:r>
              <a:rPr lang="en-US" sz="2800" b="0" i="0" u="none" strike="noStrike" baseline="0" dirty="0">
                <a:latin typeface="Times-Roman"/>
              </a:rPr>
              <a:t>four values that the select vector </a:t>
            </a:r>
            <a:r>
              <a:rPr lang="en-US" sz="2800" b="0" i="1" u="none" strike="noStrike" baseline="0" dirty="0">
                <a:latin typeface="Times-Italic"/>
              </a:rPr>
              <a:t>S </a:t>
            </a:r>
            <a:r>
              <a:rPr lang="en-US" sz="2800" b="0" i="0" u="none" strike="noStrike" baseline="0" dirty="0">
                <a:latin typeface="Times-Roman"/>
              </a:rPr>
              <a:t>can have are</a:t>
            </a:r>
            <a:r>
              <a:rPr lang="en-US" sz="2800" b="0" i="0" u="none" strike="noStrike" dirty="0">
                <a:latin typeface="Times-Roman"/>
              </a:rPr>
              <a:t> </a:t>
            </a:r>
            <a:r>
              <a:rPr lang="en-US" sz="2800" b="0" i="0" u="none" strike="noStrike" baseline="0" dirty="0">
                <a:latin typeface="Times-Roman"/>
              </a:rPr>
              <a:t>given as decimal numbers, but they could</a:t>
            </a:r>
            <a:r>
              <a:rPr lang="en-US" sz="2800" b="0" i="0" u="none" strike="noStrike" dirty="0">
                <a:latin typeface="Times-Roman"/>
              </a:rPr>
              <a:t> </a:t>
            </a:r>
            <a:r>
              <a:rPr lang="en-US" sz="2800" b="0" i="0" u="none" strike="noStrike" baseline="0" dirty="0">
                <a:latin typeface="Times-Roman"/>
              </a:rPr>
              <a:t>also be given as binary numbers.</a:t>
            </a:r>
            <a:endParaRPr lang="en-US" sz="2800" dirty="0"/>
          </a:p>
        </p:txBody>
      </p:sp>
    </p:spTree>
    <p:extLst>
      <p:ext uri="{BB962C8B-B14F-4D97-AF65-F5344CB8AC3E}">
        <p14:creationId xmlns:p14="http://schemas.microsoft.com/office/powerpoint/2010/main" val="1956372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125181" y="835619"/>
            <a:ext cx="5515276" cy="4694324"/>
          </a:xfrm>
          <a:prstGeom prst="rect">
            <a:avLst/>
          </a:prstGeom>
        </p:spPr>
      </p:pic>
      <p:pic>
        <p:nvPicPr>
          <p:cNvPr id="4" name="Picture 3"/>
          <p:cNvPicPr>
            <a:picLocks noChangeAspect="1"/>
          </p:cNvPicPr>
          <p:nvPr/>
        </p:nvPicPr>
        <p:blipFill>
          <a:blip r:embed="rId3"/>
          <a:stretch>
            <a:fillRect/>
          </a:stretch>
        </p:blipFill>
        <p:spPr>
          <a:xfrm>
            <a:off x="794884" y="835619"/>
            <a:ext cx="4295775" cy="5619750"/>
          </a:xfrm>
          <a:prstGeom prst="rect">
            <a:avLst/>
          </a:prstGeom>
        </p:spPr>
      </p:pic>
    </p:spTree>
    <p:extLst>
      <p:ext uri="{BB962C8B-B14F-4D97-AF65-F5344CB8AC3E}">
        <p14:creationId xmlns:p14="http://schemas.microsoft.com/office/powerpoint/2010/main" val="3050562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7258" y="393548"/>
            <a:ext cx="4296228" cy="6312051"/>
          </a:xfrm>
          <a:prstGeom prst="rect">
            <a:avLst/>
          </a:prstGeom>
        </p:spPr>
      </p:pic>
    </p:spTree>
    <p:extLst>
      <p:ext uri="{BB962C8B-B14F-4D97-AF65-F5344CB8AC3E}">
        <p14:creationId xmlns:p14="http://schemas.microsoft.com/office/powerpoint/2010/main" val="971983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68914" y="414514"/>
            <a:ext cx="5428343" cy="5841541"/>
          </a:xfrm>
          <a:prstGeom prst="rect">
            <a:avLst/>
          </a:prstGeom>
        </p:spPr>
      </p:pic>
    </p:spTree>
    <p:extLst>
      <p:ext uri="{BB962C8B-B14F-4D97-AF65-F5344CB8AC3E}">
        <p14:creationId xmlns:p14="http://schemas.microsoft.com/office/powerpoint/2010/main" val="373641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F29C4A-914A-EC03-F38A-1D6386B3566D}"/>
              </a:ext>
            </a:extLst>
          </p:cNvPr>
          <p:cNvPicPr>
            <a:picLocks noChangeAspect="1"/>
          </p:cNvPicPr>
          <p:nvPr/>
        </p:nvPicPr>
        <p:blipFill>
          <a:blip r:embed="rId2"/>
          <a:stretch>
            <a:fillRect/>
          </a:stretch>
        </p:blipFill>
        <p:spPr>
          <a:xfrm>
            <a:off x="904278" y="723518"/>
            <a:ext cx="10294664" cy="5175837"/>
          </a:xfrm>
          <a:prstGeom prst="rect">
            <a:avLst/>
          </a:prstGeom>
        </p:spPr>
      </p:pic>
    </p:spTree>
    <p:extLst>
      <p:ext uri="{BB962C8B-B14F-4D97-AF65-F5344CB8AC3E}">
        <p14:creationId xmlns:p14="http://schemas.microsoft.com/office/powerpoint/2010/main" val="1210137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0779" y="269122"/>
            <a:ext cx="5687967" cy="584775"/>
          </a:xfrm>
          <a:prstGeom prst="rect">
            <a:avLst/>
          </a:prstGeom>
        </p:spPr>
        <p:txBody>
          <a:bodyPr wrap="none">
            <a:spAutoFit/>
          </a:bodyPr>
          <a:lstStyle/>
          <a:p>
            <a:r>
              <a:rPr lang="en-US" sz="3200" b="1" dirty="0"/>
              <a:t>The </a:t>
            </a:r>
            <a:r>
              <a:rPr lang="en-US" sz="3200" b="1" dirty="0" err="1"/>
              <a:t>Casex</a:t>
            </a:r>
            <a:r>
              <a:rPr lang="en-US" sz="3200" b="1" dirty="0"/>
              <a:t> and </a:t>
            </a:r>
            <a:r>
              <a:rPr lang="en-US" sz="3200" b="1" dirty="0" err="1"/>
              <a:t>Casez</a:t>
            </a:r>
            <a:r>
              <a:rPr lang="en-US" sz="3200" b="1" dirty="0"/>
              <a:t> Statements</a:t>
            </a:r>
          </a:p>
        </p:txBody>
      </p:sp>
      <p:sp>
        <p:nvSpPr>
          <p:cNvPr id="3" name="Rectangle 2"/>
          <p:cNvSpPr/>
          <p:nvPr/>
        </p:nvSpPr>
        <p:spPr>
          <a:xfrm>
            <a:off x="1119116" y="2276861"/>
            <a:ext cx="9962865" cy="2246769"/>
          </a:xfrm>
          <a:prstGeom prst="rect">
            <a:avLst/>
          </a:prstGeom>
        </p:spPr>
        <p:txBody>
          <a:bodyPr wrap="square">
            <a:spAutoFit/>
          </a:bodyPr>
          <a:lstStyle/>
          <a:p>
            <a:pPr algn="just"/>
            <a:r>
              <a:rPr lang="en-US" sz="2800" b="0" i="0" u="none" strike="noStrike" baseline="0" dirty="0">
                <a:latin typeface="Times-Roman"/>
              </a:rPr>
              <a:t>Verilog provides two variants of the </a:t>
            </a:r>
            <a:r>
              <a:rPr lang="en-US" sz="2800" b="1" i="0" u="none" strike="noStrike" baseline="0" dirty="0">
                <a:latin typeface="Times-Bold"/>
              </a:rPr>
              <a:t>case </a:t>
            </a:r>
            <a:r>
              <a:rPr lang="en-US" sz="2800" b="0" i="0" u="none" strike="noStrike" baseline="0" dirty="0">
                <a:latin typeface="Times-Roman"/>
              </a:rPr>
              <a:t>statement that treat the </a:t>
            </a:r>
            <a:r>
              <a:rPr lang="en-US" sz="2800" b="0" i="1" u="none" strike="noStrike" baseline="0" dirty="0">
                <a:latin typeface="Times-Italic"/>
              </a:rPr>
              <a:t>z </a:t>
            </a:r>
            <a:r>
              <a:rPr lang="en-US" sz="2800" b="0" i="0" u="none" strike="noStrike" baseline="0" dirty="0">
                <a:latin typeface="Times-Roman"/>
              </a:rPr>
              <a:t>and </a:t>
            </a:r>
            <a:r>
              <a:rPr lang="en-US" sz="2800" b="0" i="1" u="none" strike="noStrike" baseline="0" dirty="0">
                <a:latin typeface="Times-Italic"/>
              </a:rPr>
              <a:t>x </a:t>
            </a:r>
            <a:r>
              <a:rPr lang="en-US" sz="2800" b="0" i="0" u="none" strike="noStrike" baseline="0" dirty="0">
                <a:latin typeface="Times-Roman"/>
              </a:rPr>
              <a:t>values in</a:t>
            </a:r>
            <a:r>
              <a:rPr lang="en-US" sz="2800" b="0" i="0" u="none" strike="noStrike" dirty="0">
                <a:latin typeface="Times-Roman"/>
              </a:rPr>
              <a:t> </a:t>
            </a:r>
            <a:r>
              <a:rPr lang="en-US" sz="2800" b="0" i="0" u="none" strike="noStrike" baseline="0" dirty="0">
                <a:latin typeface="Times-Roman"/>
              </a:rPr>
              <a:t>a different way. The </a:t>
            </a:r>
            <a:r>
              <a:rPr lang="en-US" sz="2800" b="1" i="0" u="none" strike="noStrike" baseline="0" dirty="0" err="1">
                <a:latin typeface="Times-Bold"/>
              </a:rPr>
              <a:t>casez</a:t>
            </a:r>
            <a:r>
              <a:rPr lang="en-US" sz="2800" b="1" i="0" u="none" strike="noStrike" baseline="0" dirty="0">
                <a:latin typeface="Times-Bold"/>
              </a:rPr>
              <a:t> </a:t>
            </a:r>
            <a:r>
              <a:rPr lang="en-US" sz="2800" b="0" i="0" u="none" strike="noStrike" baseline="0" dirty="0">
                <a:latin typeface="Times-Roman"/>
              </a:rPr>
              <a:t>statement treats all </a:t>
            </a:r>
            <a:r>
              <a:rPr lang="en-US" sz="2800" b="0" i="1" u="none" strike="noStrike" baseline="0" dirty="0">
                <a:latin typeface="Times-Italic"/>
              </a:rPr>
              <a:t>z </a:t>
            </a:r>
            <a:r>
              <a:rPr lang="en-US" sz="2800" b="0" i="0" u="none" strike="noStrike" baseline="0" dirty="0">
                <a:latin typeface="Times-Roman"/>
              </a:rPr>
              <a:t>values in the case alternatives and the</a:t>
            </a:r>
            <a:r>
              <a:rPr lang="en-US" sz="2800" b="0" i="0" u="none" strike="noStrike" dirty="0">
                <a:latin typeface="Times-Roman"/>
              </a:rPr>
              <a:t> </a:t>
            </a:r>
            <a:r>
              <a:rPr lang="en-US" sz="2800" b="0" i="0" u="none" strike="noStrike" baseline="0" dirty="0">
                <a:latin typeface="Times-Roman"/>
              </a:rPr>
              <a:t>controlling expression as don’t cares. The </a:t>
            </a:r>
            <a:r>
              <a:rPr lang="en-US" sz="2800" b="1" i="0" u="none" strike="noStrike" baseline="0" dirty="0" err="1">
                <a:latin typeface="Times-Bold"/>
              </a:rPr>
              <a:t>casex</a:t>
            </a:r>
            <a:r>
              <a:rPr lang="en-US" sz="2800" b="1" i="0" u="none" strike="noStrike" baseline="0" dirty="0">
                <a:latin typeface="Times-Bold"/>
              </a:rPr>
              <a:t> </a:t>
            </a:r>
            <a:r>
              <a:rPr lang="en-US" sz="2800" b="0" i="0" u="none" strike="noStrike" baseline="0" dirty="0">
                <a:latin typeface="Times-Roman"/>
              </a:rPr>
              <a:t>statement treats all </a:t>
            </a:r>
            <a:r>
              <a:rPr lang="en-US" sz="2800" b="0" i="1" u="none" strike="noStrike" baseline="0" dirty="0">
                <a:latin typeface="Times-Italic"/>
              </a:rPr>
              <a:t>z </a:t>
            </a:r>
            <a:r>
              <a:rPr lang="en-US" sz="2800" b="0" i="0" u="none" strike="noStrike" baseline="0" dirty="0">
                <a:latin typeface="Times-Roman"/>
              </a:rPr>
              <a:t>and </a:t>
            </a:r>
            <a:r>
              <a:rPr lang="en-US" sz="2800" b="0" i="1" u="none" strike="noStrike" baseline="0" dirty="0">
                <a:latin typeface="Times-Italic"/>
              </a:rPr>
              <a:t>x </a:t>
            </a:r>
            <a:r>
              <a:rPr lang="en-US" sz="2800" b="0" i="0" u="none" strike="noStrike" baseline="0" dirty="0">
                <a:latin typeface="Times-Roman"/>
              </a:rPr>
              <a:t>values as don’t</a:t>
            </a:r>
            <a:r>
              <a:rPr lang="en-US" sz="2800" b="0" i="0" u="none" strike="noStrike" dirty="0">
                <a:latin typeface="Times-Roman"/>
              </a:rPr>
              <a:t> </a:t>
            </a:r>
            <a:r>
              <a:rPr lang="en-US" sz="2800" b="0" i="0" u="none" strike="noStrike" baseline="0" dirty="0">
                <a:latin typeface="Times-Roman"/>
              </a:rPr>
              <a:t>cares.</a:t>
            </a:r>
            <a:endParaRPr lang="en-US" sz="2800" dirty="0"/>
          </a:p>
        </p:txBody>
      </p:sp>
    </p:spTree>
    <p:extLst>
      <p:ext uri="{BB962C8B-B14F-4D97-AF65-F5344CB8AC3E}">
        <p14:creationId xmlns:p14="http://schemas.microsoft.com/office/powerpoint/2010/main" val="1251573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DE9F7C-582C-F60D-731D-C151452C0EFA}"/>
              </a:ext>
            </a:extLst>
          </p:cNvPr>
          <p:cNvPicPr>
            <a:picLocks noChangeAspect="1"/>
          </p:cNvPicPr>
          <p:nvPr/>
        </p:nvPicPr>
        <p:blipFill>
          <a:blip r:embed="rId2"/>
          <a:stretch>
            <a:fillRect/>
          </a:stretch>
        </p:blipFill>
        <p:spPr>
          <a:xfrm>
            <a:off x="649192" y="577834"/>
            <a:ext cx="3829584" cy="5296639"/>
          </a:xfrm>
          <a:prstGeom prst="rect">
            <a:avLst/>
          </a:prstGeom>
        </p:spPr>
      </p:pic>
      <p:pic>
        <p:nvPicPr>
          <p:cNvPr id="5" name="Picture 4">
            <a:extLst>
              <a:ext uri="{FF2B5EF4-FFF2-40B4-BE49-F238E27FC236}">
                <a16:creationId xmlns:a16="http://schemas.microsoft.com/office/drawing/2014/main" id="{261EA6CD-C84F-C0AA-A804-A3AEC27673FC}"/>
              </a:ext>
            </a:extLst>
          </p:cNvPr>
          <p:cNvPicPr>
            <a:picLocks noChangeAspect="1"/>
          </p:cNvPicPr>
          <p:nvPr/>
        </p:nvPicPr>
        <p:blipFill>
          <a:blip r:embed="rId3"/>
          <a:stretch>
            <a:fillRect/>
          </a:stretch>
        </p:blipFill>
        <p:spPr>
          <a:xfrm>
            <a:off x="4204190" y="1237785"/>
            <a:ext cx="7841926" cy="4482791"/>
          </a:xfrm>
          <a:prstGeom prst="rect">
            <a:avLst/>
          </a:prstGeom>
        </p:spPr>
      </p:pic>
    </p:spTree>
    <p:extLst>
      <p:ext uri="{BB962C8B-B14F-4D97-AF65-F5344CB8AC3E}">
        <p14:creationId xmlns:p14="http://schemas.microsoft.com/office/powerpoint/2010/main" val="2846071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12926" y="119743"/>
            <a:ext cx="4397828" cy="6618514"/>
          </a:xfrm>
          <a:prstGeom prst="rect">
            <a:avLst/>
          </a:prstGeom>
        </p:spPr>
      </p:pic>
    </p:spTree>
    <p:extLst>
      <p:ext uri="{BB962C8B-B14F-4D97-AF65-F5344CB8AC3E}">
        <p14:creationId xmlns:p14="http://schemas.microsoft.com/office/powerpoint/2010/main" val="3273108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20571" y="319314"/>
            <a:ext cx="4905829" cy="6574535"/>
          </a:xfrm>
          <a:prstGeom prst="rect">
            <a:avLst/>
          </a:prstGeom>
        </p:spPr>
      </p:pic>
    </p:spTree>
    <p:extLst>
      <p:ext uri="{BB962C8B-B14F-4D97-AF65-F5344CB8AC3E}">
        <p14:creationId xmlns:p14="http://schemas.microsoft.com/office/powerpoint/2010/main" val="1401758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740229" y="58847"/>
            <a:ext cx="8694057" cy="6740307"/>
          </a:xfrm>
          <a:prstGeom prst="rect">
            <a:avLst/>
          </a:prstGeom>
        </p:spPr>
        <p:txBody>
          <a:bodyPr wrap="square">
            <a:spAutoFit/>
          </a:bodyPr>
          <a:lstStyle/>
          <a:p>
            <a:r>
              <a:rPr lang="en-US" dirty="0"/>
              <a:t>module mux16to1 (W, S16, f);</a:t>
            </a:r>
          </a:p>
          <a:p>
            <a:r>
              <a:rPr lang="en-US" dirty="0"/>
              <a:t>input [0:15] W;</a:t>
            </a:r>
          </a:p>
          <a:p>
            <a:r>
              <a:rPr lang="en-US" dirty="0"/>
              <a:t>input [3:0] S16;</a:t>
            </a:r>
          </a:p>
          <a:p>
            <a:r>
              <a:rPr lang="en-US" dirty="0"/>
              <a:t>output f;</a:t>
            </a:r>
          </a:p>
          <a:p>
            <a:r>
              <a:rPr lang="en-US" dirty="0" err="1"/>
              <a:t>reg</a:t>
            </a:r>
            <a:r>
              <a:rPr lang="en-US" dirty="0"/>
              <a:t> f;</a:t>
            </a:r>
          </a:p>
          <a:p>
            <a:r>
              <a:rPr lang="en-US" dirty="0"/>
              <a:t>// Function that specifies a 4-to-1 multiplexer</a:t>
            </a:r>
          </a:p>
          <a:p>
            <a:r>
              <a:rPr lang="en-US" dirty="0"/>
              <a:t>function mux4to1;</a:t>
            </a:r>
          </a:p>
          <a:p>
            <a:r>
              <a:rPr lang="en-US" dirty="0"/>
              <a:t>input [0:3] X;</a:t>
            </a:r>
          </a:p>
          <a:p>
            <a:r>
              <a:rPr lang="en-US" dirty="0"/>
              <a:t>input [1:0] S4;</a:t>
            </a:r>
          </a:p>
          <a:p>
            <a:r>
              <a:rPr lang="en-US" dirty="0"/>
              <a:t>case (S4)</a:t>
            </a:r>
          </a:p>
          <a:p>
            <a:r>
              <a:rPr lang="en-US" dirty="0"/>
              <a:t>0: mux4to1 = X[0];</a:t>
            </a:r>
          </a:p>
          <a:p>
            <a:r>
              <a:rPr lang="en-US" dirty="0"/>
              <a:t>1: mux4to1 = X[1];</a:t>
            </a:r>
          </a:p>
          <a:p>
            <a:r>
              <a:rPr lang="en-US" dirty="0"/>
              <a:t>2: mux4to1 = X[2];</a:t>
            </a:r>
          </a:p>
          <a:p>
            <a:r>
              <a:rPr lang="en-US" dirty="0"/>
              <a:t>3: mux4to1 = X[3];</a:t>
            </a:r>
          </a:p>
          <a:p>
            <a:r>
              <a:rPr lang="en-US" dirty="0" err="1"/>
              <a:t>endcase</a:t>
            </a:r>
            <a:endParaRPr lang="en-US" dirty="0"/>
          </a:p>
          <a:p>
            <a:r>
              <a:rPr lang="en-US" dirty="0" err="1"/>
              <a:t>endfunction</a:t>
            </a:r>
            <a:endParaRPr lang="en-US" dirty="0"/>
          </a:p>
          <a:p>
            <a:r>
              <a:rPr lang="en-US" dirty="0"/>
              <a:t>always @(W or S16)</a:t>
            </a:r>
          </a:p>
          <a:p>
            <a:r>
              <a:rPr lang="en-US" dirty="0"/>
              <a:t>case (S16[3:2])</a:t>
            </a:r>
          </a:p>
          <a:p>
            <a:r>
              <a:rPr lang="en-US" dirty="0"/>
              <a:t>0: f = mux4to1 (W[0:3], S16[1:0]);</a:t>
            </a:r>
          </a:p>
          <a:p>
            <a:r>
              <a:rPr lang="en-US" dirty="0"/>
              <a:t>1: f = mux4to1 (W[4:7], S16[1:0]);</a:t>
            </a:r>
          </a:p>
          <a:p>
            <a:r>
              <a:rPr lang="en-US" dirty="0"/>
              <a:t>2: f = mux4to1 (W[8:11], S16[1:0]);</a:t>
            </a:r>
          </a:p>
          <a:p>
            <a:r>
              <a:rPr lang="en-US" dirty="0"/>
              <a:t>3: f = mux4to1 (W[12:15], S16[1:0]);</a:t>
            </a:r>
          </a:p>
          <a:p>
            <a:r>
              <a:rPr lang="en-US" dirty="0" err="1"/>
              <a:t>endcase</a:t>
            </a:r>
            <a:endParaRPr lang="en-US" dirty="0"/>
          </a:p>
          <a:p>
            <a:r>
              <a:rPr lang="en-US" dirty="0" err="1"/>
              <a:t>endmodule</a:t>
            </a:r>
            <a:endParaRPr lang="en-US" dirty="0"/>
          </a:p>
        </p:txBody>
      </p:sp>
      <p:sp>
        <p:nvSpPr>
          <p:cNvPr id="3" name="TextBox 2"/>
          <p:cNvSpPr txBox="1"/>
          <p:nvPr/>
        </p:nvSpPr>
        <p:spPr>
          <a:xfrm>
            <a:off x="5725887" y="428178"/>
            <a:ext cx="6016171" cy="649408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Verilog functions can be used to modularize large designs and make the Verilog code easier to understand. </a:t>
            </a:r>
          </a:p>
          <a:p>
            <a:pPr marL="457200" indent="-457200" algn="just">
              <a:buFont typeface="Arial" panose="020B0604020202020204" pitchFamily="34" charset="0"/>
              <a:buChar char="•"/>
            </a:pPr>
            <a:r>
              <a:rPr lang="en-US" sz="3200" dirty="0"/>
              <a:t>A function is declared by the keyword </a:t>
            </a:r>
            <a:r>
              <a:rPr lang="en-US" sz="3200" b="1" dirty="0"/>
              <a:t>function </a:t>
            </a:r>
            <a:r>
              <a:rPr lang="en-US" sz="3200" dirty="0"/>
              <a:t>and it comprises a block of statements that ends with the keyword </a:t>
            </a:r>
            <a:r>
              <a:rPr lang="en-US" sz="3200" b="1" dirty="0" err="1"/>
              <a:t>endfunction</a:t>
            </a:r>
            <a:r>
              <a:rPr lang="en-US" sz="3200" dirty="0"/>
              <a:t>. </a:t>
            </a:r>
          </a:p>
          <a:p>
            <a:pPr marL="457200" indent="-457200" algn="just">
              <a:buFont typeface="Arial" panose="020B0604020202020204" pitchFamily="34" charset="0"/>
              <a:buChar char="•"/>
            </a:pPr>
            <a:r>
              <a:rPr lang="en-US" sz="3200" dirty="0"/>
              <a:t>The function must have at least one input and it returns a single value that is placed where the function is invoked.</a:t>
            </a:r>
          </a:p>
        </p:txBody>
      </p:sp>
    </p:spTree>
    <p:extLst>
      <p:ext uri="{BB962C8B-B14F-4D97-AF65-F5344CB8AC3E}">
        <p14:creationId xmlns:p14="http://schemas.microsoft.com/office/powerpoint/2010/main" val="546958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19162" y="405600"/>
            <a:ext cx="3171446" cy="584775"/>
          </a:xfrm>
          <a:prstGeom prst="rect">
            <a:avLst/>
          </a:prstGeom>
        </p:spPr>
        <p:txBody>
          <a:bodyPr wrap="none">
            <a:spAutoFit/>
          </a:bodyPr>
          <a:lstStyle/>
          <a:p>
            <a:r>
              <a:rPr lang="en-US" sz="3200" b="1" dirty="0"/>
              <a:t>Verilog Operators</a:t>
            </a:r>
          </a:p>
        </p:txBody>
      </p:sp>
      <p:sp>
        <p:nvSpPr>
          <p:cNvPr id="3" name="Rectangle 2"/>
          <p:cNvSpPr/>
          <p:nvPr/>
        </p:nvSpPr>
        <p:spPr>
          <a:xfrm>
            <a:off x="727881" y="1292199"/>
            <a:ext cx="10190328" cy="1938992"/>
          </a:xfrm>
          <a:prstGeom prst="rect">
            <a:avLst/>
          </a:prstGeom>
        </p:spPr>
        <p:txBody>
          <a:bodyPr wrap="square">
            <a:spAutoFit/>
          </a:bodyPr>
          <a:lstStyle/>
          <a:p>
            <a:pPr algn="just"/>
            <a:r>
              <a:rPr lang="en-US" sz="2400" b="1" i="0" u="none" strike="noStrike" baseline="0" dirty="0">
                <a:solidFill>
                  <a:schemeClr val="tx2"/>
                </a:solidFill>
                <a:latin typeface="Times-Bold"/>
              </a:rPr>
              <a:t>Bitwise Operators</a:t>
            </a:r>
          </a:p>
          <a:p>
            <a:pPr algn="just"/>
            <a:r>
              <a:rPr lang="en-US" sz="2400" b="0" i="0" u="none" strike="noStrike" baseline="0" dirty="0">
                <a:solidFill>
                  <a:srgbClr val="000000"/>
                </a:solidFill>
                <a:latin typeface="Times-Roman"/>
              </a:rPr>
              <a:t>Bitwise operators operate on individual bits of operands. The </a:t>
            </a:r>
            <a:r>
              <a:rPr lang="en-US" sz="2400" b="0" i="0" u="none" strike="noStrike" baseline="0" dirty="0">
                <a:solidFill>
                  <a:srgbClr val="000000"/>
                </a:solidFill>
                <a:latin typeface="MTSYN"/>
              </a:rPr>
              <a:t>∼ </a:t>
            </a:r>
            <a:r>
              <a:rPr lang="en-US" sz="2400" b="0" i="0" u="none" strike="noStrike" baseline="0" dirty="0">
                <a:solidFill>
                  <a:srgbClr val="000000"/>
                </a:solidFill>
                <a:latin typeface="Times-Roman"/>
              </a:rPr>
              <a:t>operator forms the 1’s</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complement of the operand such that the statement</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C = </a:t>
            </a:r>
            <a:r>
              <a:rPr lang="en-US" sz="2400" b="0" i="0" u="none" strike="noStrike" baseline="0" dirty="0">
                <a:solidFill>
                  <a:srgbClr val="000000"/>
                </a:solidFill>
                <a:latin typeface="MTSYN"/>
              </a:rPr>
              <a:t>∼</a:t>
            </a:r>
            <a:r>
              <a:rPr lang="en-US" sz="2400" b="0" i="0" u="none" strike="noStrike" baseline="0" dirty="0">
                <a:solidFill>
                  <a:srgbClr val="000000"/>
                </a:solidFill>
                <a:latin typeface="Times-Roman"/>
              </a:rPr>
              <a:t>A;</a:t>
            </a:r>
          </a:p>
          <a:p>
            <a:pPr algn="just"/>
            <a:r>
              <a:rPr lang="en-US" sz="2400" b="0" i="0" u="none" strike="noStrike" baseline="0" dirty="0">
                <a:solidFill>
                  <a:srgbClr val="000000"/>
                </a:solidFill>
                <a:latin typeface="Times-Roman"/>
              </a:rPr>
              <a:t>produces the result </a:t>
            </a:r>
            <a:r>
              <a:rPr lang="en-US" sz="2400" b="0" i="1" u="none" strike="noStrike" baseline="0" dirty="0">
                <a:solidFill>
                  <a:srgbClr val="000000"/>
                </a:solidFill>
                <a:latin typeface="Times-Italic"/>
              </a:rPr>
              <a:t>c</a:t>
            </a:r>
            <a:r>
              <a:rPr lang="en-US" sz="2400" b="0" i="0" u="none" strike="noStrike" baseline="0" dirty="0">
                <a:solidFill>
                  <a:srgbClr val="000000"/>
                </a:solidFill>
                <a:latin typeface="Times-Roman"/>
              </a:rPr>
              <a:t>2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2’, </a:t>
            </a:r>
            <a:r>
              <a:rPr lang="en-US" sz="2400" b="0" i="1" u="none" strike="noStrike" baseline="0" dirty="0">
                <a:solidFill>
                  <a:srgbClr val="000000"/>
                </a:solidFill>
                <a:latin typeface="Times-Italic"/>
              </a:rPr>
              <a:t>c</a:t>
            </a:r>
            <a:r>
              <a:rPr lang="en-US" sz="2400" b="0" i="0" u="none" strike="noStrike" baseline="0" dirty="0">
                <a:solidFill>
                  <a:srgbClr val="000000"/>
                </a:solidFill>
                <a:latin typeface="Times-Roman"/>
              </a:rPr>
              <a:t>1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1’, and </a:t>
            </a:r>
            <a:r>
              <a:rPr lang="en-US" sz="2400" b="0" i="1" u="none" strike="noStrike" baseline="0" dirty="0">
                <a:solidFill>
                  <a:srgbClr val="000000"/>
                </a:solidFill>
                <a:latin typeface="Times-Italic"/>
              </a:rPr>
              <a:t>c</a:t>
            </a:r>
            <a:r>
              <a:rPr lang="en-US" sz="2400" b="0" i="0" u="none" strike="noStrike" baseline="0" dirty="0">
                <a:solidFill>
                  <a:srgbClr val="000000"/>
                </a:solidFill>
                <a:latin typeface="Times-Roman"/>
              </a:rPr>
              <a:t>0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0’, where </a:t>
            </a:r>
            <a:r>
              <a:rPr lang="en-US" sz="2400" b="0" i="1" u="none" strike="noStrike" baseline="0" dirty="0" err="1">
                <a:solidFill>
                  <a:srgbClr val="000000"/>
                </a:solidFill>
                <a:latin typeface="Times-Italic"/>
              </a:rPr>
              <a:t>ai</a:t>
            </a:r>
            <a:r>
              <a:rPr lang="en-US" sz="2400" b="0" i="1" u="none" strike="noStrike" baseline="0" dirty="0">
                <a:solidFill>
                  <a:srgbClr val="000000"/>
                </a:solidFill>
                <a:latin typeface="Times-Italic"/>
              </a:rPr>
              <a:t> </a:t>
            </a:r>
            <a:r>
              <a:rPr lang="en-US" sz="2400" b="0" i="0" u="none" strike="noStrike" baseline="0" dirty="0">
                <a:solidFill>
                  <a:srgbClr val="000000"/>
                </a:solidFill>
                <a:latin typeface="Times-Roman"/>
              </a:rPr>
              <a:t>and </a:t>
            </a:r>
            <a:r>
              <a:rPr lang="en-US" sz="2400" b="0" i="1" u="none" strike="noStrike" baseline="0" dirty="0">
                <a:solidFill>
                  <a:srgbClr val="000000"/>
                </a:solidFill>
                <a:latin typeface="Times-Italic"/>
              </a:rPr>
              <a:t>ci </a:t>
            </a:r>
            <a:r>
              <a:rPr lang="en-US" sz="2400" b="0" i="0" u="none" strike="noStrike" baseline="0" dirty="0">
                <a:solidFill>
                  <a:srgbClr val="000000"/>
                </a:solidFill>
                <a:latin typeface="Times-Roman"/>
              </a:rPr>
              <a:t>are the bits of the vectors</a:t>
            </a:r>
            <a:r>
              <a:rPr lang="en-US" sz="2400" b="0" i="0" u="none" strike="noStrike" dirty="0">
                <a:solidFill>
                  <a:srgbClr val="000000"/>
                </a:solidFill>
                <a:latin typeface="Times-Roman"/>
              </a:rPr>
              <a:t> </a:t>
            </a:r>
            <a:r>
              <a:rPr lang="en-US" sz="2400" b="0" i="1" u="none" strike="noStrike" baseline="0" dirty="0">
                <a:solidFill>
                  <a:srgbClr val="000000"/>
                </a:solidFill>
                <a:latin typeface="Times-Italic"/>
              </a:rPr>
              <a:t>A </a:t>
            </a:r>
            <a:r>
              <a:rPr lang="en-US" sz="2400" b="0" i="0" u="none" strike="noStrike" baseline="0" dirty="0">
                <a:solidFill>
                  <a:srgbClr val="000000"/>
                </a:solidFill>
                <a:latin typeface="Times-Roman"/>
              </a:rPr>
              <a:t>and </a:t>
            </a:r>
            <a:r>
              <a:rPr lang="en-US" sz="2400" b="0" i="1" u="none" strike="noStrike" baseline="0" dirty="0">
                <a:solidFill>
                  <a:srgbClr val="000000"/>
                </a:solidFill>
                <a:latin typeface="Times-Italic"/>
              </a:rPr>
              <a:t>C</a:t>
            </a:r>
            <a:r>
              <a:rPr lang="en-US" sz="2400" b="0" i="0" u="none" strike="noStrike" baseline="0" dirty="0">
                <a:solidFill>
                  <a:srgbClr val="000000"/>
                </a:solidFill>
                <a:latin typeface="Times-Roman"/>
              </a:rPr>
              <a:t>.</a:t>
            </a:r>
            <a:endParaRPr lang="en-US" sz="2400" dirty="0"/>
          </a:p>
        </p:txBody>
      </p:sp>
      <p:sp>
        <p:nvSpPr>
          <p:cNvPr id="4" name="Rectangle 3"/>
          <p:cNvSpPr/>
          <p:nvPr/>
        </p:nvSpPr>
        <p:spPr>
          <a:xfrm>
            <a:off x="727881" y="3902347"/>
            <a:ext cx="10190328" cy="1200329"/>
          </a:xfrm>
          <a:prstGeom prst="rect">
            <a:avLst/>
          </a:prstGeom>
        </p:spPr>
        <p:txBody>
          <a:bodyPr wrap="square">
            <a:spAutoFit/>
          </a:bodyPr>
          <a:lstStyle/>
          <a:p>
            <a:r>
              <a:rPr lang="en-US" sz="2400" b="0" i="0" u="none" strike="noStrike" baseline="0" dirty="0">
                <a:latin typeface="Times-Roman"/>
              </a:rPr>
              <a:t>Other bitwise operators operate on pairs of bits. The statement</a:t>
            </a:r>
          </a:p>
          <a:p>
            <a:r>
              <a:rPr lang="en-US" sz="2400" b="0" i="0" u="none" strike="noStrike" baseline="0" dirty="0">
                <a:latin typeface="Times-Roman"/>
              </a:rPr>
              <a:t>C =A&amp; B;</a:t>
            </a:r>
          </a:p>
          <a:p>
            <a:r>
              <a:rPr lang="en-US" sz="2400" b="0" i="0" u="none" strike="noStrike" baseline="0" dirty="0">
                <a:latin typeface="Times-Roman"/>
              </a:rPr>
              <a:t>generates </a:t>
            </a:r>
            <a:r>
              <a:rPr lang="en-US" sz="2400" b="0" i="1" u="none" strike="noStrike" baseline="0" dirty="0">
                <a:latin typeface="Times-Italic"/>
              </a:rPr>
              <a:t>c</a:t>
            </a:r>
            <a:r>
              <a:rPr lang="en-US" sz="2400" b="0" i="0" u="none" strike="noStrike" baseline="0" dirty="0">
                <a:latin typeface="Times-Roman"/>
              </a:rPr>
              <a:t>2 </a:t>
            </a:r>
            <a:r>
              <a:rPr lang="en-US" sz="2400" b="0" i="0" u="none" strike="noStrike" baseline="0" dirty="0">
                <a:latin typeface="MTSYN"/>
              </a:rPr>
              <a:t>= </a:t>
            </a:r>
            <a:r>
              <a:rPr lang="en-US" sz="2400" b="0" i="1" u="none" strike="noStrike" baseline="0" dirty="0">
                <a:latin typeface="Times-Italic"/>
              </a:rPr>
              <a:t>a</a:t>
            </a:r>
            <a:r>
              <a:rPr lang="en-US" sz="2400" b="0" i="0" u="none" strike="noStrike" baseline="0" dirty="0">
                <a:latin typeface="Times-Roman"/>
              </a:rPr>
              <a:t>2&amp;</a:t>
            </a:r>
            <a:r>
              <a:rPr lang="en-US" sz="2400" b="0" i="1" u="none" strike="noStrike" baseline="0" dirty="0">
                <a:latin typeface="Times-Italic"/>
              </a:rPr>
              <a:t>b</a:t>
            </a:r>
            <a:r>
              <a:rPr lang="en-US" sz="2400" b="0" i="0" u="none" strike="noStrike" baseline="0" dirty="0">
                <a:latin typeface="Times-Roman"/>
              </a:rPr>
              <a:t>2, </a:t>
            </a:r>
            <a:r>
              <a:rPr lang="en-US" sz="2400" b="0" i="1" u="none" strike="noStrike" baseline="0" dirty="0">
                <a:latin typeface="Times-Italic"/>
              </a:rPr>
              <a:t>c</a:t>
            </a:r>
            <a:r>
              <a:rPr lang="en-US" sz="2400" b="0" i="0" u="none" strike="noStrike" baseline="0" dirty="0">
                <a:latin typeface="Times-Roman"/>
              </a:rPr>
              <a:t>1 </a:t>
            </a:r>
            <a:r>
              <a:rPr lang="en-US" sz="2400" b="0" i="0" u="none" strike="noStrike" baseline="0" dirty="0">
                <a:latin typeface="MTSYN"/>
              </a:rPr>
              <a:t>= </a:t>
            </a:r>
            <a:r>
              <a:rPr lang="en-US" sz="2400" b="0" i="1" u="none" strike="noStrike" baseline="0" dirty="0">
                <a:latin typeface="Times-Italic"/>
              </a:rPr>
              <a:t>a</a:t>
            </a:r>
            <a:r>
              <a:rPr lang="en-US" sz="2400" b="0" i="0" u="none" strike="noStrike" baseline="0" dirty="0">
                <a:latin typeface="Times-Roman"/>
              </a:rPr>
              <a:t>1&amp;</a:t>
            </a:r>
            <a:r>
              <a:rPr lang="en-US" sz="2400" b="0" i="1" u="none" strike="noStrike" baseline="0" dirty="0">
                <a:latin typeface="Times-Italic"/>
              </a:rPr>
              <a:t>b</a:t>
            </a:r>
            <a:r>
              <a:rPr lang="en-US" sz="2400" b="0" i="0" u="none" strike="noStrike" baseline="0" dirty="0">
                <a:latin typeface="Times-Roman"/>
              </a:rPr>
              <a:t>1, and </a:t>
            </a:r>
            <a:r>
              <a:rPr lang="en-US" sz="2400" b="0" i="1" u="none" strike="noStrike" baseline="0" dirty="0">
                <a:latin typeface="Times-Italic"/>
              </a:rPr>
              <a:t>c</a:t>
            </a:r>
            <a:r>
              <a:rPr lang="en-US" sz="2400" b="0" i="0" u="none" strike="noStrike" baseline="0" dirty="0">
                <a:latin typeface="Times-Roman"/>
              </a:rPr>
              <a:t>0 </a:t>
            </a:r>
            <a:r>
              <a:rPr lang="en-US" sz="2400" b="0" i="0" u="none" strike="noStrike" baseline="0" dirty="0">
                <a:latin typeface="MTSYN"/>
              </a:rPr>
              <a:t>= </a:t>
            </a:r>
            <a:r>
              <a:rPr lang="en-US" sz="2400" b="0" i="1" u="none" strike="noStrike" baseline="0" dirty="0">
                <a:latin typeface="Times-Italic"/>
              </a:rPr>
              <a:t>a</a:t>
            </a:r>
            <a:r>
              <a:rPr lang="en-US" sz="2400" b="0" i="0" u="none" strike="noStrike" baseline="0" dirty="0">
                <a:latin typeface="Times-Roman"/>
              </a:rPr>
              <a:t>0&amp;</a:t>
            </a:r>
            <a:r>
              <a:rPr lang="en-US" sz="2400" b="0" i="1" u="none" strike="noStrike" baseline="0" dirty="0">
                <a:latin typeface="Times-Italic"/>
              </a:rPr>
              <a:t>b</a:t>
            </a:r>
            <a:r>
              <a:rPr lang="en-US" sz="2400" b="0" i="0" u="none" strike="noStrike" baseline="0" dirty="0">
                <a:latin typeface="Times-Roman"/>
              </a:rPr>
              <a:t>0.</a:t>
            </a:r>
            <a:endParaRPr lang="en-US" sz="2400" dirty="0"/>
          </a:p>
        </p:txBody>
      </p:sp>
    </p:spTree>
    <p:extLst>
      <p:ext uri="{BB962C8B-B14F-4D97-AF65-F5344CB8AC3E}">
        <p14:creationId xmlns:p14="http://schemas.microsoft.com/office/powerpoint/2010/main" val="928062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7228" y="763475"/>
            <a:ext cx="9880979" cy="3416320"/>
          </a:xfrm>
          <a:prstGeom prst="rect">
            <a:avLst/>
          </a:prstGeom>
        </p:spPr>
        <p:txBody>
          <a:bodyPr wrap="square">
            <a:spAutoFit/>
          </a:bodyPr>
          <a:lstStyle/>
          <a:p>
            <a:pPr algn="just"/>
            <a:r>
              <a:rPr lang="en-US" sz="2400" b="0" i="0" u="none" strike="noStrike" baseline="0" dirty="0">
                <a:latin typeface="Times-Roman"/>
              </a:rPr>
              <a:t>A scalar function may be assigned a value as a result of a bitwise operation on two</a:t>
            </a:r>
            <a:r>
              <a:rPr lang="en-US" sz="2400" b="0" i="0" u="none" strike="noStrike" dirty="0">
                <a:latin typeface="Times-Roman"/>
              </a:rPr>
              <a:t> </a:t>
            </a:r>
            <a:r>
              <a:rPr lang="en-US" sz="2400" b="0" i="0" u="none" strike="noStrike" baseline="0" dirty="0">
                <a:latin typeface="Times-Roman"/>
              </a:rPr>
              <a:t>vector operands. In this case, it is only the least-significant bits of the operands that are</a:t>
            </a:r>
            <a:r>
              <a:rPr lang="en-US" sz="2400" b="0" i="0" u="none" strike="noStrike" dirty="0">
                <a:latin typeface="Times-Roman"/>
              </a:rPr>
              <a:t> </a:t>
            </a:r>
            <a:r>
              <a:rPr lang="en-US" sz="2400" b="0" i="0" u="none" strike="noStrike" baseline="0" dirty="0">
                <a:latin typeface="Times-Roman"/>
              </a:rPr>
              <a:t>involved in the operation. Hence the statement</a:t>
            </a:r>
            <a:r>
              <a:rPr lang="en-US" sz="2400" b="0" i="0" u="none" strike="noStrike" dirty="0">
                <a:latin typeface="Times-Roman"/>
              </a:rPr>
              <a:t>  </a:t>
            </a:r>
            <a:r>
              <a:rPr lang="en-US" sz="2400" b="0" i="0" u="none" strike="noStrike" baseline="0" dirty="0">
                <a:latin typeface="Times-Roman"/>
              </a:rPr>
              <a:t>f =A</a:t>
            </a:r>
            <a:r>
              <a:rPr lang="en-US" sz="2400" dirty="0">
                <a:latin typeface="MTSYN"/>
              </a:rPr>
              <a:t>^</a:t>
            </a:r>
            <a:r>
              <a:rPr lang="en-US" sz="2400" b="0" i="0" u="none" strike="noStrike" baseline="0" dirty="0">
                <a:latin typeface="Times-Roman"/>
              </a:rPr>
              <a:t>B;</a:t>
            </a:r>
            <a:r>
              <a:rPr lang="en-US" sz="2400" b="0" i="0" u="none" strike="noStrike" dirty="0">
                <a:latin typeface="Times-Roman"/>
              </a:rPr>
              <a:t>   </a:t>
            </a:r>
            <a:r>
              <a:rPr lang="en-US" sz="2400" b="0" i="0" u="none" strike="noStrike" baseline="0" dirty="0">
                <a:latin typeface="Times-Roman"/>
              </a:rPr>
              <a:t>yields </a:t>
            </a:r>
            <a:r>
              <a:rPr lang="en-US" sz="2400" b="0" i="1" u="none" strike="noStrike" baseline="0" dirty="0">
                <a:latin typeface="Times-Italic"/>
              </a:rPr>
              <a:t>f </a:t>
            </a:r>
            <a:r>
              <a:rPr lang="en-US" sz="2400" b="0" i="0" u="none" strike="noStrike" baseline="0" dirty="0">
                <a:latin typeface="MTSYN"/>
              </a:rPr>
              <a:t>= </a:t>
            </a:r>
            <a:r>
              <a:rPr lang="en-US" sz="2400" b="0" i="1" u="none" strike="noStrike" baseline="0" dirty="0">
                <a:latin typeface="Times-Italic"/>
              </a:rPr>
              <a:t>a</a:t>
            </a:r>
            <a:r>
              <a:rPr lang="en-US" sz="2400" b="0" i="0" u="none" strike="noStrike" baseline="0" dirty="0">
                <a:latin typeface="Times-Roman"/>
              </a:rPr>
              <a:t>0 </a:t>
            </a:r>
            <a:r>
              <a:rPr lang="en-US" sz="2400" b="0" i="0" u="none" strike="noStrike" baseline="0" dirty="0">
                <a:latin typeface="MTSYN"/>
              </a:rPr>
              <a:t>⊕ </a:t>
            </a:r>
            <a:r>
              <a:rPr lang="en-US" sz="2400" b="0" i="1" u="none" strike="noStrike" baseline="0" dirty="0">
                <a:latin typeface="Times-Italic"/>
              </a:rPr>
              <a:t>b</a:t>
            </a:r>
            <a:r>
              <a:rPr lang="en-US" sz="2400" b="0" i="0" u="none" strike="noStrike" baseline="0" dirty="0">
                <a:latin typeface="Times-Roman"/>
              </a:rPr>
              <a:t>0.</a:t>
            </a:r>
          </a:p>
          <a:p>
            <a:pPr algn="just"/>
            <a:endParaRPr lang="en-US" sz="2400" b="0" i="0" u="none" strike="noStrike" baseline="0" dirty="0">
              <a:latin typeface="Times-Roman"/>
            </a:endParaRPr>
          </a:p>
          <a:p>
            <a:pPr algn="just"/>
            <a:r>
              <a:rPr lang="en-US" sz="2400" b="0" i="0" u="none" strike="noStrike" baseline="0" dirty="0">
                <a:latin typeface="Times-Roman"/>
              </a:rPr>
              <a:t>The bitwise operations may involve operands that include the unknown logic value </a:t>
            </a:r>
            <a:r>
              <a:rPr lang="en-US" sz="2400" b="0" i="1" u="none" strike="noStrike" baseline="0" dirty="0">
                <a:latin typeface="Times-Italic"/>
              </a:rPr>
              <a:t>x</a:t>
            </a:r>
            <a:r>
              <a:rPr lang="en-US" sz="2400" b="0" i="0" u="none" strike="noStrike" baseline="0" dirty="0">
                <a:latin typeface="Times-Roman"/>
              </a:rPr>
              <a:t>.</a:t>
            </a:r>
          </a:p>
          <a:p>
            <a:pPr algn="just"/>
            <a:r>
              <a:rPr lang="en-US" sz="2400" b="0" i="0" u="none" strike="noStrike" baseline="0" dirty="0">
                <a:latin typeface="Times-Roman"/>
              </a:rPr>
              <a:t>if P = 4’b101x and Q = 4’b1001, then P&amp; Q = 4’b100x while P </a:t>
            </a:r>
            <a:r>
              <a:rPr lang="en-US" sz="2400" b="0" i="0" u="none" strike="noStrike" baseline="0" dirty="0">
                <a:latin typeface="MTSYN"/>
              </a:rPr>
              <a:t>| </a:t>
            </a:r>
            <a:r>
              <a:rPr lang="en-US" sz="2400" b="0" i="0" u="none" strike="noStrike" baseline="0" dirty="0">
                <a:latin typeface="Times-Roman"/>
              </a:rPr>
              <a:t>Q = 4’b1011.</a:t>
            </a:r>
            <a:endParaRPr lang="en-US" sz="2400" dirty="0"/>
          </a:p>
        </p:txBody>
      </p:sp>
      <p:pic>
        <p:nvPicPr>
          <p:cNvPr id="4" name="Picture 3"/>
          <p:cNvPicPr>
            <a:picLocks noChangeAspect="1"/>
          </p:cNvPicPr>
          <p:nvPr/>
        </p:nvPicPr>
        <p:blipFill>
          <a:blip r:embed="rId2"/>
          <a:stretch>
            <a:fillRect/>
          </a:stretch>
        </p:blipFill>
        <p:spPr>
          <a:xfrm>
            <a:off x="3519820" y="4179795"/>
            <a:ext cx="4915794" cy="2101494"/>
          </a:xfrm>
          <a:prstGeom prst="rect">
            <a:avLst/>
          </a:prstGeom>
        </p:spPr>
      </p:pic>
    </p:spTree>
    <p:extLst>
      <p:ext uri="{BB962C8B-B14F-4D97-AF65-F5344CB8AC3E}">
        <p14:creationId xmlns:p14="http://schemas.microsoft.com/office/powerpoint/2010/main" val="1638235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3539" y="1282091"/>
            <a:ext cx="9671714" cy="3785652"/>
          </a:xfrm>
          <a:prstGeom prst="rect">
            <a:avLst/>
          </a:prstGeom>
        </p:spPr>
        <p:txBody>
          <a:bodyPr wrap="square">
            <a:spAutoFit/>
          </a:bodyPr>
          <a:lstStyle/>
          <a:p>
            <a:r>
              <a:rPr lang="en-US" sz="2400" b="1" i="0" u="none" strike="noStrike" baseline="0" dirty="0">
                <a:solidFill>
                  <a:schemeClr val="tx2"/>
                </a:solidFill>
                <a:latin typeface="Times-Bold"/>
              </a:rPr>
              <a:t>Logical Operators</a:t>
            </a:r>
          </a:p>
          <a:p>
            <a:endParaRPr lang="en-US" sz="2400" b="1" i="0" u="none" strike="noStrike" baseline="0" dirty="0">
              <a:solidFill>
                <a:schemeClr val="tx2"/>
              </a:solidFill>
              <a:latin typeface="Times-Bold"/>
            </a:endParaRPr>
          </a:p>
          <a:p>
            <a:r>
              <a:rPr lang="en-US" sz="2400" b="0" i="0" u="none" strike="noStrike" baseline="0" dirty="0">
                <a:solidFill>
                  <a:srgbClr val="000000"/>
                </a:solidFill>
                <a:latin typeface="Times-Roman"/>
              </a:rPr>
              <a:t>The ! operator has the same effect on a scalar operand as the </a:t>
            </a:r>
            <a:r>
              <a:rPr lang="en-US" sz="2400" b="0" i="0" u="none" strike="noStrike" baseline="0" dirty="0">
                <a:solidFill>
                  <a:srgbClr val="000000"/>
                </a:solidFill>
                <a:latin typeface="MTSYN"/>
              </a:rPr>
              <a:t>∼ </a:t>
            </a:r>
            <a:r>
              <a:rPr lang="en-US" sz="2400" b="0" i="0" u="none" strike="noStrike" baseline="0" dirty="0">
                <a:solidFill>
                  <a:srgbClr val="000000"/>
                </a:solidFill>
                <a:latin typeface="Times-Roman"/>
              </a:rPr>
              <a:t>operator. Thus, f = !w</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 </a:t>
            </a:r>
            <a:r>
              <a:rPr lang="en-US" sz="2400" b="0" i="0" u="none" strike="noStrike" baseline="0" dirty="0">
                <a:solidFill>
                  <a:srgbClr val="000000"/>
                </a:solidFill>
                <a:latin typeface="MTSYN"/>
              </a:rPr>
              <a:t>∼</a:t>
            </a:r>
            <a:r>
              <a:rPr lang="en-US" sz="2400" b="0" i="0" u="none" strike="noStrike" baseline="0" dirty="0">
                <a:solidFill>
                  <a:srgbClr val="000000"/>
                </a:solidFill>
                <a:latin typeface="Times-Roman"/>
              </a:rPr>
              <a:t>w. </a:t>
            </a:r>
          </a:p>
          <a:p>
            <a:r>
              <a:rPr lang="en-US" sz="2400" b="0" i="0" u="none" strike="noStrike" baseline="0" dirty="0">
                <a:solidFill>
                  <a:srgbClr val="000000"/>
                </a:solidFill>
                <a:latin typeface="Times-Roman"/>
              </a:rPr>
              <a:t>But the effect on a vector operand is different, namely if</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f = !A;</a:t>
            </a:r>
          </a:p>
          <a:p>
            <a:r>
              <a:rPr lang="en-US" sz="2400" b="0" i="0" u="none" strike="noStrike" baseline="0" dirty="0">
                <a:solidFill>
                  <a:srgbClr val="000000"/>
                </a:solidFill>
                <a:latin typeface="Times-Roman"/>
              </a:rPr>
              <a:t>then </a:t>
            </a:r>
            <a:r>
              <a:rPr lang="en-US" sz="2400" b="0" i="1" u="none" strike="noStrike" baseline="0" dirty="0">
                <a:solidFill>
                  <a:srgbClr val="000000"/>
                </a:solidFill>
                <a:latin typeface="Times-Italic"/>
              </a:rPr>
              <a:t>f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2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1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0)’.</a:t>
            </a:r>
          </a:p>
          <a:p>
            <a:r>
              <a:rPr lang="en-US" sz="2400" b="0" i="0" u="none" strike="noStrike" baseline="0" dirty="0">
                <a:solidFill>
                  <a:srgbClr val="000000"/>
                </a:solidFill>
                <a:latin typeface="Times-Roman"/>
              </a:rPr>
              <a:t>The &amp;&amp; operator implements the AND operation such that</a:t>
            </a:r>
          </a:p>
          <a:p>
            <a:r>
              <a:rPr lang="en-US" sz="2400" b="0" i="0" u="none" strike="noStrike" baseline="0" dirty="0">
                <a:solidFill>
                  <a:srgbClr val="000000"/>
                </a:solidFill>
                <a:latin typeface="Times-Roman"/>
              </a:rPr>
              <a:t>f =A&amp;&amp; B;</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produces </a:t>
            </a:r>
            <a:r>
              <a:rPr lang="en-US" sz="2400" b="0" i="1" u="none" strike="noStrike" baseline="0" dirty="0">
                <a:solidFill>
                  <a:srgbClr val="000000"/>
                </a:solidFill>
                <a:latin typeface="Times-Italic"/>
              </a:rPr>
              <a:t>f </a:t>
            </a:r>
            <a:r>
              <a:rPr lang="en-US" sz="2400" b="0" i="0" u="none" strike="noStrike" baseline="0" dirty="0">
                <a:solidFill>
                  <a:srgbClr val="000000"/>
                </a:solidFill>
                <a:latin typeface="MTSYN"/>
              </a:rPr>
              <a:t>= </a:t>
            </a:r>
            <a:r>
              <a:rPr lang="en-US" sz="2400" b="0" i="1" u="none" strike="noStrike" baseline="0" dirty="0">
                <a:solidFill>
                  <a:srgbClr val="000000"/>
                </a:solidFill>
                <a:latin typeface="MTMI"/>
              </a:rPr>
              <a:t>(</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2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1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0</a:t>
            </a:r>
            <a:r>
              <a:rPr lang="en-US" sz="2400" b="0" i="1" u="none" strike="noStrike" baseline="0" dirty="0">
                <a:solidFill>
                  <a:srgbClr val="000000"/>
                </a:solidFill>
                <a:latin typeface="MTMI"/>
              </a:rPr>
              <a:t>)&amp;(</a:t>
            </a:r>
            <a:r>
              <a:rPr lang="en-US" sz="2400" b="0" i="1" u="none" strike="noStrike" baseline="0" dirty="0">
                <a:solidFill>
                  <a:srgbClr val="000000"/>
                </a:solidFill>
                <a:latin typeface="Times-Italic"/>
              </a:rPr>
              <a:t>b</a:t>
            </a:r>
            <a:r>
              <a:rPr lang="en-US" sz="2400" b="0" i="0" u="none" strike="noStrike" baseline="0" dirty="0">
                <a:solidFill>
                  <a:srgbClr val="000000"/>
                </a:solidFill>
                <a:latin typeface="Times-Roman"/>
              </a:rPr>
              <a:t>2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b</a:t>
            </a:r>
            <a:r>
              <a:rPr lang="en-US" sz="2400" b="0" i="0" u="none" strike="noStrike" baseline="0" dirty="0">
                <a:solidFill>
                  <a:srgbClr val="000000"/>
                </a:solidFill>
                <a:latin typeface="Times-Roman"/>
              </a:rPr>
              <a:t>1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b</a:t>
            </a:r>
            <a:r>
              <a:rPr lang="en-US" sz="2400" b="0" i="0" u="none" strike="noStrike" baseline="0" dirty="0">
                <a:solidFill>
                  <a:srgbClr val="000000"/>
                </a:solidFill>
                <a:latin typeface="Times-Roman"/>
              </a:rPr>
              <a:t>0</a:t>
            </a:r>
            <a:r>
              <a:rPr lang="en-US" sz="2400" b="0" i="1" u="none" strike="noStrike" baseline="0" dirty="0">
                <a:solidFill>
                  <a:srgbClr val="000000"/>
                </a:solidFill>
                <a:latin typeface="MTMI"/>
              </a:rPr>
              <a:t>)</a:t>
            </a:r>
            <a:r>
              <a:rPr lang="en-US" sz="2400" b="0" i="0" u="none" strike="noStrike" baseline="0" dirty="0">
                <a:solidFill>
                  <a:srgbClr val="000000"/>
                </a:solidFill>
                <a:latin typeface="Times-Roman"/>
              </a:rPr>
              <a:t>. Similarly, using the </a:t>
            </a:r>
            <a:r>
              <a:rPr lang="en-US" sz="2400" b="0" i="0" u="none" strike="noStrike" baseline="0" dirty="0">
                <a:solidFill>
                  <a:srgbClr val="000000"/>
                </a:solidFill>
                <a:latin typeface="MTSYN"/>
              </a:rPr>
              <a:t>|| </a:t>
            </a:r>
            <a:r>
              <a:rPr lang="en-US" sz="2400" b="0" i="0" u="none" strike="noStrike" baseline="0" dirty="0">
                <a:solidFill>
                  <a:srgbClr val="000000"/>
                </a:solidFill>
                <a:latin typeface="Times-Roman"/>
              </a:rPr>
              <a:t>operator in</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f =A</a:t>
            </a:r>
            <a:r>
              <a:rPr lang="en-US" sz="2400" b="0" i="0" u="none" strike="noStrike" baseline="0" dirty="0">
                <a:solidFill>
                  <a:srgbClr val="000000"/>
                </a:solidFill>
                <a:latin typeface="MTSYN"/>
              </a:rPr>
              <a:t>|| </a:t>
            </a:r>
            <a:r>
              <a:rPr lang="en-US" sz="2400" b="0" i="0" u="none" strike="noStrike" baseline="0" dirty="0">
                <a:solidFill>
                  <a:srgbClr val="000000"/>
                </a:solidFill>
                <a:latin typeface="Times-Roman"/>
              </a:rPr>
              <a:t>B;</a:t>
            </a:r>
          </a:p>
          <a:p>
            <a:r>
              <a:rPr lang="en-US" sz="2400" b="0" i="0" u="none" strike="noStrike" baseline="0" dirty="0">
                <a:solidFill>
                  <a:srgbClr val="000000"/>
                </a:solidFill>
                <a:latin typeface="Times-Roman"/>
              </a:rPr>
              <a:t>gives </a:t>
            </a:r>
            <a:r>
              <a:rPr lang="en-US" sz="2400" b="0" i="1" u="none" strike="noStrike" baseline="0" dirty="0">
                <a:solidFill>
                  <a:srgbClr val="000000"/>
                </a:solidFill>
                <a:latin typeface="Times-Italic"/>
              </a:rPr>
              <a:t>f </a:t>
            </a:r>
            <a:r>
              <a:rPr lang="en-US" sz="2400" b="0" i="0" u="none" strike="noStrike" baseline="0" dirty="0">
                <a:solidFill>
                  <a:srgbClr val="000000"/>
                </a:solidFill>
                <a:latin typeface="MTSYN"/>
              </a:rPr>
              <a:t>= </a:t>
            </a:r>
            <a:r>
              <a:rPr lang="en-US" sz="2400" b="0" i="1" u="none" strike="noStrike" baseline="0" dirty="0">
                <a:solidFill>
                  <a:srgbClr val="000000"/>
                </a:solidFill>
                <a:latin typeface="MTMI"/>
              </a:rPr>
              <a:t>(</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2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1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0</a:t>
            </a:r>
            <a:r>
              <a:rPr lang="en-US" sz="2400" b="0" i="1" u="none" strike="noStrike" baseline="0" dirty="0">
                <a:solidFill>
                  <a:srgbClr val="000000"/>
                </a:solidFill>
                <a:latin typeface="MTMI"/>
              </a:rPr>
              <a:t>) | (</a:t>
            </a:r>
            <a:r>
              <a:rPr lang="en-US" sz="2400" b="0" i="1" u="none" strike="noStrike" baseline="0" dirty="0">
                <a:solidFill>
                  <a:srgbClr val="000000"/>
                </a:solidFill>
                <a:latin typeface="Times-Italic"/>
              </a:rPr>
              <a:t>b</a:t>
            </a:r>
            <a:r>
              <a:rPr lang="en-US" sz="2400" b="0" i="0" u="none" strike="noStrike" baseline="0" dirty="0">
                <a:solidFill>
                  <a:srgbClr val="000000"/>
                </a:solidFill>
                <a:latin typeface="Times-Roman"/>
              </a:rPr>
              <a:t>2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b</a:t>
            </a:r>
            <a:r>
              <a:rPr lang="en-US" sz="2400" b="0" i="0" u="none" strike="noStrike" baseline="0" dirty="0">
                <a:solidFill>
                  <a:srgbClr val="000000"/>
                </a:solidFill>
                <a:latin typeface="Times-Roman"/>
              </a:rPr>
              <a:t>1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b</a:t>
            </a:r>
            <a:r>
              <a:rPr lang="en-US" sz="2400" b="0" i="0" u="none" strike="noStrike" baseline="0" dirty="0">
                <a:solidFill>
                  <a:srgbClr val="000000"/>
                </a:solidFill>
                <a:latin typeface="Times-Roman"/>
              </a:rPr>
              <a:t>0</a:t>
            </a:r>
            <a:r>
              <a:rPr lang="en-US" sz="2400" b="0" i="1" u="none" strike="noStrike" baseline="0" dirty="0">
                <a:solidFill>
                  <a:srgbClr val="000000"/>
                </a:solidFill>
                <a:latin typeface="MTMI"/>
              </a:rPr>
              <a:t>)</a:t>
            </a:r>
            <a:r>
              <a:rPr lang="en-US" sz="2400" b="0" i="0" u="none" strike="noStrike" baseline="0" dirty="0">
                <a:solidFill>
                  <a:srgbClr val="000000"/>
                </a:solidFill>
                <a:latin typeface="Times-Roman"/>
              </a:rPr>
              <a:t>.</a:t>
            </a:r>
            <a:endParaRPr lang="en-US" sz="2400" dirty="0"/>
          </a:p>
        </p:txBody>
      </p:sp>
    </p:spTree>
    <p:extLst>
      <p:ext uri="{BB962C8B-B14F-4D97-AF65-F5344CB8AC3E}">
        <p14:creationId xmlns:p14="http://schemas.microsoft.com/office/powerpoint/2010/main" val="743662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533F73-CB9E-DC3E-3565-8BB3241BBCE9}"/>
              </a:ext>
            </a:extLst>
          </p:cNvPr>
          <p:cNvPicPr>
            <a:picLocks noChangeAspect="1"/>
          </p:cNvPicPr>
          <p:nvPr/>
        </p:nvPicPr>
        <p:blipFill>
          <a:blip r:embed="rId2"/>
          <a:stretch>
            <a:fillRect/>
          </a:stretch>
        </p:blipFill>
        <p:spPr>
          <a:xfrm>
            <a:off x="1299493" y="1990524"/>
            <a:ext cx="9593014" cy="2876951"/>
          </a:xfrm>
          <a:prstGeom prst="rect">
            <a:avLst/>
          </a:prstGeom>
        </p:spPr>
      </p:pic>
    </p:spTree>
    <p:extLst>
      <p:ext uri="{BB962C8B-B14F-4D97-AF65-F5344CB8AC3E}">
        <p14:creationId xmlns:p14="http://schemas.microsoft.com/office/powerpoint/2010/main" val="2929949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5595" y="654293"/>
            <a:ext cx="9662614" cy="1938992"/>
          </a:xfrm>
          <a:prstGeom prst="rect">
            <a:avLst/>
          </a:prstGeom>
        </p:spPr>
        <p:txBody>
          <a:bodyPr wrap="square">
            <a:spAutoFit/>
          </a:bodyPr>
          <a:lstStyle/>
          <a:p>
            <a:pPr algn="just"/>
            <a:r>
              <a:rPr lang="en-US" sz="2400" b="1" i="0" u="none" strike="noStrike" baseline="0" dirty="0">
                <a:solidFill>
                  <a:schemeClr val="tx2"/>
                </a:solidFill>
                <a:latin typeface="Times-Bold"/>
              </a:rPr>
              <a:t>Reduction Operators</a:t>
            </a:r>
          </a:p>
          <a:p>
            <a:pPr algn="just"/>
            <a:endParaRPr lang="en-US" sz="2400" b="1" i="0" u="none" strike="noStrike" baseline="0" dirty="0">
              <a:solidFill>
                <a:schemeClr val="tx2"/>
              </a:solidFill>
              <a:latin typeface="Times-Bold"/>
            </a:endParaRPr>
          </a:p>
          <a:p>
            <a:pPr algn="just"/>
            <a:r>
              <a:rPr lang="en-US" sz="2400" b="0" i="0" u="none" strike="noStrike" baseline="0" dirty="0">
                <a:solidFill>
                  <a:srgbClr val="000000"/>
                </a:solidFill>
                <a:latin typeface="Times-Roman"/>
              </a:rPr>
              <a:t>The reduction operators perform an operation on the bits of a single vector operand</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and produce a one-bit result. Using the &amp; operator in</a:t>
            </a:r>
          </a:p>
          <a:p>
            <a:pPr algn="just"/>
            <a:r>
              <a:rPr lang="en-US" sz="2400" b="0" i="0" u="none" strike="noStrike" baseline="0" dirty="0">
                <a:solidFill>
                  <a:srgbClr val="000000"/>
                </a:solidFill>
                <a:latin typeface="Times-Roman"/>
              </a:rPr>
              <a:t>f = &amp;A;</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produces </a:t>
            </a:r>
            <a:r>
              <a:rPr lang="en-US" sz="2400" b="0" i="1" u="none" strike="noStrike" baseline="0" dirty="0">
                <a:solidFill>
                  <a:srgbClr val="000000"/>
                </a:solidFill>
                <a:latin typeface="Times-Italic"/>
              </a:rPr>
              <a:t>f </a:t>
            </a:r>
            <a:r>
              <a:rPr lang="en-US" sz="2400" b="0" i="0" u="none" strike="noStrike" baseline="0" dirty="0">
                <a:solidFill>
                  <a:srgbClr val="000000"/>
                </a:solidFill>
                <a:latin typeface="MTSYN"/>
              </a:rPr>
              <a:t>= </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2&amp;</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1&amp;</a:t>
            </a:r>
            <a:r>
              <a:rPr lang="en-US" sz="2400" b="0" i="1" u="none" strike="noStrike" baseline="0" dirty="0">
                <a:solidFill>
                  <a:srgbClr val="000000"/>
                </a:solidFill>
                <a:latin typeface="Times-Italic"/>
              </a:rPr>
              <a:t>a</a:t>
            </a:r>
            <a:r>
              <a:rPr lang="en-US" sz="2400" b="0" i="0" u="none" strike="noStrike" baseline="0" dirty="0">
                <a:solidFill>
                  <a:srgbClr val="000000"/>
                </a:solidFill>
                <a:latin typeface="Times-Roman"/>
              </a:rPr>
              <a:t>0.   </a:t>
            </a:r>
            <a:endParaRPr lang="en-US" sz="2400" dirty="0"/>
          </a:p>
        </p:txBody>
      </p:sp>
      <p:sp>
        <p:nvSpPr>
          <p:cNvPr id="3" name="Rectangle 2"/>
          <p:cNvSpPr/>
          <p:nvPr/>
        </p:nvSpPr>
        <p:spPr>
          <a:xfrm>
            <a:off x="1255595" y="2802552"/>
            <a:ext cx="9662614" cy="3416320"/>
          </a:xfrm>
          <a:prstGeom prst="rect">
            <a:avLst/>
          </a:prstGeom>
        </p:spPr>
        <p:txBody>
          <a:bodyPr wrap="square">
            <a:spAutoFit/>
          </a:bodyPr>
          <a:lstStyle/>
          <a:p>
            <a:pPr algn="just"/>
            <a:r>
              <a:rPr lang="en-US" sz="2400" b="1" i="0" u="none" strike="noStrike" baseline="0" dirty="0">
                <a:solidFill>
                  <a:schemeClr val="tx2"/>
                </a:solidFill>
                <a:latin typeface="Times-Bold"/>
              </a:rPr>
              <a:t>Arithmetic Operators</a:t>
            </a:r>
          </a:p>
          <a:p>
            <a:pPr algn="just"/>
            <a:endParaRPr lang="en-US" sz="2400" b="0" i="0" u="none" strike="noStrike" baseline="0" dirty="0">
              <a:solidFill>
                <a:srgbClr val="000000"/>
              </a:solidFill>
              <a:latin typeface="Times-Roman"/>
            </a:endParaRPr>
          </a:p>
          <a:p>
            <a:pPr algn="just"/>
            <a:r>
              <a:rPr lang="en-US" sz="2400" b="0" i="0" u="none" strike="noStrike" baseline="0" dirty="0">
                <a:solidFill>
                  <a:srgbClr val="000000"/>
                </a:solidFill>
                <a:latin typeface="Times-Roman"/>
              </a:rPr>
              <a:t>C =A+ B;</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puts the three-bit sum of </a:t>
            </a:r>
            <a:r>
              <a:rPr lang="en-US" sz="2400" b="0" i="1" u="none" strike="noStrike" baseline="0" dirty="0">
                <a:solidFill>
                  <a:srgbClr val="000000"/>
                </a:solidFill>
                <a:latin typeface="Times-Italic"/>
              </a:rPr>
              <a:t>A </a:t>
            </a:r>
            <a:r>
              <a:rPr lang="en-US" sz="2400" b="0" i="0" u="none" strike="noStrike" baseline="0" dirty="0">
                <a:solidFill>
                  <a:srgbClr val="000000"/>
                </a:solidFill>
                <a:latin typeface="Times-Roman"/>
              </a:rPr>
              <a:t>plus </a:t>
            </a:r>
            <a:r>
              <a:rPr lang="en-US" sz="2400" b="0" i="1" u="none" strike="noStrike" baseline="0" dirty="0">
                <a:solidFill>
                  <a:srgbClr val="000000"/>
                </a:solidFill>
                <a:latin typeface="Times-Italic"/>
              </a:rPr>
              <a:t>B </a:t>
            </a:r>
            <a:r>
              <a:rPr lang="en-US" sz="2400" b="0" i="0" u="none" strike="noStrike" baseline="0" dirty="0">
                <a:solidFill>
                  <a:srgbClr val="000000"/>
                </a:solidFill>
                <a:latin typeface="Times-Roman"/>
              </a:rPr>
              <a:t>into </a:t>
            </a:r>
            <a:r>
              <a:rPr lang="en-US" sz="2400" b="0" i="1" u="none" strike="noStrike" baseline="0" dirty="0">
                <a:solidFill>
                  <a:srgbClr val="000000"/>
                </a:solidFill>
                <a:latin typeface="Times-Italic"/>
              </a:rPr>
              <a:t>C</a:t>
            </a:r>
            <a:r>
              <a:rPr lang="en-US" sz="2400" dirty="0">
                <a:solidFill>
                  <a:srgbClr val="000000"/>
                </a:solidFill>
                <a:latin typeface="Times-Roman"/>
              </a:rPr>
              <a:t>.</a:t>
            </a:r>
          </a:p>
          <a:p>
            <a:pPr algn="just"/>
            <a:r>
              <a:rPr lang="en-US" sz="2400" b="0" i="0" u="none" strike="noStrike" baseline="0" dirty="0">
                <a:solidFill>
                  <a:srgbClr val="000000"/>
                </a:solidFill>
                <a:latin typeface="Times-Roman"/>
              </a:rPr>
              <a:t>The operation</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C = </a:t>
            </a:r>
            <a:r>
              <a:rPr lang="en-US" sz="2400" b="0" i="0" u="none" strike="noStrike" baseline="0" dirty="0">
                <a:solidFill>
                  <a:srgbClr val="000000"/>
                </a:solidFill>
                <a:latin typeface="MTSYN"/>
              </a:rPr>
              <a:t>−</a:t>
            </a:r>
            <a:r>
              <a:rPr lang="en-US" sz="2400" b="0" i="0" u="none" strike="noStrike" baseline="0" dirty="0">
                <a:solidFill>
                  <a:srgbClr val="000000"/>
                </a:solidFill>
                <a:latin typeface="Times-Roman"/>
              </a:rPr>
              <a:t>A;</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places the 2’s complement of </a:t>
            </a:r>
            <a:r>
              <a:rPr lang="en-US" sz="2400" b="0" i="1" u="none" strike="noStrike" baseline="0" dirty="0">
                <a:solidFill>
                  <a:srgbClr val="000000"/>
                </a:solidFill>
                <a:latin typeface="Times-Italic"/>
              </a:rPr>
              <a:t>A </a:t>
            </a:r>
            <a:r>
              <a:rPr lang="en-US" sz="2400" b="0" i="0" u="none" strike="noStrike" baseline="0" dirty="0">
                <a:solidFill>
                  <a:srgbClr val="000000"/>
                </a:solidFill>
                <a:latin typeface="Times-Roman"/>
              </a:rPr>
              <a:t>into </a:t>
            </a:r>
            <a:r>
              <a:rPr lang="en-US" sz="2400" b="0" i="1" u="none" strike="noStrike" baseline="0" dirty="0">
                <a:solidFill>
                  <a:srgbClr val="000000"/>
                </a:solidFill>
                <a:latin typeface="Times-Italic"/>
              </a:rPr>
              <a:t>C</a:t>
            </a:r>
            <a:r>
              <a:rPr lang="en-US" sz="2400" b="0" i="0" u="none" strike="noStrike" baseline="0" dirty="0">
                <a:solidFill>
                  <a:srgbClr val="000000"/>
                </a:solidFill>
                <a:latin typeface="Times-Roman"/>
              </a:rPr>
              <a:t>.</a:t>
            </a:r>
          </a:p>
          <a:p>
            <a:pPr algn="just"/>
            <a:r>
              <a:rPr lang="en-US" sz="2400" b="0" i="0" u="none" strike="noStrike" baseline="0" dirty="0">
                <a:solidFill>
                  <a:srgbClr val="000000"/>
                </a:solidFill>
                <a:latin typeface="Times-Roman"/>
              </a:rPr>
              <a:t>The addition, subtraction, and multiplication operations are supported by most CAD</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synthesis tools. However, the division operation is often not supported. When the Verilog</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compiler encounters an arithmetic operator, it usually synthesizes it by using an appropriate</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module from a library.</a:t>
            </a:r>
            <a:endParaRPr lang="en-US" sz="2400" dirty="0"/>
          </a:p>
        </p:txBody>
      </p:sp>
    </p:spTree>
    <p:extLst>
      <p:ext uri="{BB962C8B-B14F-4D97-AF65-F5344CB8AC3E}">
        <p14:creationId xmlns:p14="http://schemas.microsoft.com/office/powerpoint/2010/main" val="24111903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0018" y="494564"/>
            <a:ext cx="9617122" cy="3416320"/>
          </a:xfrm>
          <a:prstGeom prst="rect">
            <a:avLst/>
          </a:prstGeom>
        </p:spPr>
        <p:txBody>
          <a:bodyPr wrap="square">
            <a:spAutoFit/>
          </a:bodyPr>
          <a:lstStyle/>
          <a:p>
            <a:pPr algn="just"/>
            <a:r>
              <a:rPr lang="en-US" sz="2400" b="1" i="0" u="none" strike="noStrike" baseline="0" dirty="0">
                <a:solidFill>
                  <a:schemeClr val="tx2"/>
                </a:solidFill>
                <a:latin typeface="Times-Bold"/>
              </a:rPr>
              <a:t>Relational Operators</a:t>
            </a:r>
          </a:p>
          <a:p>
            <a:pPr algn="just"/>
            <a:endParaRPr lang="en-US" sz="2400" b="1" i="0" u="none" strike="noStrike" baseline="0" dirty="0">
              <a:solidFill>
                <a:schemeClr val="tx2"/>
              </a:solidFill>
              <a:latin typeface="Times-Bold"/>
            </a:endParaRPr>
          </a:p>
          <a:p>
            <a:pPr algn="just"/>
            <a:r>
              <a:rPr lang="en-US" sz="2400" b="0" i="0" u="none" strike="noStrike" baseline="0" dirty="0">
                <a:solidFill>
                  <a:srgbClr val="000000"/>
                </a:solidFill>
                <a:latin typeface="Times-Roman"/>
              </a:rPr>
              <a:t>The relational operators are typically used as conditions in </a:t>
            </a:r>
            <a:r>
              <a:rPr lang="en-US" sz="2400" b="1" i="0" u="none" strike="noStrike" baseline="0" dirty="0">
                <a:solidFill>
                  <a:srgbClr val="000000"/>
                </a:solidFill>
                <a:latin typeface="Times-Bold"/>
              </a:rPr>
              <a:t>if-else </a:t>
            </a:r>
            <a:r>
              <a:rPr lang="en-US" sz="2400" b="0" i="0" u="none" strike="noStrike" baseline="0" dirty="0">
                <a:solidFill>
                  <a:srgbClr val="000000"/>
                </a:solidFill>
                <a:latin typeface="Times-Roman"/>
              </a:rPr>
              <a:t>and </a:t>
            </a:r>
            <a:r>
              <a:rPr lang="en-US" sz="2400" b="1" i="0" u="none" strike="noStrike" baseline="0" dirty="0">
                <a:solidFill>
                  <a:srgbClr val="000000"/>
                </a:solidFill>
                <a:latin typeface="Times-Bold"/>
              </a:rPr>
              <a:t>for </a:t>
            </a:r>
            <a:r>
              <a:rPr lang="en-US" sz="2400" b="0" i="0" u="none" strike="noStrike" baseline="0" dirty="0">
                <a:solidFill>
                  <a:srgbClr val="000000"/>
                </a:solidFill>
                <a:latin typeface="Times-Roman"/>
              </a:rPr>
              <a:t>statements.</a:t>
            </a:r>
          </a:p>
          <a:p>
            <a:pPr algn="just"/>
            <a:r>
              <a:rPr lang="en-US" sz="2400" b="0" i="0" u="none" strike="noStrike" baseline="0" dirty="0">
                <a:solidFill>
                  <a:srgbClr val="000000"/>
                </a:solidFill>
                <a:latin typeface="Times-Roman"/>
              </a:rPr>
              <a:t>These operators function in the same way as the corresponding operators in the C programming</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language. An expression that uses the relational operators returns the value 1 if it is</a:t>
            </a:r>
            <a:r>
              <a:rPr lang="en-US" sz="2400" b="0" i="0" u="none" strike="noStrike" dirty="0">
                <a:solidFill>
                  <a:srgbClr val="000000"/>
                </a:solidFill>
                <a:latin typeface="Times-Roman"/>
              </a:rPr>
              <a:t> </a:t>
            </a:r>
            <a:r>
              <a:rPr lang="en-US" sz="2400" b="0" i="0" u="none" strike="noStrike" baseline="0" dirty="0">
                <a:solidFill>
                  <a:srgbClr val="000000"/>
                </a:solidFill>
                <a:latin typeface="Times-Roman"/>
              </a:rPr>
              <a:t>evaluated as true, and the value 0 if evaluated as false. </a:t>
            </a:r>
            <a:r>
              <a:rPr lang="en-US" sz="2400" b="0" i="0" u="none" strike="noStrike" baseline="0" dirty="0">
                <a:solidFill>
                  <a:srgbClr val="EE0000"/>
                </a:solidFill>
                <a:latin typeface="Times-Roman"/>
              </a:rPr>
              <a:t>If there are any </a:t>
            </a:r>
            <a:r>
              <a:rPr lang="en-US" sz="2400" b="0" i="1" u="none" strike="noStrike" baseline="0" dirty="0">
                <a:solidFill>
                  <a:srgbClr val="EE0000"/>
                </a:solidFill>
                <a:latin typeface="Times-Italic"/>
              </a:rPr>
              <a:t>x </a:t>
            </a:r>
            <a:r>
              <a:rPr lang="en-US" sz="2400" b="0" i="0" u="none" strike="noStrike" baseline="0" dirty="0">
                <a:solidFill>
                  <a:srgbClr val="EE0000"/>
                </a:solidFill>
                <a:latin typeface="Times-Roman"/>
              </a:rPr>
              <a:t>(unknown) or </a:t>
            </a:r>
            <a:r>
              <a:rPr lang="en-US" sz="2400" b="0" i="1" u="none" strike="noStrike" baseline="0" dirty="0">
                <a:solidFill>
                  <a:srgbClr val="EE0000"/>
                </a:solidFill>
                <a:latin typeface="Times-Italic"/>
              </a:rPr>
              <a:t>z</a:t>
            </a:r>
          </a:p>
          <a:p>
            <a:pPr algn="just"/>
            <a:r>
              <a:rPr lang="en-US" sz="2400" b="0" i="0" u="none" strike="noStrike" baseline="0" dirty="0">
                <a:solidFill>
                  <a:srgbClr val="EE0000"/>
                </a:solidFill>
                <a:latin typeface="Times-Roman"/>
              </a:rPr>
              <a:t>bits in the operands, then the expression takes the value </a:t>
            </a:r>
            <a:r>
              <a:rPr lang="en-US" sz="2400" b="0" i="1" u="none" strike="noStrike" baseline="0" dirty="0">
                <a:solidFill>
                  <a:srgbClr val="EE0000"/>
                </a:solidFill>
                <a:latin typeface="Times-Italic"/>
              </a:rPr>
              <a:t>x</a:t>
            </a:r>
            <a:r>
              <a:rPr lang="en-US" sz="2400" b="0" i="0" u="none" strike="noStrike" baseline="0" dirty="0">
                <a:solidFill>
                  <a:srgbClr val="000000"/>
                </a:solidFill>
                <a:latin typeface="Times-Roman"/>
              </a:rPr>
              <a:t>.</a:t>
            </a:r>
            <a:endParaRPr lang="en-US" sz="2400" dirty="0"/>
          </a:p>
        </p:txBody>
      </p:sp>
    </p:spTree>
    <p:extLst>
      <p:ext uri="{BB962C8B-B14F-4D97-AF65-F5344CB8AC3E}">
        <p14:creationId xmlns:p14="http://schemas.microsoft.com/office/powerpoint/2010/main" val="3692684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38818" y="478636"/>
            <a:ext cx="6096000" cy="6370975"/>
          </a:xfrm>
          <a:prstGeom prst="rect">
            <a:avLst/>
          </a:prstGeom>
        </p:spPr>
        <p:txBody>
          <a:bodyPr>
            <a:spAutoFit/>
          </a:bodyPr>
          <a:lstStyle/>
          <a:p>
            <a:pPr algn="just"/>
            <a:r>
              <a:rPr lang="en-US" sz="2400" b="1" i="0" u="none" strike="noStrike" baseline="0" dirty="0">
                <a:latin typeface="Times-Bold"/>
              </a:rPr>
              <a:t>module </a:t>
            </a:r>
            <a:r>
              <a:rPr lang="en-US" sz="2400" b="0" i="0" u="none" strike="noStrike" baseline="0" dirty="0">
                <a:latin typeface="Times-Roman"/>
              </a:rPr>
              <a:t>compare (A, B, </a:t>
            </a:r>
            <a:r>
              <a:rPr lang="en-US" sz="2400" b="0" i="0" u="none" strike="noStrike" baseline="0" dirty="0" err="1">
                <a:latin typeface="Times-Roman"/>
              </a:rPr>
              <a:t>AeqB</a:t>
            </a:r>
            <a:r>
              <a:rPr lang="en-US" sz="2400" b="0" i="0" u="none" strike="noStrike" baseline="0" dirty="0">
                <a:latin typeface="Times-Roman"/>
              </a:rPr>
              <a:t>, </a:t>
            </a:r>
            <a:r>
              <a:rPr lang="en-US" sz="2400" b="0" i="0" u="none" strike="noStrike" baseline="0" dirty="0" err="1">
                <a:latin typeface="Times-Roman"/>
              </a:rPr>
              <a:t>AgtB</a:t>
            </a:r>
            <a:r>
              <a:rPr lang="en-US" sz="2400" b="0" i="0" u="none" strike="noStrike" baseline="0" dirty="0">
                <a:latin typeface="Times-Roman"/>
              </a:rPr>
              <a:t>, </a:t>
            </a:r>
            <a:r>
              <a:rPr lang="en-US" sz="2400" b="0" i="0" u="none" strike="noStrike" baseline="0" dirty="0" err="1">
                <a:latin typeface="Times-Roman"/>
              </a:rPr>
              <a:t>AltB</a:t>
            </a:r>
            <a:r>
              <a:rPr lang="en-US" sz="2400" b="0" i="0" u="none" strike="noStrike" baseline="0" dirty="0">
                <a:latin typeface="Times-Roman"/>
              </a:rPr>
              <a:t>);</a:t>
            </a:r>
          </a:p>
          <a:p>
            <a:pPr algn="just"/>
            <a:r>
              <a:rPr lang="en-US" sz="2400" b="1" i="0" u="none" strike="noStrike" baseline="0" dirty="0">
                <a:latin typeface="Times-Bold"/>
              </a:rPr>
              <a:t>input </a:t>
            </a:r>
            <a:r>
              <a:rPr lang="en-US" sz="2400" b="0" i="0" u="none" strike="noStrike" baseline="0" dirty="0">
                <a:latin typeface="Times-Roman"/>
              </a:rPr>
              <a:t>[3:0] A, B;</a:t>
            </a:r>
          </a:p>
          <a:p>
            <a:pPr algn="just"/>
            <a:r>
              <a:rPr lang="en-US" sz="2400" b="1" i="0" u="none" strike="noStrike" baseline="0" dirty="0">
                <a:latin typeface="Times-Bold"/>
              </a:rPr>
              <a:t>output </a:t>
            </a:r>
            <a:r>
              <a:rPr lang="en-US" sz="2400" b="0" i="0" u="none" strike="noStrike" baseline="0" dirty="0" err="1">
                <a:latin typeface="Times-Roman"/>
              </a:rPr>
              <a:t>AeqB</a:t>
            </a:r>
            <a:r>
              <a:rPr lang="en-US" sz="2400" b="0" i="0" u="none" strike="noStrike" baseline="0" dirty="0">
                <a:latin typeface="Times-Roman"/>
              </a:rPr>
              <a:t>, </a:t>
            </a:r>
            <a:r>
              <a:rPr lang="en-US" sz="2400" b="0" i="0" u="none" strike="noStrike" baseline="0" dirty="0" err="1">
                <a:latin typeface="Times-Roman"/>
              </a:rPr>
              <a:t>AgtB</a:t>
            </a:r>
            <a:r>
              <a:rPr lang="en-US" sz="2400" b="0" i="0" u="none" strike="noStrike" baseline="0" dirty="0">
                <a:latin typeface="Times-Roman"/>
              </a:rPr>
              <a:t>, </a:t>
            </a:r>
            <a:r>
              <a:rPr lang="en-US" sz="2400" b="0" i="0" u="none" strike="noStrike" baseline="0" dirty="0" err="1">
                <a:latin typeface="Times-Roman"/>
              </a:rPr>
              <a:t>AltB</a:t>
            </a:r>
            <a:r>
              <a:rPr lang="en-US" sz="2400" b="0" i="0" u="none" strike="noStrike" baseline="0" dirty="0">
                <a:latin typeface="Times-Roman"/>
              </a:rPr>
              <a:t>;</a:t>
            </a:r>
          </a:p>
          <a:p>
            <a:pPr algn="just"/>
            <a:r>
              <a:rPr lang="en-US" sz="2400" b="1" i="0" u="none" strike="noStrike" baseline="0" dirty="0" err="1">
                <a:latin typeface="Times-Bold"/>
              </a:rPr>
              <a:t>reg</a:t>
            </a:r>
            <a:r>
              <a:rPr lang="en-US" sz="2400" b="1" i="0" u="none" strike="noStrike" baseline="0" dirty="0">
                <a:latin typeface="Times-Bold"/>
              </a:rPr>
              <a:t> </a:t>
            </a:r>
            <a:r>
              <a:rPr lang="en-US" sz="2400" b="0" i="0" u="none" strike="noStrike" baseline="0" dirty="0" err="1">
                <a:latin typeface="Times-Roman"/>
              </a:rPr>
              <a:t>AeqB</a:t>
            </a:r>
            <a:r>
              <a:rPr lang="en-US" sz="2400" b="0" i="0" u="none" strike="noStrike" baseline="0" dirty="0">
                <a:latin typeface="Times-Roman"/>
              </a:rPr>
              <a:t>, </a:t>
            </a:r>
            <a:r>
              <a:rPr lang="en-US" sz="2400" b="0" i="0" u="none" strike="noStrike" baseline="0" dirty="0" err="1">
                <a:latin typeface="Times-Roman"/>
              </a:rPr>
              <a:t>AgtB</a:t>
            </a:r>
            <a:r>
              <a:rPr lang="en-US" sz="2400" b="0" i="0" u="none" strike="noStrike" baseline="0" dirty="0">
                <a:latin typeface="Times-Roman"/>
              </a:rPr>
              <a:t>, </a:t>
            </a:r>
            <a:r>
              <a:rPr lang="en-US" sz="2400" b="0" i="0" u="none" strike="noStrike" baseline="0" dirty="0" err="1">
                <a:latin typeface="Times-Roman"/>
              </a:rPr>
              <a:t>AltB</a:t>
            </a:r>
            <a:r>
              <a:rPr lang="en-US" sz="2400" b="0" i="0" u="none" strike="noStrike" baseline="0" dirty="0">
                <a:latin typeface="Times-Roman"/>
              </a:rPr>
              <a:t>;</a:t>
            </a:r>
          </a:p>
          <a:p>
            <a:pPr algn="just"/>
            <a:r>
              <a:rPr lang="en-US" sz="2400" b="1" i="0" u="none" strike="noStrike" baseline="0" dirty="0">
                <a:latin typeface="Times-Bold"/>
              </a:rPr>
              <a:t>always </a:t>
            </a:r>
            <a:r>
              <a:rPr lang="en-US" sz="2400" b="0" i="0" u="none" strike="noStrike" baseline="0" dirty="0">
                <a:latin typeface="Times-Roman"/>
              </a:rPr>
              <a:t>@(A or B)</a:t>
            </a:r>
          </a:p>
          <a:p>
            <a:pPr algn="just"/>
            <a:r>
              <a:rPr lang="en-US" sz="2400" b="1" i="0" u="none" strike="noStrike" baseline="0" dirty="0">
                <a:latin typeface="Times-Bold"/>
              </a:rPr>
              <a:t>begin</a:t>
            </a:r>
          </a:p>
          <a:p>
            <a:pPr algn="just"/>
            <a:r>
              <a:rPr lang="en-US" sz="2400" b="0" i="0" u="none" strike="noStrike" baseline="0" dirty="0" err="1">
                <a:latin typeface="Times-Roman"/>
              </a:rPr>
              <a:t>AeqB</a:t>
            </a:r>
            <a:r>
              <a:rPr lang="en-US" sz="2400" b="0" i="0" u="none" strike="noStrike" baseline="0" dirty="0">
                <a:latin typeface="Times-Roman"/>
              </a:rPr>
              <a:t> = 0;</a:t>
            </a:r>
          </a:p>
          <a:p>
            <a:pPr algn="just"/>
            <a:r>
              <a:rPr lang="en-US" sz="2400" b="0" i="0" u="none" strike="noStrike" baseline="0" dirty="0" err="1">
                <a:latin typeface="Times-Roman"/>
              </a:rPr>
              <a:t>AgtB</a:t>
            </a:r>
            <a:r>
              <a:rPr lang="en-US" sz="2400" b="0" i="0" u="none" strike="noStrike" baseline="0" dirty="0">
                <a:latin typeface="Times-Roman"/>
              </a:rPr>
              <a:t> = 0;</a:t>
            </a:r>
          </a:p>
          <a:p>
            <a:pPr algn="just"/>
            <a:r>
              <a:rPr lang="en-US" sz="2400" b="0" i="0" u="none" strike="noStrike" baseline="0" dirty="0" err="1">
                <a:latin typeface="Times-Roman"/>
              </a:rPr>
              <a:t>AltB</a:t>
            </a:r>
            <a:r>
              <a:rPr lang="en-US" sz="2400" b="0" i="0" u="none" strike="noStrike" baseline="0" dirty="0">
                <a:latin typeface="Times-Roman"/>
              </a:rPr>
              <a:t> = 0;</a:t>
            </a:r>
          </a:p>
          <a:p>
            <a:pPr algn="just"/>
            <a:r>
              <a:rPr lang="en-US" sz="2400" b="1" i="0" u="none" strike="noStrike" baseline="0" dirty="0">
                <a:latin typeface="Times-Bold"/>
              </a:rPr>
              <a:t>if </a:t>
            </a:r>
            <a:r>
              <a:rPr lang="en-US" sz="2400" b="0" i="0" u="none" strike="noStrike" baseline="0" dirty="0">
                <a:latin typeface="Times-Roman"/>
              </a:rPr>
              <a:t>(A == B)</a:t>
            </a:r>
          </a:p>
          <a:p>
            <a:pPr algn="just"/>
            <a:r>
              <a:rPr lang="en-US" sz="2400" b="0" i="0" u="none" strike="noStrike" baseline="0" dirty="0" err="1">
                <a:latin typeface="Times-Roman"/>
              </a:rPr>
              <a:t>AeqB</a:t>
            </a:r>
            <a:r>
              <a:rPr lang="en-US" sz="2400" b="0" i="0" u="none" strike="noStrike" baseline="0" dirty="0">
                <a:latin typeface="Times-Roman"/>
              </a:rPr>
              <a:t> = 1;</a:t>
            </a:r>
          </a:p>
          <a:p>
            <a:pPr algn="just"/>
            <a:r>
              <a:rPr lang="en-US" sz="2400" b="1" i="0" u="none" strike="noStrike" baseline="0" dirty="0">
                <a:latin typeface="Times-Bold"/>
              </a:rPr>
              <a:t>else if </a:t>
            </a:r>
            <a:r>
              <a:rPr lang="en-US" sz="2400" b="0" i="0" u="none" strike="noStrike" baseline="0" dirty="0">
                <a:latin typeface="Times-Roman"/>
              </a:rPr>
              <a:t>(A </a:t>
            </a:r>
            <a:r>
              <a:rPr lang="en-US" sz="2400" b="0" i="1" u="none" strike="noStrike" baseline="0" dirty="0">
                <a:latin typeface="RMTMI"/>
              </a:rPr>
              <a:t>&gt; </a:t>
            </a:r>
            <a:r>
              <a:rPr lang="en-US" sz="2400" b="0" i="0" u="none" strike="noStrike" baseline="0" dirty="0">
                <a:latin typeface="Times-Roman"/>
              </a:rPr>
              <a:t>B)</a:t>
            </a:r>
          </a:p>
          <a:p>
            <a:pPr algn="just"/>
            <a:r>
              <a:rPr lang="en-US" sz="2400" b="0" i="0" u="none" strike="noStrike" baseline="0" dirty="0" err="1">
                <a:latin typeface="Times-Roman"/>
              </a:rPr>
              <a:t>AgtB</a:t>
            </a:r>
            <a:r>
              <a:rPr lang="en-US" sz="2400" b="0" i="0" u="none" strike="noStrike" baseline="0" dirty="0">
                <a:latin typeface="Times-Roman"/>
              </a:rPr>
              <a:t> = 1;</a:t>
            </a:r>
          </a:p>
          <a:p>
            <a:pPr algn="just"/>
            <a:r>
              <a:rPr lang="en-US" sz="2400" b="1" i="0" u="none" strike="noStrike" baseline="0" dirty="0">
                <a:latin typeface="Times-Bold"/>
              </a:rPr>
              <a:t>else</a:t>
            </a:r>
          </a:p>
          <a:p>
            <a:pPr algn="just"/>
            <a:r>
              <a:rPr lang="en-US" sz="2400" b="0" i="0" u="none" strike="noStrike" baseline="0" dirty="0" err="1">
                <a:latin typeface="Times-Roman"/>
              </a:rPr>
              <a:t>AltB</a:t>
            </a:r>
            <a:r>
              <a:rPr lang="en-US" sz="2400" b="0" i="0" u="none" strike="noStrike" baseline="0" dirty="0">
                <a:latin typeface="Times-Roman"/>
              </a:rPr>
              <a:t> = 1;</a:t>
            </a:r>
          </a:p>
          <a:p>
            <a:pPr algn="just"/>
            <a:r>
              <a:rPr lang="en-US" sz="2400" b="1" i="0" u="none" strike="noStrike" baseline="0" dirty="0">
                <a:latin typeface="Times-Bold"/>
              </a:rPr>
              <a:t>end</a:t>
            </a:r>
          </a:p>
          <a:p>
            <a:pPr algn="just"/>
            <a:r>
              <a:rPr lang="en-US" sz="2400" b="1" i="0" u="none" strike="noStrike" baseline="0" dirty="0" err="1">
                <a:latin typeface="Times-Bold"/>
              </a:rPr>
              <a:t>endmodule</a:t>
            </a:r>
            <a:endParaRPr lang="en-US" sz="2400" dirty="0"/>
          </a:p>
        </p:txBody>
      </p:sp>
    </p:spTree>
    <p:extLst>
      <p:ext uri="{BB962C8B-B14F-4D97-AF65-F5344CB8AC3E}">
        <p14:creationId xmlns:p14="http://schemas.microsoft.com/office/powerpoint/2010/main" val="1251699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7563" y="656315"/>
            <a:ext cx="9016621" cy="4893647"/>
          </a:xfrm>
          <a:prstGeom prst="rect">
            <a:avLst/>
          </a:prstGeom>
        </p:spPr>
        <p:txBody>
          <a:bodyPr wrap="square">
            <a:spAutoFit/>
          </a:bodyPr>
          <a:lstStyle/>
          <a:p>
            <a:pPr algn="just"/>
            <a:r>
              <a:rPr lang="en-US" sz="2400" b="1" i="0" u="none" strike="noStrike" baseline="0" dirty="0">
                <a:solidFill>
                  <a:schemeClr val="tx2"/>
                </a:solidFill>
                <a:latin typeface="Times-Bold"/>
              </a:rPr>
              <a:t>Equality Operators</a:t>
            </a:r>
          </a:p>
          <a:p>
            <a:pPr algn="just"/>
            <a:endParaRPr lang="en-US" sz="2400" b="1" i="0" u="none" strike="noStrike" baseline="0" dirty="0">
              <a:solidFill>
                <a:schemeClr val="tx2"/>
              </a:solidFill>
              <a:latin typeface="Times-Bold"/>
            </a:endParaRPr>
          </a:p>
          <a:p>
            <a:pPr algn="just"/>
            <a:r>
              <a:rPr lang="en-US" sz="2400" b="0" i="0" u="none" strike="noStrike" baseline="0" dirty="0">
                <a:solidFill>
                  <a:schemeClr val="tx2"/>
                </a:solidFill>
                <a:latin typeface="Times-Roman"/>
              </a:rPr>
              <a:t>The expression (A == B) is evaluated as true if </a:t>
            </a:r>
            <a:r>
              <a:rPr lang="en-US" sz="2400" b="0" i="1" u="none" strike="noStrike" baseline="0" dirty="0">
                <a:solidFill>
                  <a:schemeClr val="tx2"/>
                </a:solidFill>
                <a:latin typeface="Times-Italic"/>
              </a:rPr>
              <a:t>A </a:t>
            </a:r>
            <a:r>
              <a:rPr lang="en-US" sz="2400" b="0" i="0" u="none" strike="noStrike" baseline="0" dirty="0">
                <a:solidFill>
                  <a:schemeClr val="tx2"/>
                </a:solidFill>
                <a:latin typeface="Times-Roman"/>
              </a:rPr>
              <a:t>is equal to </a:t>
            </a:r>
            <a:r>
              <a:rPr lang="en-US" sz="2400" b="0" i="1" u="none" strike="noStrike" baseline="0" dirty="0">
                <a:solidFill>
                  <a:schemeClr val="tx2"/>
                </a:solidFill>
                <a:latin typeface="Times-Italic"/>
              </a:rPr>
              <a:t>B </a:t>
            </a:r>
            <a:r>
              <a:rPr lang="en-US" sz="2400" b="0" i="0" u="none" strike="noStrike" baseline="0" dirty="0">
                <a:solidFill>
                  <a:schemeClr val="tx2"/>
                </a:solidFill>
                <a:latin typeface="Times-Roman"/>
              </a:rPr>
              <a:t>and false otherwise. </a:t>
            </a:r>
          </a:p>
          <a:p>
            <a:pPr algn="just"/>
            <a:r>
              <a:rPr lang="en-US" sz="2400" b="0" i="0" u="none" strike="noStrike" baseline="0" dirty="0">
                <a:solidFill>
                  <a:schemeClr val="tx2"/>
                </a:solidFill>
                <a:latin typeface="Times-Roman"/>
              </a:rPr>
              <a:t>The</a:t>
            </a:r>
            <a:r>
              <a:rPr lang="en-US" sz="2400" dirty="0">
                <a:solidFill>
                  <a:schemeClr val="tx2"/>
                </a:solidFill>
                <a:latin typeface="Times-Roman"/>
              </a:rPr>
              <a:t> </a:t>
            </a:r>
            <a:r>
              <a:rPr lang="en-US" sz="2400" b="0" i="0" u="none" strike="noStrike" baseline="0" dirty="0">
                <a:solidFill>
                  <a:schemeClr val="tx2"/>
                </a:solidFill>
                <a:latin typeface="Times-Roman"/>
              </a:rPr>
              <a:t>!= operator has the opposite effect. The result is ambiguous (</a:t>
            </a:r>
            <a:r>
              <a:rPr lang="en-US" sz="2400" b="0" i="1" u="none" strike="noStrike" baseline="0" dirty="0">
                <a:solidFill>
                  <a:schemeClr val="tx2"/>
                </a:solidFill>
                <a:latin typeface="Times-Italic"/>
              </a:rPr>
              <a:t>x</a:t>
            </a:r>
            <a:r>
              <a:rPr lang="en-US" sz="2400" b="0" i="0" u="none" strike="noStrike" baseline="0" dirty="0">
                <a:solidFill>
                  <a:schemeClr val="tx2"/>
                </a:solidFill>
                <a:latin typeface="Times-Roman"/>
              </a:rPr>
              <a:t>) if either operand contains</a:t>
            </a:r>
            <a:r>
              <a:rPr lang="en-US" sz="2400" b="0" i="0" u="none" strike="noStrike" dirty="0">
                <a:solidFill>
                  <a:schemeClr val="tx2"/>
                </a:solidFill>
                <a:latin typeface="Times-Roman"/>
              </a:rPr>
              <a:t> </a:t>
            </a:r>
            <a:r>
              <a:rPr lang="en-US" sz="2400" b="0" i="1" u="none" strike="noStrike" baseline="0" dirty="0">
                <a:solidFill>
                  <a:schemeClr val="tx2"/>
                </a:solidFill>
                <a:latin typeface="Times-Italic"/>
              </a:rPr>
              <a:t>x </a:t>
            </a:r>
            <a:r>
              <a:rPr lang="en-US" sz="2400" b="0" i="0" u="none" strike="noStrike" baseline="0" dirty="0">
                <a:solidFill>
                  <a:schemeClr val="tx2"/>
                </a:solidFill>
                <a:latin typeface="Times-Roman"/>
              </a:rPr>
              <a:t>or </a:t>
            </a:r>
            <a:r>
              <a:rPr lang="en-US" sz="2400" b="0" i="1" u="none" strike="noStrike" baseline="0" dirty="0">
                <a:solidFill>
                  <a:schemeClr val="tx2"/>
                </a:solidFill>
                <a:latin typeface="Times-Italic"/>
              </a:rPr>
              <a:t>z </a:t>
            </a:r>
            <a:r>
              <a:rPr lang="en-US" sz="2400" b="0" i="0" u="none" strike="noStrike" baseline="0" dirty="0">
                <a:solidFill>
                  <a:schemeClr val="tx2"/>
                </a:solidFill>
                <a:latin typeface="Times-Roman"/>
              </a:rPr>
              <a:t>values.</a:t>
            </a:r>
          </a:p>
          <a:p>
            <a:pPr algn="just"/>
            <a:endParaRPr lang="en-US" sz="2400" b="0" i="0" u="none" strike="noStrike" baseline="0" dirty="0">
              <a:solidFill>
                <a:schemeClr val="tx2"/>
              </a:solidFill>
              <a:latin typeface="Times-Roman"/>
            </a:endParaRPr>
          </a:p>
          <a:p>
            <a:pPr algn="just"/>
            <a:r>
              <a:rPr lang="en-US" sz="2400" b="1" i="0" u="none" strike="noStrike" baseline="0" dirty="0">
                <a:solidFill>
                  <a:schemeClr val="tx2"/>
                </a:solidFill>
                <a:latin typeface="Times-Bold"/>
              </a:rPr>
              <a:t>Shift Operators</a:t>
            </a:r>
          </a:p>
          <a:p>
            <a:pPr algn="just"/>
            <a:r>
              <a:rPr lang="en-US" sz="2400" b="0" i="0" u="none" strike="noStrike" baseline="0" dirty="0">
                <a:solidFill>
                  <a:schemeClr val="tx2"/>
                </a:solidFill>
                <a:latin typeface="Times-Roman"/>
              </a:rPr>
              <a:t>A vector operand can be shifted to the right or left by a number of bits specified as a</a:t>
            </a:r>
            <a:r>
              <a:rPr lang="en-US" sz="2400" b="0" i="0" u="none" strike="noStrike" dirty="0">
                <a:solidFill>
                  <a:schemeClr val="tx2"/>
                </a:solidFill>
                <a:latin typeface="Times-Roman"/>
              </a:rPr>
              <a:t> </a:t>
            </a:r>
            <a:r>
              <a:rPr lang="en-US" sz="2400" b="0" i="0" u="none" strike="noStrike" baseline="0" dirty="0">
                <a:solidFill>
                  <a:schemeClr val="tx2"/>
                </a:solidFill>
                <a:latin typeface="Times-Roman"/>
              </a:rPr>
              <a:t>constant. When bits are shifted, the vacant bit positions are filled with 0s. For example,</a:t>
            </a:r>
          </a:p>
          <a:p>
            <a:pPr algn="just"/>
            <a:r>
              <a:rPr lang="en-US" sz="2400" b="0" i="0" u="none" strike="noStrike" baseline="0" dirty="0">
                <a:solidFill>
                  <a:schemeClr val="tx2"/>
                </a:solidFill>
                <a:latin typeface="Times-Roman"/>
              </a:rPr>
              <a:t>B =A</a:t>
            </a:r>
            <a:r>
              <a:rPr lang="en-US" sz="2400" b="0" i="1" u="none" strike="noStrike" baseline="0" dirty="0">
                <a:solidFill>
                  <a:schemeClr val="tx2"/>
                </a:solidFill>
                <a:latin typeface="MTMI"/>
              </a:rPr>
              <a:t>&lt;&lt; </a:t>
            </a:r>
            <a:r>
              <a:rPr lang="en-US" sz="2400" b="0" i="0" u="none" strike="noStrike" baseline="0" dirty="0">
                <a:solidFill>
                  <a:schemeClr val="tx2"/>
                </a:solidFill>
                <a:latin typeface="Times-Roman"/>
              </a:rPr>
              <a:t>1;</a:t>
            </a:r>
            <a:r>
              <a:rPr lang="en-US" sz="2400" b="0" i="0" u="none" strike="noStrike" dirty="0">
                <a:solidFill>
                  <a:schemeClr val="tx2"/>
                </a:solidFill>
                <a:latin typeface="Times-Roman"/>
              </a:rPr>
              <a:t> </a:t>
            </a:r>
            <a:r>
              <a:rPr lang="en-US" sz="2400" dirty="0">
                <a:solidFill>
                  <a:schemeClr val="tx2"/>
                </a:solidFill>
              </a:rPr>
              <a:t>results in b2 = a1, b1 = a0, and b0 = 0. Similarly,</a:t>
            </a:r>
          </a:p>
          <a:p>
            <a:pPr algn="just"/>
            <a:r>
              <a:rPr lang="en-US" sz="2400" dirty="0">
                <a:solidFill>
                  <a:schemeClr val="tx2"/>
                </a:solidFill>
              </a:rPr>
              <a:t>B =A&gt;&gt; 2;  yields b2 = b1 = 0 and b0 = a2.</a:t>
            </a:r>
          </a:p>
        </p:txBody>
      </p:sp>
    </p:spTree>
    <p:extLst>
      <p:ext uri="{BB962C8B-B14F-4D97-AF65-F5344CB8AC3E}">
        <p14:creationId xmlns:p14="http://schemas.microsoft.com/office/powerpoint/2010/main" val="17336094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7313" y="418742"/>
            <a:ext cx="9644418" cy="5632311"/>
          </a:xfrm>
          <a:prstGeom prst="rect">
            <a:avLst/>
          </a:prstGeom>
        </p:spPr>
        <p:txBody>
          <a:bodyPr wrap="square">
            <a:spAutoFit/>
          </a:bodyPr>
          <a:lstStyle/>
          <a:p>
            <a:pPr algn="just"/>
            <a:r>
              <a:rPr lang="en-US" sz="2400" b="1" dirty="0">
                <a:solidFill>
                  <a:schemeClr val="tx2"/>
                </a:solidFill>
              </a:rPr>
              <a:t>Concatenate Operator</a:t>
            </a:r>
          </a:p>
          <a:p>
            <a:pPr algn="just"/>
            <a:endParaRPr lang="en-US" sz="2400" b="1" dirty="0">
              <a:solidFill>
                <a:schemeClr val="tx2"/>
              </a:solidFill>
            </a:endParaRPr>
          </a:p>
          <a:p>
            <a:pPr algn="just"/>
            <a:r>
              <a:rPr lang="en-US" sz="2400" dirty="0">
                <a:solidFill>
                  <a:schemeClr val="tx2"/>
                </a:solidFill>
              </a:rPr>
              <a:t>This operator concatenates two or more vectors to create a larger vector. For example,  D = {A, B};  defines the six-bit vector D = a2a1a0b2b1b0. Similarly, the concatenation  E = {3’b111, A, 2’b00};</a:t>
            </a:r>
          </a:p>
          <a:p>
            <a:pPr algn="just"/>
            <a:r>
              <a:rPr lang="en-US" sz="2400" dirty="0">
                <a:solidFill>
                  <a:schemeClr val="tx2"/>
                </a:solidFill>
              </a:rPr>
              <a:t>produces the eight-bit vector E = 111a</a:t>
            </a:r>
            <a:r>
              <a:rPr lang="en-US" sz="2400" baseline="-25000" dirty="0">
                <a:solidFill>
                  <a:schemeClr val="tx2"/>
                </a:solidFill>
              </a:rPr>
              <a:t>2</a:t>
            </a:r>
            <a:r>
              <a:rPr lang="en-US" sz="2400" dirty="0">
                <a:solidFill>
                  <a:schemeClr val="tx2"/>
                </a:solidFill>
              </a:rPr>
              <a:t>a</a:t>
            </a:r>
            <a:r>
              <a:rPr lang="en-US" sz="2400" baseline="-25000" dirty="0">
                <a:solidFill>
                  <a:schemeClr val="tx2"/>
                </a:solidFill>
              </a:rPr>
              <a:t>1</a:t>
            </a:r>
            <a:r>
              <a:rPr lang="en-US" sz="2400" dirty="0">
                <a:solidFill>
                  <a:schemeClr val="tx2"/>
                </a:solidFill>
              </a:rPr>
              <a:t>a</a:t>
            </a:r>
            <a:r>
              <a:rPr lang="en-US" sz="2400" baseline="-25000" dirty="0">
                <a:solidFill>
                  <a:schemeClr val="tx2"/>
                </a:solidFill>
              </a:rPr>
              <a:t>0</a:t>
            </a:r>
            <a:r>
              <a:rPr lang="en-US" sz="2400" dirty="0">
                <a:solidFill>
                  <a:schemeClr val="tx2"/>
                </a:solidFill>
              </a:rPr>
              <a:t>00.</a:t>
            </a:r>
          </a:p>
          <a:p>
            <a:pPr algn="just"/>
            <a:endParaRPr lang="en-US" sz="2400" dirty="0">
              <a:solidFill>
                <a:schemeClr val="tx2"/>
              </a:solidFill>
            </a:endParaRPr>
          </a:p>
          <a:p>
            <a:pPr algn="just"/>
            <a:r>
              <a:rPr lang="en-US" sz="2400" b="1" dirty="0">
                <a:solidFill>
                  <a:schemeClr val="tx2"/>
                </a:solidFill>
              </a:rPr>
              <a:t>Replication Operator</a:t>
            </a:r>
          </a:p>
          <a:p>
            <a:pPr algn="just"/>
            <a:endParaRPr lang="en-US" sz="2400" b="1" dirty="0">
              <a:solidFill>
                <a:schemeClr val="tx2"/>
              </a:solidFill>
            </a:endParaRPr>
          </a:p>
          <a:p>
            <a:pPr algn="just"/>
            <a:r>
              <a:rPr lang="en-US" sz="2400" dirty="0">
                <a:solidFill>
                  <a:schemeClr val="tx2"/>
                </a:solidFill>
              </a:rPr>
              <a:t>This operator allows repetitive concatenation of the same vector, which is replicated the number of times indicated in the replication constant. For example, {3{A}} is equivalent to writing {A, A, A}. The specification {4{2’b10}} produces the eight-bit vector 10101010.</a:t>
            </a:r>
          </a:p>
          <a:p>
            <a:pPr algn="just"/>
            <a:r>
              <a:rPr lang="en-US" sz="2400" dirty="0">
                <a:solidFill>
                  <a:schemeClr val="tx2"/>
                </a:solidFill>
              </a:rPr>
              <a:t>The replication operator may be used in conjunction with the concatenate operator. For instance, {2{A}, 3{B}} is equivalent to {A, A, B, B, B}.  </a:t>
            </a:r>
          </a:p>
        </p:txBody>
      </p:sp>
    </p:spTree>
    <p:extLst>
      <p:ext uri="{BB962C8B-B14F-4D97-AF65-F5344CB8AC3E}">
        <p14:creationId xmlns:p14="http://schemas.microsoft.com/office/powerpoint/2010/main" val="1053026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52277</TotalTime>
  <Words>2383</Words>
  <Application>Microsoft Office PowerPoint</Application>
  <PresentationFormat>Widescreen</PresentationFormat>
  <Paragraphs>277</Paragraphs>
  <Slides>35</Slides>
  <Notes>0</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Arial</vt:lpstr>
      <vt:lpstr>Calibri</vt:lpstr>
      <vt:lpstr>Calibri Light</vt:lpstr>
      <vt:lpstr>MTMI</vt:lpstr>
      <vt:lpstr>MTSYN</vt:lpstr>
      <vt:lpstr>RMTMI</vt:lpstr>
      <vt:lpstr>Times-Bold</vt:lpstr>
      <vt:lpstr>Times-BoldSC</vt:lpstr>
      <vt:lpstr>Times-Italic</vt:lpstr>
      <vt:lpstr>Times-Roman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Shamathmika Vs</dc:creator>
  <cp:lastModifiedBy>Shashank Nandan</cp:lastModifiedBy>
  <cp:revision>35</cp:revision>
  <dcterms:created xsi:type="dcterms:W3CDTF">2017-09-03T18:02:01Z</dcterms:created>
  <dcterms:modified xsi:type="dcterms:W3CDTF">2025-11-07T04:56:21Z</dcterms:modified>
</cp:coreProperties>
</file>